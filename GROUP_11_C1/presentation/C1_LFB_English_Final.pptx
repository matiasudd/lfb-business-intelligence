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71" autoAdjust="0"/>
    <p:restoredTop sz="94610"/>
  </p:normalViewPr>
  <p:slideViewPr>
    <p:cSldViewPr snapToGrid="0" snapToObjects="1">
      <p:cViewPr>
        <p:scale>
          <a:sx n="60" d="100"/>
          <a:sy n="60" d="100"/>
        </p:scale>
        <p:origin x="2490" y="12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Mobilisations</c:v>
                </c:pt>
              </c:strCache>
            </c:strRef>
          </c:tx>
          <c:spPr>
            <a:solidFill>
              <a:srgbClr val="147D85"/>
            </a:solidFill>
            <a:effectLst/>
          </c:spPr>
          <c:invertIfNegative val="0"/>
          <c:cat>
            <c:strRef>
              <c:f>Sheet1!$A$2:$A$21</c:f>
              <c:strCache>
                <c:ptCount val="20"/>
                <c:pt idx="0">
                  <c:v>0-1</c:v>
                </c:pt>
                <c:pt idx="1">
                  <c:v>1-2</c:v>
                </c:pt>
                <c:pt idx="2">
                  <c:v>2-3</c:v>
                </c:pt>
                <c:pt idx="3">
                  <c:v>3-4</c:v>
                </c:pt>
                <c:pt idx="4">
                  <c:v>4-5</c:v>
                </c:pt>
                <c:pt idx="5">
                  <c:v>5-6</c:v>
                </c:pt>
                <c:pt idx="6">
                  <c:v>6-7</c:v>
                </c:pt>
                <c:pt idx="7">
                  <c:v>7-8</c:v>
                </c:pt>
                <c:pt idx="8">
                  <c:v>8-9</c:v>
                </c:pt>
                <c:pt idx="9">
                  <c:v>9-10</c:v>
                </c:pt>
                <c:pt idx="10">
                  <c:v>10-11</c:v>
                </c:pt>
                <c:pt idx="11">
                  <c:v>11-12</c:v>
                </c:pt>
                <c:pt idx="12">
                  <c:v>12-13</c:v>
                </c:pt>
                <c:pt idx="13">
                  <c:v>13-14</c:v>
                </c:pt>
                <c:pt idx="14">
                  <c:v>14-15</c:v>
                </c:pt>
                <c:pt idx="15">
                  <c:v>15-16</c:v>
                </c:pt>
                <c:pt idx="16">
                  <c:v>16-17</c:v>
                </c:pt>
                <c:pt idx="17">
                  <c:v>17-18</c:v>
                </c:pt>
                <c:pt idx="18">
                  <c:v>18-19</c:v>
                </c:pt>
                <c:pt idx="19">
                  <c:v>19-20</c:v>
                </c:pt>
              </c:strCache>
            </c:strRef>
          </c:cat>
          <c:val>
            <c:numRef>
              <c:f>Sheet1!$B$2:$B$21</c:f>
              <c:numCache>
                <c:formatCode>General</c:formatCode>
                <c:ptCount val="20"/>
                <c:pt idx="0">
                  <c:v>3957</c:v>
                </c:pt>
                <c:pt idx="1">
                  <c:v>4355</c:v>
                </c:pt>
                <c:pt idx="2">
                  <c:v>19285</c:v>
                </c:pt>
                <c:pt idx="3">
                  <c:v>46262</c:v>
                </c:pt>
                <c:pt idx="4">
                  <c:v>69725</c:v>
                </c:pt>
                <c:pt idx="5">
                  <c:v>71918</c:v>
                </c:pt>
                <c:pt idx="6">
                  <c:v>58536</c:v>
                </c:pt>
                <c:pt idx="7">
                  <c:v>41420</c:v>
                </c:pt>
                <c:pt idx="8">
                  <c:v>26560</c:v>
                </c:pt>
                <c:pt idx="9">
                  <c:v>16242</c:v>
                </c:pt>
                <c:pt idx="10">
                  <c:v>9723</c:v>
                </c:pt>
                <c:pt idx="11">
                  <c:v>5962</c:v>
                </c:pt>
                <c:pt idx="12">
                  <c:v>3608</c:v>
                </c:pt>
                <c:pt idx="13">
                  <c:v>2413</c:v>
                </c:pt>
                <c:pt idx="14">
                  <c:v>1582</c:v>
                </c:pt>
                <c:pt idx="15">
                  <c:v>1061</c:v>
                </c:pt>
                <c:pt idx="16">
                  <c:v>769</c:v>
                </c:pt>
                <c:pt idx="17">
                  <c:v>527</c:v>
                </c:pt>
                <c:pt idx="18">
                  <c:v>421</c:v>
                </c:pt>
                <c:pt idx="19">
                  <c:v>301</c:v>
                </c:pt>
              </c:numCache>
            </c:numRef>
          </c:val>
          <c:extLst>
            <c:ext xmlns:c16="http://schemas.microsoft.com/office/drawing/2014/chart" uri="{C3380CC4-5D6E-409C-BE32-E72D297353CC}">
              <c16:uniqueId val="{00000000-A941-4F3B-B70B-56887CB68AB9}"/>
            </c:ext>
          </c:extLst>
        </c:ser>
        <c:dLbls>
          <c:showLegendKey val="0"/>
          <c:showVal val="0"/>
          <c:showCatName val="0"/>
          <c:showSerName val="0"/>
          <c:showPercent val="0"/>
          <c:showBubbleSize val="0"/>
        </c:dLbls>
        <c:gapWidth val="8"/>
        <c:axId val="2094734554"/>
        <c:axId val="2094734552"/>
      </c:barChart>
      <c:catAx>
        <c:axId val="2094734554"/>
        <c:scaling>
          <c:orientation val="minMax"/>
        </c:scaling>
        <c:delete val="0"/>
        <c:axPos val="b"/>
        <c:title>
          <c:tx>
            <c:rich>
              <a:bodyPr/>
              <a:lstStyle/>
              <a:p>
                <a:pPr>
                  <a:defRPr sz="1200" b="0" i="0" u="none" strike="noStrike">
                    <a:solidFill>
                      <a:srgbClr val="52636D"/>
                    </a:solidFill>
                    <a:latin typeface="Calibri"/>
                  </a:defRPr>
                </a:pPr>
                <a:r>
                  <a:rPr lang="es-CL" sz="1200" b="0" i="0" u="none" strike="noStrike">
                    <a:solidFill>
                      <a:srgbClr val="52636D"/>
                    </a:solidFill>
                    <a:latin typeface="Calibri"/>
                  </a:rPr>
                  <a:t>Attendance time in minutes, 1-minute intervals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636D"/>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CE5E8"/>
              </a:solidFill>
              <a:prstDash val="solid"/>
              <a:round/>
            </a:ln>
          </c:spPr>
        </c:majorGridlines>
        <c:title>
          <c:tx>
            <c:rich>
              <a:bodyPr/>
              <a:lstStyle/>
              <a:p>
                <a:pPr>
                  <a:defRPr sz="1200" b="0" i="0" u="none" strike="noStrike">
                    <a:solidFill>
                      <a:srgbClr val="52636D"/>
                    </a:solidFill>
                    <a:latin typeface="Calibri"/>
                  </a:defRPr>
                </a:pPr>
                <a:r>
                  <a:rPr lang="es-CL" sz="1200" b="0" i="0" u="none" strike="noStrike">
                    <a:solidFill>
                      <a:srgbClr val="52636D"/>
                    </a:solidFill>
                    <a:latin typeface="Calibri"/>
                  </a:rPr>
                  <a:t>Mobilisations</a:t>
                </a:r>
              </a:p>
            </c:rich>
          </c:tx>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2636D"/>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areaChart>
        <c:grouping val="standard"/>
        <c:varyColors val="0"/>
        <c:ser>
          <c:idx val="0"/>
          <c:order val="0"/>
          <c:tx>
            <c:strRef>
              <c:f>Sheet1!$B$1</c:f>
              <c:strCache>
                <c:ptCount val="1"/>
                <c:pt idx="0">
                  <c:v>Density</c:v>
                </c:pt>
              </c:strCache>
            </c:strRef>
          </c:tx>
          <c:spPr>
            <a:solidFill>
              <a:srgbClr val="147D85">
                <a:alpha val="40000"/>
              </a:srgbClr>
            </a:solidFill>
            <a:effectLst/>
          </c:spPr>
          <c:cat>
            <c:strRef>
              <c:f>Sheet1!$A$2:$A$42</c:f>
              <c:strCache>
                <c:ptCount val="4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strCache>
            </c:strRef>
          </c:cat>
          <c:val>
            <c:numRef>
              <c:f>Sheet1!$B$2:$B$42</c:f>
              <c:numCache>
                <c:formatCode>General</c:formatCode>
                <c:ptCount val="41"/>
                <c:pt idx="0">
                  <c:v>1.6889999999999999E-2</c:v>
                </c:pt>
                <c:pt idx="1">
                  <c:v>1.0540000000000001E-2</c:v>
                </c:pt>
                <c:pt idx="2">
                  <c:v>7.45E-3</c:v>
                </c:pt>
                <c:pt idx="3">
                  <c:v>1.2959999999999999E-2</c:v>
                </c:pt>
                <c:pt idx="4">
                  <c:v>2.7560000000000001E-2</c:v>
                </c:pt>
                <c:pt idx="5">
                  <c:v>5.2740000000000002E-2</c:v>
                </c:pt>
                <c:pt idx="6">
                  <c:v>8.4440000000000001E-2</c:v>
                </c:pt>
                <c:pt idx="7">
                  <c:v>0.11762</c:v>
                </c:pt>
                <c:pt idx="8">
                  <c:v>0.15332999999999999</c:v>
                </c:pt>
                <c:pt idx="9">
                  <c:v>0.18195</c:v>
                </c:pt>
                <c:pt idx="10">
                  <c:v>0.19144</c:v>
                </c:pt>
                <c:pt idx="11">
                  <c:v>0.18634999999999999</c:v>
                </c:pt>
                <c:pt idx="12">
                  <c:v>0.17000999999999999</c:v>
                </c:pt>
                <c:pt idx="13">
                  <c:v>0.15132999999999999</c:v>
                </c:pt>
                <c:pt idx="14">
                  <c:v>0.12765000000000001</c:v>
                </c:pt>
                <c:pt idx="15">
                  <c:v>0.10614</c:v>
                </c:pt>
                <c:pt idx="16">
                  <c:v>8.6480000000000001E-2</c:v>
                </c:pt>
                <c:pt idx="17">
                  <c:v>7.0860000000000006E-2</c:v>
                </c:pt>
                <c:pt idx="18">
                  <c:v>5.3510000000000002E-2</c:v>
                </c:pt>
                <c:pt idx="19">
                  <c:v>4.1410000000000002E-2</c:v>
                </c:pt>
                <c:pt idx="20">
                  <c:v>3.3610000000000001E-2</c:v>
                </c:pt>
                <c:pt idx="21">
                  <c:v>2.6329999999999999E-2</c:v>
                </c:pt>
                <c:pt idx="22">
                  <c:v>2.0990000000000002E-2</c:v>
                </c:pt>
                <c:pt idx="23">
                  <c:v>1.575E-2</c:v>
                </c:pt>
                <c:pt idx="24">
                  <c:v>1.1639999999999999E-2</c:v>
                </c:pt>
                <c:pt idx="25">
                  <c:v>9.0900000000000009E-3</c:v>
                </c:pt>
                <c:pt idx="26">
                  <c:v>6.8700000000000002E-3</c:v>
                </c:pt>
                <c:pt idx="27">
                  <c:v>6.0099999999999997E-3</c:v>
                </c:pt>
                <c:pt idx="28">
                  <c:v>5.0200000000000002E-3</c:v>
                </c:pt>
                <c:pt idx="29">
                  <c:v>3.9199999999999999E-3</c:v>
                </c:pt>
                <c:pt idx="30">
                  <c:v>2.7499999999999998E-3</c:v>
                </c:pt>
                <c:pt idx="31">
                  <c:v>2.7599999999999999E-3</c:v>
                </c:pt>
                <c:pt idx="32">
                  <c:v>2.7399999999999998E-3</c:v>
                </c:pt>
                <c:pt idx="33">
                  <c:v>2.48E-3</c:v>
                </c:pt>
                <c:pt idx="34">
                  <c:v>1.8699999999999999E-3</c:v>
                </c:pt>
                <c:pt idx="35">
                  <c:v>1.5499999999999999E-3</c:v>
                </c:pt>
                <c:pt idx="36">
                  <c:v>1.2600000000000001E-3</c:v>
                </c:pt>
                <c:pt idx="37">
                  <c:v>8.0999999999999996E-4</c:v>
                </c:pt>
                <c:pt idx="38">
                  <c:v>8.3000000000000001E-4</c:v>
                </c:pt>
                <c:pt idx="39">
                  <c:v>8.9999999999999998E-4</c:v>
                </c:pt>
                <c:pt idx="40">
                  <c:v>5.2999999999999998E-4</c:v>
                </c:pt>
              </c:numCache>
            </c:numRef>
          </c:val>
          <c:extLst>
            <c:ext xmlns:c16="http://schemas.microsoft.com/office/drawing/2014/chart" uri="{C3380CC4-5D6E-409C-BE32-E72D297353CC}">
              <c16:uniqueId val="{00000000-80D7-4C69-9C70-0BD7013FAD05}"/>
            </c:ext>
          </c:extLst>
        </c:ser>
        <c:dLbls>
          <c:showLegendKey val="0"/>
          <c:showVal val="0"/>
          <c:showCatName val="0"/>
          <c:showSerName val="0"/>
          <c:showPercent val="0"/>
          <c:showBubbleSize val="0"/>
        </c:dLbls>
        <c:axId val="2094734554"/>
        <c:axId val="2094734552"/>
      </c:areaChart>
      <c:catAx>
        <c:axId val="2094734554"/>
        <c:scaling>
          <c:orientation val="minMax"/>
        </c:scaling>
        <c:delete val="0"/>
        <c:axPos val="b"/>
        <c:title>
          <c:tx>
            <c:rich>
              <a:bodyPr/>
              <a:lstStyle/>
              <a:p>
                <a:pPr>
                  <a:defRPr sz="1200" b="0" i="0" u="none" strike="noStrike">
                    <a:solidFill>
                      <a:srgbClr val="52636D"/>
                    </a:solidFill>
                    <a:latin typeface="Calibri"/>
                  </a:defRPr>
                </a:pPr>
                <a:r>
                  <a:rPr lang="es-CL" sz="1200" b="0" i="0" u="none" strike="noStrike">
                    <a:solidFill>
                      <a:srgbClr val="52636D"/>
                    </a:solidFill>
                    <a:latin typeface="Calibri"/>
                  </a:rPr>
                  <a:t>Attendance time in minutes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636D"/>
                </a:solidFill>
                <a:latin typeface="Calibri"/>
              </a:defRPr>
            </a:pPr>
            <a:endParaRPr lang="en-US"/>
          </a:p>
        </c:txPr>
        <c:crossAx val="2094734552"/>
        <c:crosses val="autoZero"/>
        <c:auto val="1"/>
        <c:lblAlgn val="ctr"/>
        <c:lblOffset val="100"/>
        <c:tickLblSkip val="2"/>
        <c:noMultiLvlLbl val="1"/>
      </c:catAx>
      <c:valAx>
        <c:axId val="2094734552"/>
        <c:scaling>
          <c:orientation val="minMax"/>
        </c:scaling>
        <c:delete val="0"/>
        <c:axPos val="l"/>
        <c:majorGridlines>
          <c:spPr>
            <a:ln w="9525" cap="flat">
              <a:solidFill>
                <a:srgbClr val="DCE5E8"/>
              </a:solidFill>
              <a:prstDash val="solid"/>
              <a:round/>
            </a:ln>
          </c:spPr>
        </c:majorGridlines>
        <c:title>
          <c:tx>
            <c:rich>
              <a:bodyPr/>
              <a:lstStyle/>
              <a:p>
                <a:pPr>
                  <a:defRPr sz="1200" b="0" i="0" u="none" strike="noStrike">
                    <a:solidFill>
                      <a:srgbClr val="52636D"/>
                    </a:solidFill>
                    <a:latin typeface="Calibri"/>
                  </a:defRPr>
                </a:pPr>
                <a:r>
                  <a:rPr lang="es-CL" sz="1200" b="0" i="0" u="none" strike="noStrike">
                    <a:solidFill>
                      <a:srgbClr val="52636D"/>
                    </a:solidFill>
                    <a:latin typeface="Calibri"/>
                  </a:rPr>
                  <a:t>Density</a:t>
                </a:r>
              </a:p>
            </c:rich>
          </c:tx>
          <c:overlay val="0"/>
        </c:title>
        <c:numFmt formatCode="0.00" sourceLinked="0"/>
        <c:majorTickMark val="out"/>
        <c:minorTickMark val="none"/>
        <c:tickLblPos val="nextTo"/>
        <c:spPr>
          <a:ln w="12700" cap="flat">
            <a:noFill/>
            <a:prstDash val="solid"/>
            <a:round/>
          </a:ln>
        </c:spPr>
        <c:txPr>
          <a:bodyPr/>
          <a:lstStyle/>
          <a:p>
            <a:pPr>
              <a:defRPr sz="1100" b="0" i="0" u="none" strike="noStrike">
                <a:solidFill>
                  <a:srgbClr val="52636D"/>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P90</c:v>
                </c:pt>
              </c:strCache>
            </c:strRef>
          </c:tx>
          <c:spPr>
            <a:solidFill>
              <a:srgbClr val="147D85"/>
            </a:solidFill>
            <a:effectLst/>
          </c:spPr>
          <c:invertIfNegative val="0"/>
          <c:dPt>
            <c:idx val="0"/>
            <c:invertIfNegative val="0"/>
            <c:bubble3D val="0"/>
            <c:spPr>
              <a:solidFill>
                <a:srgbClr val="147D85"/>
              </a:solidFill>
              <a:effectLst/>
            </c:spPr>
            <c:extLst>
              <c:ext xmlns:c16="http://schemas.microsoft.com/office/drawing/2014/chart" uri="{C3380CC4-5D6E-409C-BE32-E72D297353CC}">
                <c16:uniqueId val="{00000001-7E27-442E-99FE-B2C619CC4A06}"/>
              </c:ext>
            </c:extLst>
          </c:dPt>
          <c:dPt>
            <c:idx val="1"/>
            <c:invertIfNegative val="0"/>
            <c:bubble3D val="0"/>
            <c:spPr>
              <a:solidFill>
                <a:srgbClr val="147D85"/>
              </a:solidFill>
              <a:effectLst/>
            </c:spPr>
            <c:extLst>
              <c:ext xmlns:c16="http://schemas.microsoft.com/office/drawing/2014/chart" uri="{C3380CC4-5D6E-409C-BE32-E72D297353CC}">
                <c16:uniqueId val="{00000003-7E27-442E-99FE-B2C619CC4A06}"/>
              </c:ext>
            </c:extLst>
          </c:dPt>
          <c:dPt>
            <c:idx val="2"/>
            <c:invertIfNegative val="0"/>
            <c:bubble3D val="0"/>
            <c:spPr>
              <a:solidFill>
                <a:srgbClr val="147D85"/>
              </a:solidFill>
              <a:effectLst/>
            </c:spPr>
            <c:extLst>
              <c:ext xmlns:c16="http://schemas.microsoft.com/office/drawing/2014/chart" uri="{C3380CC4-5D6E-409C-BE32-E72D297353CC}">
                <c16:uniqueId val="{00000005-7E27-442E-99FE-B2C619CC4A06}"/>
              </c:ext>
            </c:extLst>
          </c:dPt>
          <c:dPt>
            <c:idx val="3"/>
            <c:invertIfNegative val="0"/>
            <c:bubble3D val="0"/>
            <c:spPr>
              <a:solidFill>
                <a:srgbClr val="147D85"/>
              </a:solidFill>
              <a:effectLst/>
            </c:spPr>
            <c:extLst>
              <c:ext xmlns:c16="http://schemas.microsoft.com/office/drawing/2014/chart" uri="{C3380CC4-5D6E-409C-BE32-E72D297353CC}">
                <c16:uniqueId val="{00000007-7E27-442E-99FE-B2C619CC4A06}"/>
              </c:ext>
            </c:extLst>
          </c:dPt>
          <c:dPt>
            <c:idx val="4"/>
            <c:invertIfNegative val="0"/>
            <c:bubble3D val="0"/>
            <c:spPr>
              <a:solidFill>
                <a:srgbClr val="B85332"/>
              </a:solidFill>
              <a:effectLst/>
            </c:spPr>
            <c:extLst>
              <c:ext xmlns:c16="http://schemas.microsoft.com/office/drawing/2014/chart" uri="{C3380CC4-5D6E-409C-BE32-E72D297353CC}">
                <c16:uniqueId val="{00000009-7E27-442E-99FE-B2C619CC4A06}"/>
              </c:ext>
            </c:extLst>
          </c:dPt>
          <c:dLbls>
            <c:numFmt formatCode="0.00" sourceLinked="0"/>
            <c:spPr>
              <a:noFill/>
              <a:ln>
                <a:noFill/>
              </a:ln>
              <a:effectLst/>
            </c:spPr>
            <c:txPr>
              <a:bodyPr/>
              <a:lstStyle/>
              <a:p>
                <a:pPr>
                  <a:defRPr sz="1400" b="1" i="0" u="none" strike="noStrike">
                    <a:solidFill>
                      <a:srgbClr val="173243"/>
                    </a:solidFill>
                    <a:latin typeface="Arial"/>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REDBRIDGE (n=7,824)</c:v>
                </c:pt>
                <c:pt idx="1">
                  <c:v>BROMLEY (n=9,848)</c:v>
                </c:pt>
                <c:pt idx="2">
                  <c:v>ENFIELD (n=10,178)</c:v>
                </c:pt>
                <c:pt idx="3">
                  <c:v>HAVERING (n=7,033)</c:v>
                </c:pt>
                <c:pt idx="4">
                  <c:v>HILLINGDON (n=12,195)</c:v>
                </c:pt>
              </c:strCache>
            </c:strRef>
          </c:cat>
          <c:val>
            <c:numRef>
              <c:f>Sheet1!$B$2:$B$6</c:f>
              <c:numCache>
                <c:formatCode>General</c:formatCode>
                <c:ptCount val="5"/>
                <c:pt idx="0">
                  <c:v>9.9499999999999993</c:v>
                </c:pt>
                <c:pt idx="1">
                  <c:v>10.1</c:v>
                </c:pt>
                <c:pt idx="2">
                  <c:v>10.15</c:v>
                </c:pt>
                <c:pt idx="3">
                  <c:v>10.216670000000001</c:v>
                </c:pt>
                <c:pt idx="4">
                  <c:v>10.66667</c:v>
                </c:pt>
              </c:numCache>
            </c:numRef>
          </c:val>
          <c:extLst>
            <c:ext xmlns:c16="http://schemas.microsoft.com/office/drawing/2014/chart" uri="{C3380CC4-5D6E-409C-BE32-E72D297353CC}">
              <c16:uniqueId val="{0000000A-7E27-442E-99FE-B2C619CC4A06}"/>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52636D"/>
                </a:solidFill>
                <a:latin typeface="Calibri"/>
              </a:defRPr>
            </a:pPr>
            <a:endParaRPr lang="en-US"/>
          </a:p>
        </c:txPr>
        <c:crossAx val="2094734552"/>
        <c:crosses val="autoZero"/>
        <c:auto val="1"/>
        <c:lblAlgn val="ctr"/>
        <c:lblOffset val="100"/>
        <c:noMultiLvlLbl val="1"/>
      </c:catAx>
      <c:valAx>
        <c:axId val="2094734552"/>
        <c:scaling>
          <c:orientation val="minMax"/>
          <c:max val="12"/>
          <c:min val="0"/>
        </c:scaling>
        <c:delete val="0"/>
        <c:axPos val="b"/>
        <c:majorGridlines>
          <c:spPr>
            <a:ln w="9525" cap="flat">
              <a:solidFill>
                <a:srgbClr val="DCE5E8"/>
              </a:solidFill>
              <a:prstDash val="solid"/>
              <a:round/>
            </a:ln>
          </c:spPr>
        </c:majorGridlines>
        <c:title>
          <c:tx>
            <c:rich>
              <a:bodyPr/>
              <a:lstStyle/>
              <a:p>
                <a:pPr>
                  <a:defRPr sz="1200" b="0" i="0" u="none" strike="noStrike">
                    <a:solidFill>
                      <a:srgbClr val="52636D"/>
                    </a:solidFill>
                    <a:latin typeface="Calibri"/>
                  </a:defRPr>
                </a:pPr>
                <a:r>
                  <a:rPr lang="es-CL" sz="1200" b="0" i="0" u="none" strike="noStrike">
                    <a:solidFill>
                      <a:srgbClr val="52636D"/>
                    </a:solidFill>
                    <a:latin typeface="Calibri"/>
                  </a:rPr>
                  <a:t>Minutes</a:t>
                </a:r>
              </a:p>
            </c:rich>
          </c:tx>
          <c:overlay val="0"/>
        </c:title>
        <c:numFmt formatCode="0" sourceLinked="0"/>
        <c:majorTickMark val="out"/>
        <c:minorTickMark val="none"/>
        <c:tickLblPos val="low"/>
        <c:spPr>
          <a:ln w="12700" cap="flat">
            <a:noFill/>
            <a:prstDash val="solid"/>
            <a:round/>
          </a:ln>
        </c:spPr>
        <c:txPr>
          <a:bodyPr/>
          <a:lstStyle/>
          <a:p>
            <a:pPr>
              <a:defRPr sz="1100" b="0" i="0" u="none" strike="noStrike">
                <a:solidFill>
                  <a:srgbClr val="52636D"/>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P90</c:v>
                </c:pt>
              </c:strCache>
            </c:strRef>
          </c:tx>
          <c:spPr>
            <a:ln w="38100" cap="flat">
              <a:solidFill>
                <a:srgbClr val="B85332"/>
              </a:solidFill>
              <a:prstDash val="solid"/>
              <a:round/>
            </a:ln>
            <a:effectLst/>
          </c:spPr>
          <c:marker>
            <c:symbol val="circle"/>
            <c:size val="6"/>
            <c:spPr>
              <a:solidFill>
                <a:srgbClr val="B85332"/>
              </a:solidFill>
              <a:ln w="9525" cap="flat">
                <a:solidFill>
                  <a:srgbClr val="B85332"/>
                </a:solidFill>
                <a:prstDash val="solid"/>
                <a:round/>
              </a:ln>
              <a:effectLst/>
            </c:spPr>
          </c:marker>
          <c:cat>
            <c:strRef>
              <c:f>Sheet1!$A$2:$A$25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8.4499999999999993</c:v>
                </c:pt>
                <c:pt idx="1">
                  <c:v>8.6666699999999999</c:v>
                </c:pt>
                <c:pt idx="2">
                  <c:v>8.7333300000000005</c:v>
                </c:pt>
                <c:pt idx="3">
                  <c:v>8.6999999999999993</c:v>
                </c:pt>
                <c:pt idx="4">
                  <c:v>8.6166699999999992</c:v>
                </c:pt>
                <c:pt idx="5">
                  <c:v>8.7633299999999998</c:v>
                </c:pt>
                <c:pt idx="6">
                  <c:v>8.7833299999999994</c:v>
                </c:pt>
                <c:pt idx="7">
                  <c:v>8.6833299999999998</c:v>
                </c:pt>
                <c:pt idx="8">
                  <c:v>8.65</c:v>
                </c:pt>
                <c:pt idx="9">
                  <c:v>8.9333299999999998</c:v>
                </c:pt>
                <c:pt idx="10">
                  <c:v>9.5833300000000001</c:v>
                </c:pt>
                <c:pt idx="11">
                  <c:v>10.026669999999999</c:v>
                </c:pt>
                <c:pt idx="12">
                  <c:v>9.8333300000000001</c:v>
                </c:pt>
                <c:pt idx="13">
                  <c:v>9.8666699999999992</c:v>
                </c:pt>
                <c:pt idx="14">
                  <c:v>9.8166700000000002</c:v>
                </c:pt>
                <c:pt idx="15">
                  <c:v>9.7349999999999994</c:v>
                </c:pt>
                <c:pt idx="16">
                  <c:v>9.8000000000000007</c:v>
                </c:pt>
                <c:pt idx="17">
                  <c:v>9.5666700000000002</c:v>
                </c:pt>
                <c:pt idx="18">
                  <c:v>9.2833299999999994</c:v>
                </c:pt>
                <c:pt idx="19">
                  <c:v>8.8833300000000008</c:v>
                </c:pt>
                <c:pt idx="20">
                  <c:v>8.6833299999999998</c:v>
                </c:pt>
                <c:pt idx="21">
                  <c:v>8.5333299999999994</c:v>
                </c:pt>
                <c:pt idx="22">
                  <c:v>8.2666699999999995</c:v>
                </c:pt>
                <c:pt idx="23">
                  <c:v>8.4383300000000006</c:v>
                </c:pt>
              </c:numCache>
            </c:numRef>
          </c:val>
          <c:smooth val="0"/>
          <c:extLst>
            <c:ext xmlns:c16="http://schemas.microsoft.com/office/drawing/2014/chart" uri="{C3380CC4-5D6E-409C-BE32-E72D297353CC}">
              <c16:uniqueId val="{00000000-349B-44B6-9ACE-AF085D01A54D}"/>
            </c:ext>
          </c:extLst>
        </c:ser>
        <c:ser>
          <c:idx val="1"/>
          <c:order val="1"/>
          <c:tx>
            <c:strRef>
              <c:f>Sheet1!$C$1</c:f>
              <c:strCache>
                <c:ptCount val="1"/>
                <c:pt idx="0">
                  <c:v>Median</c:v>
                </c:pt>
              </c:strCache>
            </c:strRef>
          </c:tx>
          <c:spPr>
            <a:ln w="38100" cap="flat">
              <a:solidFill>
                <a:srgbClr val="147D85"/>
              </a:solidFill>
              <a:prstDash val="solid"/>
              <a:round/>
            </a:ln>
            <a:effectLst/>
          </c:spPr>
          <c:marker>
            <c:symbol val="circle"/>
            <c:size val="6"/>
            <c:spPr>
              <a:solidFill>
                <a:srgbClr val="147D85"/>
              </a:solidFill>
              <a:ln w="9525" cap="flat">
                <a:solidFill>
                  <a:srgbClr val="147D85"/>
                </a:solidFill>
                <a:prstDash val="solid"/>
                <a:round/>
              </a:ln>
              <a:effectLst/>
            </c:spPr>
          </c:marker>
          <c:cat>
            <c:strRef>
              <c:f>Sheet1!$A$2:$A$25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Sheet1!$C$2:$C$25</c:f>
              <c:numCache>
                <c:formatCode>General</c:formatCode>
                <c:ptCount val="24"/>
                <c:pt idx="0">
                  <c:v>5.55</c:v>
                </c:pt>
                <c:pt idx="1">
                  <c:v>5.65</c:v>
                </c:pt>
                <c:pt idx="2">
                  <c:v>5.7333299999999996</c:v>
                </c:pt>
                <c:pt idx="3">
                  <c:v>5.75</c:v>
                </c:pt>
                <c:pt idx="4">
                  <c:v>5.7166699999999997</c:v>
                </c:pt>
                <c:pt idx="5">
                  <c:v>5.7666700000000004</c:v>
                </c:pt>
                <c:pt idx="6">
                  <c:v>5.6833299999999998</c:v>
                </c:pt>
                <c:pt idx="7">
                  <c:v>5.4666699999999997</c:v>
                </c:pt>
                <c:pt idx="8">
                  <c:v>5.3833299999999999</c:v>
                </c:pt>
                <c:pt idx="9">
                  <c:v>5.4833299999999996</c:v>
                </c:pt>
                <c:pt idx="10">
                  <c:v>5.8166700000000002</c:v>
                </c:pt>
                <c:pt idx="11">
                  <c:v>6</c:v>
                </c:pt>
                <c:pt idx="12">
                  <c:v>5.9666699999999997</c:v>
                </c:pt>
                <c:pt idx="13">
                  <c:v>5.9333299999999998</c:v>
                </c:pt>
                <c:pt idx="14">
                  <c:v>5.8833299999999999</c:v>
                </c:pt>
                <c:pt idx="15">
                  <c:v>5.9</c:v>
                </c:pt>
                <c:pt idx="16">
                  <c:v>5.8833299999999999</c:v>
                </c:pt>
                <c:pt idx="17">
                  <c:v>5.8166700000000002</c:v>
                </c:pt>
                <c:pt idx="18">
                  <c:v>5.6666699999999999</c:v>
                </c:pt>
                <c:pt idx="19">
                  <c:v>5.4833299999999996</c:v>
                </c:pt>
                <c:pt idx="20">
                  <c:v>5.3833299999999999</c:v>
                </c:pt>
                <c:pt idx="21">
                  <c:v>5.3333300000000001</c:v>
                </c:pt>
                <c:pt idx="22">
                  <c:v>5.3</c:v>
                </c:pt>
                <c:pt idx="23">
                  <c:v>5.4333299999999998</c:v>
                </c:pt>
              </c:numCache>
            </c:numRef>
          </c:val>
          <c:smooth val="0"/>
          <c:extLst>
            <c:ext xmlns:c16="http://schemas.microsoft.com/office/drawing/2014/chart" uri="{C3380CC4-5D6E-409C-BE32-E72D297353CC}">
              <c16:uniqueId val="{00000001-349B-44B6-9ACE-AF085D01A54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52636D"/>
                    </a:solidFill>
                    <a:latin typeface="Calibri"/>
                  </a:defRPr>
                </a:pPr>
                <a:r>
                  <a:rPr lang="es-CL" sz="1200" b="0" i="0" u="none" strike="noStrike">
                    <a:solidFill>
                      <a:srgbClr val="52636D"/>
                    </a:solidFill>
                    <a:latin typeface="Calibri"/>
                  </a:rPr>
                  <a:t>Dispatch hour in GMT</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636D"/>
                </a:solidFill>
                <a:latin typeface="Calibri"/>
              </a:defRPr>
            </a:pPr>
            <a:endParaRPr lang="en-US"/>
          </a:p>
        </c:txPr>
        <c:crossAx val="2094734552"/>
        <c:crosses val="autoZero"/>
        <c:auto val="1"/>
        <c:lblAlgn val="ctr"/>
        <c:lblOffset val="100"/>
        <c:noMultiLvlLbl val="1"/>
      </c:catAx>
      <c:valAx>
        <c:axId val="2094734552"/>
        <c:scaling>
          <c:orientation val="minMax"/>
          <c:max val="12"/>
          <c:min val="0"/>
        </c:scaling>
        <c:delete val="0"/>
        <c:axPos val="l"/>
        <c:majorGridlines>
          <c:spPr>
            <a:ln w="9525" cap="flat">
              <a:solidFill>
                <a:srgbClr val="DCE5E8"/>
              </a:solidFill>
              <a:prstDash val="solid"/>
              <a:round/>
            </a:ln>
          </c:spPr>
        </c:majorGridlines>
        <c:title>
          <c:tx>
            <c:rich>
              <a:bodyPr/>
              <a:lstStyle/>
              <a:p>
                <a:pPr>
                  <a:defRPr sz="1200" b="0" i="0" u="none" strike="noStrike">
                    <a:solidFill>
                      <a:srgbClr val="52636D"/>
                    </a:solidFill>
                    <a:latin typeface="Calibri"/>
                  </a:defRPr>
                </a:pPr>
                <a:r>
                  <a:rPr lang="es-CL" sz="1200" b="0" i="0" u="none" strike="noStrike">
                    <a:solidFill>
                      <a:srgbClr val="52636D"/>
                    </a:solidFill>
                    <a:latin typeface="Calibri"/>
                  </a:rPr>
                  <a:t>Minutes</a:t>
                </a:r>
              </a:p>
            </c:rich>
          </c:tx>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2636D"/>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173243"/>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1768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Clemente
ENGLISH SCRIPT
Good afternoon. We are Clemente Ibarra and Matías Muñoz. Our project studies vehicle mobilisation and arrival times in London. We use public records from the London Fire Brigade. Our aim is to identify areas and dispatch hours that deserve further operational review. Today, we will explain our question, how the analysis prepares the data, and what the results show. We will also explain the limits of the evidence. This is the first stage of our Business Intelligence project.
SPANISH STUDY NOTE
Presentar el tema y el propósito del análisis.
SOURCES
README.md; docs/CASE_BRIEF.md
Repository version reviewed: 87938e79d91e2e929bcc77c2feb00e4393f50800
Official data catalogue: https://data.london.gov.uk/dataset/london-fire-brigade-mobilisation-records-24r65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Clemente
ENGLISH SCRIPT
Our main question is: which London districts and dispatch hours have longer attendance times? The intended user is an operations planning analyst. The decision is where to investigate first. We chose this case because the public data includes dates, times and operational categories. These fields allow us to study data quality and compare patterns. The project can also support a later prediction task. At this stage, the evidence supports a review. It does not support a direct decision to add vehicles or change staffing levels.
SPANISH STUDY NOTE
Explicar qué decisión apoya el proyecto y por qué se eligió este caso.
SOURCES
docs/CASE_BRIEF.md
Repository version reviewed: 87938e79d91e2e929bcc77c2feb00e4393f50800
Official data catalogue: https://data.london.gov.uk/dataset/london-fire-brigade-mobilisation-records-24r65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Clemente
ENGLISH SCRIPT
The original file covers twenty twenty-one to twenty twenty-four. The analysis selects dispatch dates in twenty twenty-three and twenty twenty-four. This gives a defined period for monthly and yearly comparisons. One row represents one vehicle mobilisation. One incident can therefore have several valid rows. For example, an incident with three vehicles can contribute three observations. This distinction matters when checking duplicates and interpreting the indicator. The published population includes pumping-appliance responses and is not limited to fires. The analysis uses the GMT time basis stated in the source dictionary.
SPANISH STUDY NOTE
Una movilización no equivale a un incidente. El filtro usa la fecha de despacho.
SOURCES
README.md; docs/CASE_BRIEF.md; outputs/source_dictionary.csv; data/source_manifest.json
Repository version reviewed: 87938e79d91e2e929bcc77c2feb00e4393f50800
Official data catalogue: https://data.london.gov.uk/dataset/london-fire-brigade-mobilisation-records-24r65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Clemente
ENGLISH SCRIPT
Our main indicator is the ninetieth percentile, which we will call P ninety. We calculate it from attendance time in seconds divided by sixty. About ninety percent of eligible times fall at or below this value. We use it because our question concerns longer times. The median describes the centre, while P ninety helps us examine the upper part of the distribution. We report both, together with the number of records. The clock starts at mobilisation and ends at arrival. It excludes call handling before mobilisation and includes all eligible vehicle arrivals. We do not claim an official service target.
SPANISH STUDY NOTE
Justificar P90 sin confundirlo con promedio, proporción de viaje ni meta oficial.
SOURCES
docs/KPI.md; scripts/analysis.py
Repository version reviewed: 87938e79d91e2e929bcc77c2feb00e4393f50800
Official data catalogue: https://data.london.gov.uk/dataset/london-fire-brigade-mobilisation-records-24r65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Clemente
ENGLISH SCRIPT
The original file contains seven hundred and twenty-seven thousand, eight hundred and fifty-seven rows. The pipeline first removes three thousand, nine hundred and twenty-two exact duplicate rows after normalising formats. It then selects the two-year dispatch window, leaving three hundred and eighty-four thousand, six hundred and forty-three rows. Within this period, sixteen rows have conflicting mobilisation identifiers. The analysis excludes these rows because it cannot safely choose one version. The final population contains three hundred and eighty-four thousand, six hundred and twenty-seven eligible mobilisations. These correspond to about two hundred and forty-eight thousand distinct incidents. Selecting the period changes the scope. It is separate from removing data errors.
SPANISH STUDY NOTE
Separar deduplicación, selección del período y exclusiones por calidad.
SOURCES
outputs/row_flow.csv; outputs/audit.json; scripts/analysis.py
Repository version reviewed: 87938e79d91e2e929bcc77c2feb00e4393f50800
Official data catalogue: https://data.london.gov.uk/dataset/london-fire-brigade-mobilisation-records-24r65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Clemente
ENGLISH SCRIPT
The cleaning rules depend on the role of each field. The pipeline checks unique mobilisation identifiers and nonnegative attendance times. It also compares the recorded duration with arrival time minus mobilisation time. The allowed difference is one second. Missing geography does not make a valid duration unusable, so one thousand, two hundred and eighty-eight records remain in an Unknown group. The analysis does not fill missing target times with an average. It also keeps long times when they pass the checks. Finally, it reconciles the row counts and recalculates P ninety independently. These checks test internal consistency. They cannot prove that every operational record is true. Matías will now explain the results.
SPANISH STUDY NOTE
Explicar reglas y sus razones, distinguiendo coherencia interna de verdad.
SOURCES
outputs/audit.json; scripts/analysis.py; docs/KPI.md
Repository version reviewed: 87938e79d91e2e929bcc77c2feb00e4393f50800
Official data catalogue: https://data.london.gov.uk/dataset/london-fire-brigade-mobilisation-records-24r65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Matías
ENGLISH SCRIPT
Thank you, Clemente. This histogram shows how many mobilisations fall within each one-minute interval. The median is five point six five minutes. The mean is about six point zero three minutes, and P ninety is nine point two zero minutes. That is nine minutes and twelve seconds. These measures describe different parts of the distribution. The mean is above the median, which is consistent with longer times pulling the average upward. This slide includes the full observed range from zero to twenty minutes. The notebook uses a different display limit for its histogram, but both versions keep all eligible observations in the KPI.
SPANISH STUDY NOTE
Leer frecuencia, mediana y P90. Este histograma usa todo el rango observado.
SOURCES
outputs/deck_data.json histogram; outputs/summary.json; scripts/prepare_deck_data.py
Repository version reviewed: 87938e79d91e2e929bcc77c2feb00e4393f50800
Official data catalogue: https://data.london.gov.uk/dataset/london-fire-brigade-mobilisation-records-24r65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Matías
ENGLISH SCRIPT
The density curve provides a smooth view of the same distribution. A higher curve indicates greater concentration around that time. The vertical axis shows density, so its height is not a direct percentage. The pipeline uses a repeatable random sample of twenty thousand records to calculate this curve. It also applies a correction near zero because negative attendance times are not meaningful here. This sampling step is only for the density chart. The main KPI still uses every eligible record. The curve helps us describe the shape of the data. It does not predict future response times.
SPANISH STUDY NOTE
La curva muestra concentración. Densidad no es porcentaje directo.
SOURCES
outputs/deck_data.json density; scripts/prepare_deck_data.py
Repository version reviewed: 87938e79d91e2e929bcc77c2feb00e4393f50800
Official data catalogue: https://data.london.gov.uk/dataset/london-fire-brigade-mobilisation-records-24r65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Matías
ENGLISH SCRIPT
This chart shows the five identified districts with the highest observed P ninety. Hillingdon has the highest value, at about ten point six seven minutes, based on twelve thousand, one hundred and ninety-five eligible mobilisations. This makes it a useful area for further investigation. However, a higher percentile does not mean every vehicle was slower. It also does not prove poor staff performance. Differences in distance, incident mix and resource availability may matter. The next step is to examine that context before proposing an operational change. The chart shows the record count for each district so that we can consider the size of each group.
SPANISH STUDY NOTE
Una comparación descriptiva permite priorizar revisión, no evaluar desempeño causalmente.
SOURCES
outputs/borough_metrics.csv
Repository version reviewed: 87938e79d91e2e929bcc77c2feb00e4393f50800
Official data catalogue: https://data.london.gov.uk/dataset/london-fire-brigade-mobilisation-records-24r65</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Matías
ENGLISH SCRIPT
Here we group mobilisations by dispatch hour across the whole study period. The highest hourly P ninety occurs in the eleven a.m. GMT group, at about ten point zero three minutes. This group includes dispatches from eleven o'clock up to, but not including, twelve o'clock. It combines many different dates. The pattern does not show that every day was slow at this hour. It also does not prove that traffic caused the longer times. Finally, a higher P ninety does not necessarily mean more mobilisations. Duration and volume are different measures.
SPANISH STUDY NOTE
Hora de despacho GMT, no hora de llamada. P90 alto no equivale a volumen alto.
SOURCES
outputs/hour_metrics.csv
Repository version reviewed: 87938e79d91e2e929bcc77c2feb00e4393f50800
Official data catalogue: https://data.london.gov.uk/dataset/london-fire-brigade-mobilisation-records-24r65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Matías
ENGLISH SCRIPT
The project also compares attendance time with its components using Spearman correlation. This method compares the order of observations. The correlation between travel time and total attendance time is about zero point nine five. Longer travel times therefore tend to occur with longer total times. This does not mean that travel takes ninety-five percent of the total. Travel time is already part of total attendance time, so part of the association comes from that relationship. The calculation uses complete and consistent component records. It does not identify the effect of traffic. Also, realised travel time would be unavailable at dispatch, so it should not be a predictor for a dispatch-time model in C two.
SPANISH STUDY NOTE
0,952 expresa asociación de rangos, no porcentaje del total ni causalidad.
SOURCES
outputs/spearman_components.csv; outputs/audit.json; scripts/analysis.py
Repository version reviewed: 87938e79d91e2e929bcc77c2feb00e4393f50800
Official data catalogue: https://data.london.gov.uk/dataset/london-fire-brigade-mobilisation-records-24r65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Matías
ENGLISH SCRIPT
The proposed review rule looks for persistence. A district must have at least one hundred eligible mobilisations in each qualifying month. Its P ninety must exceed the global P ninety for the same month for at least three consecutive months. This is an academic rule, not an official London Fire Brigade standard. The sensitivity analysis excludes incomplete December twenty twenty-four. It finds nineteen candidate districts with three consecutive months and fifteen with six months. Changing the minimum monthly count between fifty and two hundred leaves these counts unchanged. The rule provides a first list for investigation. It does not provide a final order for allocating resources. Clemente will now explain the limits and our conclusion.
SPANISH STUDY NOTE
Regla exploratoria y sensibilidad. Usar enero 2023 a noviembre 2024.
SOURCES
outputs/review_sensitivity.csv; docs/KPI.md; scripts/analysis.py
Repository version reviewed: 87938e79d91e2e929bcc77c2feb00e4393f50800
Official data catalogue: https://data.london.gov.uk/dataset/london-fire-brigade-mobilisation-records-24r65</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Clemente
ENGLISH SCRIPT
Thank you, Matías. Our conclusions concern the published records in this extract. We found no records for the final day of twenty twenty-four. All observed records are labelled Initial, and no duration exceeds twenty minutes. We did not impose that time limit during cleaning. A published methodology discusses exclusions above twenty minutes in performance calculations, but we have not confirmed every selection rule for this CSV. We therefore cannot describe the missing extreme tail. We also lack important context, such as incident type, distance and resource availability. Finally, several records can belong to one incident. These limits affect comparisons and prevent causal conclusions.
SPANISH STUDY NOTE
Explicar alcance sin afirmar filtros de publicación no confirmados.
SOURCES
docs/SOURCES.md; docs/CASE_BRIEF.md; outputs/audit.json; outputs/summary.json; LFB FOI 8420.1
Repository version reviewed: 87938e79d91e2e929bcc77c2feb00e4393f50800
Official data catalogue: https://data.london.gov.uk/dataset/london-fire-brigade-mobilisation-records-24r65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Clemente
ENGLISH SCRIPT
Our main conclusion is that this analysis can help prioritise districts and dispatch hours for further review. Hillingdon and the eleven a.m. GMT group are examples of higher observed P ninety values. Before changing resources, an analyst should examine local conditions and source coverage. For C two, a possible next step is to predict attendance time using information available at dispatch. We would compare a simple baseline with candidate models and evaluate them on later dates. We would avoid information recorded after arrival. The model would still inherit the limits of this source. Feedback from C one will guide the next stage.
SPANISH STUDY NOTE
Cerrar la conexión pregunta-evidencia-decisión y la extensión C2.
SOURCES
docs/CASE_BRIEF.md; outputs/borough_metrics.csv; outputs/hour_metrics.csv
Repository version reviewed: 87938e79d91e2e929bcc77c2feb00e4393f50800
Official data catalogue: https://data.london.gov.uk/dataset/london-fire-brigade-mobilisation-records-24r65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Clemente
ENGLISH SCRIPT
The repository contains the code, the executed notebook, the results and the supporting documents. A source manifest records the download details and a file hash, which identifies the data version. This makes it possible to check whether another run uses the same file. AI supported the code and analytical preparation, as described in the process log. Each student remains responsible for understanding and accepting the submitted decisions. The log must reflect the review each person actually completes. The value of the project depends on the link between the question, the data and a careful interpretation. Thank you. We are ready for your questions.
SPANISH STUDY NOTE
Declarar uso de IA sin inventar contribuciones o revisión de Matías.
SOURCES
README.md; PROCESS_LOG.md; data/source_manifest.json; notebooks/C1_LFB.ipynb
Repository version reviewed: 87938e79d91e2e929bcc77c2feb00e4393f50800
Official data catalogue: https://data.london.gov.uk/dataset/london-fire-brigade-mobilisation-records-24r65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Either presenter
ENGLISH SCRIPT
The code first converts dates and numbers. A successful conversion does not prove that a value is valid. The cleaning rules then check identifiers, durations and timestamps. The groupby command creates groups, such as districts or months. The quantile command calculates a percentile within each group. An assert statement stops execution when a required condition fails. The main transformations are in scripts slash analysis dot py, which the notebook calls.
SPANISH STUDY NOTE
Apoyo para preguntas técnicas. No se lee durante la exposición principal.
SOURCES
scripts/analysis.py; notebooks/C1_LFB.ipynb
Repository version reviewed: 87938e79d91e2e929bcc77c2feb00e4393f50800
Official data catalogue: https://data.london.gov.uk/dataset/london-fire-brigade-mobilisation-records-24r65</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Either presenter
ENGLISH SCRIPT
The annual summaries show slightly higher median and P ninety values in twenty twenty-four. However, the final day is missing and the case mix may differ. We therefore describe the difference without claiming a proven decline in service performance. Record counts describe this published population. They do not establish complete annual demand.
SPANISH STUDY NOTE
Diferencias pequeñas descriptivas, no prueba de deterioro.
SOURCES
outputs/year_metrics.csv; outputs/audit.json
Repository version reviewed: 87938e79d91e2e929bcc77c2feb00e4393f50800
Official data catalogue: https://data.london.gov.uk/dataset/london-fire-brigade-mobilisation-records-24r65</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Either presenter
ENGLISH SCRIPT
The numerical source is the official mobilisation CSV. The source dictionary explains the original fields. The manifest records the exact download links and hashes. The analytical tables support the figures in this presentation. The source caveat about published performance calculations refers to LFB freedom of information response eight four two zero point one. That document does not confirm every filter applied to our CSV.
SPANISH STUDY NOTE
Rutas para localizar evidencia y enlace público de la fuente en las notas.
SOURCES
https://data.london.gov.uk/dataset/london-fire-brigade-mobilisation-records-24r65; https://www.london-fire.gov.uk/media/8863/foia84201-response-times-of-fire-brigades-and-data-collation-response.pdf; docs/SOURCES.md
Repository version reviewed: 87938e79d91e2e929bcc77c2feb00e4393f50800
Official data catalogue: https://data.london.gov.uk/dataset/london-fire-brigade-mobilisation-records-24r65</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3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5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243"/>
        </a:solidFill>
        <a:effectLst/>
      </p:bgPr>
    </p:bg>
    <p:spTree>
      <p:nvGrpSpPr>
        <p:cNvPr id="1" name=""/>
        <p:cNvGrpSpPr/>
        <p:nvPr/>
      </p:nvGrpSpPr>
      <p:grpSpPr>
        <a:xfrm>
          <a:off x="0" y="0"/>
          <a:ext cx="0" cy="0"/>
          <a:chOff x="0" y="0"/>
          <a:chExt cx="0" cy="0"/>
        </a:xfrm>
      </p:grpSpPr>
      <p:sp>
        <p:nvSpPr>
          <p:cNvPr id="3" name="Shape 0"/>
          <p:cNvSpPr/>
          <p:nvPr/>
        </p:nvSpPr>
        <p:spPr>
          <a:xfrm>
            <a:off x="7132320" y="960120"/>
            <a:ext cx="4937760" cy="4937760"/>
          </a:xfrm>
          <a:prstGeom prst="ellipse">
            <a:avLst/>
          </a:prstGeom>
          <a:solidFill>
            <a:srgbClr val="173243">
              <a:alpha val="0"/>
            </a:srgbClr>
          </a:solidFill>
          <a:ln w="19050">
            <a:solidFill>
              <a:srgbClr val="147D85"/>
            </a:solidFill>
            <a:prstDash val="solid"/>
          </a:ln>
        </p:spPr>
      </p:sp>
      <p:sp>
        <p:nvSpPr>
          <p:cNvPr id="4" name="Shape 1"/>
          <p:cNvSpPr/>
          <p:nvPr/>
        </p:nvSpPr>
        <p:spPr>
          <a:xfrm>
            <a:off x="7818120" y="1645920"/>
            <a:ext cx="3566160" cy="3566160"/>
          </a:xfrm>
          <a:prstGeom prst="ellipse">
            <a:avLst/>
          </a:prstGeom>
          <a:solidFill>
            <a:srgbClr val="173243">
              <a:alpha val="0"/>
            </a:srgbClr>
          </a:solidFill>
          <a:ln w="31750">
            <a:solidFill>
              <a:srgbClr val="147D85"/>
            </a:solidFill>
            <a:prstDash val="solid"/>
          </a:ln>
        </p:spPr>
      </p:sp>
      <p:sp>
        <p:nvSpPr>
          <p:cNvPr id="5" name="Shape 2"/>
          <p:cNvSpPr/>
          <p:nvPr/>
        </p:nvSpPr>
        <p:spPr>
          <a:xfrm>
            <a:off x="8503920" y="2331720"/>
            <a:ext cx="2194560" cy="2194560"/>
          </a:xfrm>
          <a:prstGeom prst="ellipse">
            <a:avLst/>
          </a:prstGeom>
          <a:solidFill>
            <a:srgbClr val="147D85"/>
          </a:solidFill>
          <a:ln w="12700">
            <a:solidFill>
              <a:srgbClr val="147D85"/>
            </a:solidFill>
            <a:prstDash val="solid"/>
          </a:ln>
        </p:spPr>
      </p:sp>
      <p:pic>
        <p:nvPicPr>
          <p:cNvPr id="6" name="Image 0" descr="preencoded.png"/>
          <p:cNvPicPr>
            <a:picLocks noChangeAspect="1"/>
          </p:cNvPicPr>
          <p:nvPr/>
        </p:nvPicPr>
        <p:blipFill>
          <a:blip r:embed="rId3"/>
          <a:stretch>
            <a:fillRect/>
          </a:stretch>
        </p:blipFill>
        <p:spPr>
          <a:xfrm>
            <a:off x="9052560" y="2880360"/>
            <a:ext cx="1097280" cy="1097280"/>
          </a:xfrm>
          <a:prstGeom prst="rect">
            <a:avLst/>
          </a:prstGeom>
        </p:spPr>
      </p:pic>
      <p:sp>
        <p:nvSpPr>
          <p:cNvPr id="7" name="Text 3"/>
          <p:cNvSpPr txBox="1"/>
          <p:nvPr/>
        </p:nvSpPr>
        <p:spPr>
          <a:xfrm>
            <a:off x="822960" y="1371600"/>
            <a:ext cx="6400800" cy="1920240"/>
          </a:xfrm>
          <a:prstGeom prst="rect">
            <a:avLst/>
          </a:prstGeom>
          <a:noFill/>
          <a:ln/>
        </p:spPr>
        <p:txBody>
          <a:bodyPr wrap="square" lIns="0" tIns="0" rIns="0" bIns="0" rtlCol="0" anchor="b"/>
          <a:lstStyle/>
          <a:p>
            <a:pPr marL="0" indent="0">
              <a:buNone/>
            </a:pPr>
            <a:r>
              <a:rPr lang="en-US" sz="5400" b="1" dirty="0">
                <a:solidFill>
                  <a:srgbClr val="FFFFFF"/>
                </a:solidFill>
                <a:latin typeface="Cambria" pitchFamily="34" charset="0"/>
                <a:ea typeface="Cambria" pitchFamily="34" charset="-122"/>
                <a:cs typeface="Cambria" pitchFamily="34" charset="-120"/>
              </a:rPr>
              <a:t>London Fire Brigade</a:t>
            </a:r>
            <a:endParaRPr lang="en-US" sz="5400" dirty="0"/>
          </a:p>
        </p:txBody>
      </p:sp>
      <p:sp>
        <p:nvSpPr>
          <p:cNvPr id="8" name="Text 4"/>
          <p:cNvSpPr txBox="1"/>
          <p:nvPr/>
        </p:nvSpPr>
        <p:spPr>
          <a:xfrm>
            <a:off x="822960" y="3520440"/>
            <a:ext cx="6217920" cy="914400"/>
          </a:xfrm>
          <a:prstGeom prst="rect">
            <a:avLst/>
          </a:prstGeom>
          <a:noFill/>
          <a:ln/>
        </p:spPr>
        <p:txBody>
          <a:bodyPr wrap="square" lIns="0" tIns="0" rIns="0" bIns="0" rtlCol="0" anchor="t"/>
          <a:lstStyle/>
          <a:p>
            <a:pPr marL="0" indent="0">
              <a:buNone/>
            </a:pPr>
            <a:r>
              <a:rPr lang="en-US" sz="2600" dirty="0">
                <a:solidFill>
                  <a:srgbClr val="B8E0DF"/>
                </a:solidFill>
                <a:latin typeface="Calibri" pitchFamily="34" charset="0"/>
                <a:ea typeface="Calibri" pitchFamily="34" charset="-122"/>
                <a:cs typeface="Calibri" pitchFamily="34" charset="-120"/>
              </a:rPr>
              <a:t>Vehicle mobilisation and arrival times</a:t>
            </a:r>
            <a:endParaRPr lang="en-US" sz="2600" dirty="0"/>
          </a:p>
        </p:txBody>
      </p:sp>
      <p:sp>
        <p:nvSpPr>
          <p:cNvPr id="9" name="Text 5"/>
          <p:cNvSpPr txBox="1"/>
          <p:nvPr/>
        </p:nvSpPr>
        <p:spPr>
          <a:xfrm>
            <a:off x="822960" y="4754880"/>
            <a:ext cx="658368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Clemente Ibarra and Matías Muñoz Hoffmann</a:t>
            </a:r>
            <a:endParaRPr lang="en-US" sz="2000" dirty="0"/>
          </a:p>
        </p:txBody>
      </p:sp>
      <p:sp>
        <p:nvSpPr>
          <p:cNvPr id="10" name="Text 6"/>
          <p:cNvSpPr txBox="1"/>
          <p:nvPr/>
        </p:nvSpPr>
        <p:spPr>
          <a:xfrm>
            <a:off x="822960" y="5303520"/>
            <a:ext cx="6583680" cy="822960"/>
          </a:xfrm>
          <a:prstGeom prst="rect">
            <a:avLst/>
          </a:prstGeom>
          <a:noFill/>
          <a:ln/>
        </p:spPr>
        <p:txBody>
          <a:bodyPr wrap="square" lIns="0" tIns="0" rIns="0" bIns="0" rtlCol="0" anchor="t"/>
          <a:lstStyle/>
          <a:p>
            <a:pPr marL="0" indent="0">
              <a:buNone/>
            </a:pPr>
            <a:r>
              <a:rPr lang="en-US" sz="1600" dirty="0">
                <a:solidFill>
                  <a:srgbClr val="B8E0DF"/>
                </a:solidFill>
                <a:latin typeface="Calibri" pitchFamily="34" charset="0"/>
                <a:ea typeface="Calibri" pitchFamily="34" charset="-122"/>
                <a:cs typeface="Calibri" pitchFamily="34" charset="-120"/>
              </a:rPr>
              <a:t>Business Intelligence C1</a:t>
            </a:r>
            <a:endParaRPr lang="en-US" sz="1600" dirty="0"/>
          </a:p>
          <a:p>
            <a:pPr marL="0" indent="0">
              <a:buNone/>
            </a:pPr>
            <a:r>
              <a:rPr lang="en-US" sz="1600" dirty="0">
                <a:solidFill>
                  <a:srgbClr val="B8E0DF"/>
                </a:solidFill>
                <a:latin typeface="Calibri" pitchFamily="34" charset="0"/>
                <a:ea typeface="Calibri" pitchFamily="34" charset="-122"/>
                <a:cs typeface="Calibri" pitchFamily="34" charset="-120"/>
              </a:rPr>
              <a:t>29 September 2026</a:t>
            </a:r>
            <a:endParaRPr lang="en-US" sz="1600" dirty="0"/>
          </a:p>
        </p:txBody>
      </p:sp>
      <p:pic>
        <p:nvPicPr>
          <p:cNvPr id="11" name="Imagen 10">
            <a:extLst>
              <a:ext uri="{FF2B5EF4-FFF2-40B4-BE49-F238E27FC236}">
                <a16:creationId xmlns:a16="http://schemas.microsoft.com/office/drawing/2014/main" id="{FA31925B-09BC-3671-EF85-6F940CE32FC6}"/>
              </a:ext>
            </a:extLst>
          </p:cNvPr>
          <p:cNvPicPr>
            <a:picLocks noChangeAspect="1"/>
          </p:cNvPicPr>
          <p:nvPr/>
        </p:nvPicPr>
        <p:blipFill>
          <a:blip r:embed="rId4"/>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908792" cy="868680"/>
          </a:xfrm>
          <a:prstGeom prst="rect">
            <a:avLst/>
          </a:prstGeom>
          <a:noFill/>
          <a:ln/>
        </p:spPr>
        <p:txBody>
          <a:bodyPr wrap="square" lIns="0" tIns="0" rIns="0" bIns="0" rtlCol="0" anchor="ctr"/>
          <a:lstStyle/>
          <a:p>
            <a:pPr marL="0" indent="0">
              <a:buNone/>
            </a:pPr>
            <a:r>
              <a:rPr lang="en-US" sz="3600" b="1" dirty="0">
                <a:solidFill>
                  <a:srgbClr val="173243"/>
                </a:solidFill>
                <a:latin typeface="Cambria" pitchFamily="34" charset="0"/>
                <a:ea typeface="Cambria" pitchFamily="34" charset="-122"/>
                <a:cs typeface="Cambria" pitchFamily="34" charset="-120"/>
              </a:rPr>
              <a:t>Our question and decision</a:t>
            </a:r>
            <a:endParaRPr lang="en-US" sz="3600" dirty="0"/>
          </a:p>
        </p:txBody>
      </p:sp>
      <p:sp>
        <p:nvSpPr>
          <p:cNvPr id="4" name="Text 1"/>
          <p:cNvSpPr txBox="1"/>
          <p:nvPr/>
        </p:nvSpPr>
        <p:spPr>
          <a:xfrm>
            <a:off x="10881360" y="6355080"/>
            <a:ext cx="667512" cy="274320"/>
          </a:xfrm>
          <a:prstGeom prst="rect">
            <a:avLst/>
          </a:prstGeom>
          <a:noFill/>
          <a:ln/>
        </p:spPr>
        <p:txBody>
          <a:bodyPr wrap="square" lIns="0" tIns="0" rIns="0" bIns="0" rtlCol="0" anchor="ctr"/>
          <a:lstStyle/>
          <a:p>
            <a:pPr marL="0" indent="0" algn="r">
              <a:buNone/>
            </a:pPr>
            <a:r>
              <a:rPr lang="en-US" sz="1200" dirty="0">
                <a:solidFill>
                  <a:srgbClr val="52636D"/>
                </a:solidFill>
                <a:latin typeface="Calibri" pitchFamily="34" charset="0"/>
                <a:ea typeface="Calibri" pitchFamily="34" charset="-122"/>
                <a:cs typeface="Calibri" pitchFamily="34" charset="-120"/>
              </a:rPr>
              <a:t>02</a:t>
            </a:r>
            <a:endParaRPr lang="en-US" sz="1200" dirty="0"/>
          </a:p>
        </p:txBody>
      </p:sp>
      <p:sp>
        <p:nvSpPr>
          <p:cNvPr id="5" name="Shape 2"/>
          <p:cNvSpPr/>
          <p:nvPr/>
        </p:nvSpPr>
        <p:spPr>
          <a:xfrm>
            <a:off x="640080" y="1600200"/>
            <a:ext cx="10908792" cy="1920240"/>
          </a:xfrm>
          <a:prstGeom prst="roundRect">
            <a:avLst>
              <a:gd name="adj" fmla="val 5714"/>
            </a:avLst>
          </a:prstGeom>
          <a:solidFill>
            <a:srgbClr val="173243"/>
          </a:solidFill>
          <a:ln w="12700">
            <a:solidFill>
              <a:srgbClr val="173243"/>
            </a:solidFill>
            <a:prstDash val="solid"/>
          </a:ln>
        </p:spPr>
      </p:sp>
      <p:sp>
        <p:nvSpPr>
          <p:cNvPr id="6" name="Shape 3"/>
          <p:cNvSpPr/>
          <p:nvPr/>
        </p:nvSpPr>
        <p:spPr>
          <a:xfrm>
            <a:off x="1005840" y="2103120"/>
            <a:ext cx="914400" cy="914400"/>
          </a:xfrm>
          <a:prstGeom prst="ellipse">
            <a:avLst/>
          </a:prstGeom>
          <a:solidFill>
            <a:srgbClr val="147D85"/>
          </a:solidFill>
          <a:ln w="12700">
            <a:solidFill>
              <a:srgbClr val="147D85"/>
            </a:solidFill>
            <a:prstDash val="solid"/>
          </a:ln>
        </p:spPr>
      </p:sp>
      <p:pic>
        <p:nvPicPr>
          <p:cNvPr id="7" name="Image 0" descr="preencoded.png"/>
          <p:cNvPicPr>
            <a:picLocks noChangeAspect="1"/>
          </p:cNvPicPr>
          <p:nvPr/>
        </p:nvPicPr>
        <p:blipFill>
          <a:blip r:embed="rId3"/>
          <a:stretch>
            <a:fillRect/>
          </a:stretch>
        </p:blipFill>
        <p:spPr>
          <a:xfrm>
            <a:off x="1234440" y="2331720"/>
            <a:ext cx="457200" cy="457200"/>
          </a:xfrm>
          <a:prstGeom prst="rect">
            <a:avLst/>
          </a:prstGeom>
        </p:spPr>
      </p:pic>
      <p:sp>
        <p:nvSpPr>
          <p:cNvPr id="8" name="Text 4"/>
          <p:cNvSpPr txBox="1"/>
          <p:nvPr/>
        </p:nvSpPr>
        <p:spPr>
          <a:xfrm>
            <a:off x="2286000" y="1600200"/>
            <a:ext cx="8869680" cy="19202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Which districts and dispatch hours have longer attendance times?</a:t>
            </a:r>
            <a:endParaRPr lang="en-US" sz="3000" dirty="0"/>
          </a:p>
        </p:txBody>
      </p:sp>
      <p:sp>
        <p:nvSpPr>
          <p:cNvPr id="9" name="Shape 5"/>
          <p:cNvSpPr/>
          <p:nvPr/>
        </p:nvSpPr>
        <p:spPr>
          <a:xfrm>
            <a:off x="640080" y="3794760"/>
            <a:ext cx="5349240" cy="2194560"/>
          </a:xfrm>
          <a:prstGeom prst="roundRect">
            <a:avLst>
              <a:gd name="adj" fmla="val 5000"/>
            </a:avLst>
          </a:prstGeom>
          <a:solidFill>
            <a:srgbClr val="EDF3F4"/>
          </a:solidFill>
          <a:ln w="12700">
            <a:solidFill>
              <a:srgbClr val="EDF3F4"/>
            </a:solidFill>
            <a:prstDash val="solid"/>
          </a:ln>
        </p:spPr>
      </p:sp>
      <p:sp>
        <p:nvSpPr>
          <p:cNvPr id="10" name="Shape 6"/>
          <p:cNvSpPr/>
          <p:nvPr/>
        </p:nvSpPr>
        <p:spPr>
          <a:xfrm>
            <a:off x="914400" y="4526280"/>
            <a:ext cx="731520" cy="731520"/>
          </a:xfrm>
          <a:prstGeom prst="ellipse">
            <a:avLst/>
          </a:prstGeom>
          <a:solidFill>
            <a:srgbClr val="147D85"/>
          </a:solidFill>
          <a:ln w="12700">
            <a:solidFill>
              <a:srgbClr val="147D85"/>
            </a:solidFill>
            <a:prstDash val="solid"/>
          </a:ln>
        </p:spPr>
      </p:sp>
      <p:pic>
        <p:nvPicPr>
          <p:cNvPr id="11" name="Image 1" descr="preencoded.png"/>
          <p:cNvPicPr>
            <a:picLocks noChangeAspect="1"/>
          </p:cNvPicPr>
          <p:nvPr/>
        </p:nvPicPr>
        <p:blipFill>
          <a:blip r:embed="rId4"/>
          <a:stretch>
            <a:fillRect/>
          </a:stretch>
        </p:blipFill>
        <p:spPr>
          <a:xfrm>
            <a:off x="1097280" y="4709160"/>
            <a:ext cx="365760" cy="365760"/>
          </a:xfrm>
          <a:prstGeom prst="rect">
            <a:avLst/>
          </a:prstGeom>
        </p:spPr>
      </p:pic>
      <p:sp>
        <p:nvSpPr>
          <p:cNvPr id="12" name="Text 7"/>
          <p:cNvSpPr txBox="1"/>
          <p:nvPr/>
        </p:nvSpPr>
        <p:spPr>
          <a:xfrm>
            <a:off x="1920240" y="3794760"/>
            <a:ext cx="3794760" cy="2194560"/>
          </a:xfrm>
          <a:prstGeom prst="rect">
            <a:avLst/>
          </a:prstGeom>
          <a:noFill/>
          <a:ln/>
        </p:spPr>
        <p:txBody>
          <a:bodyPr wrap="square" lIns="0" tIns="0" rIns="0" bIns="0" rtlCol="0" anchor="ctr"/>
          <a:lstStyle/>
          <a:p>
            <a:pPr marL="0" indent="0">
              <a:buNone/>
            </a:pPr>
            <a:r>
              <a:rPr lang="en-US" sz="2100" b="1" dirty="0">
                <a:solidFill>
                  <a:srgbClr val="173243"/>
                </a:solidFill>
                <a:latin typeface="Calibri" pitchFamily="34" charset="0"/>
                <a:ea typeface="Calibri" pitchFamily="34" charset="-122"/>
                <a:cs typeface="Calibri" pitchFamily="34" charset="-120"/>
              </a:rPr>
              <a:t>Decision:</a:t>
            </a:r>
            <a:r>
              <a:rPr lang="en-US" sz="2100" dirty="0">
                <a:solidFill>
                  <a:srgbClr val="173243"/>
                </a:solidFill>
                <a:latin typeface="Calibri" pitchFamily="34" charset="0"/>
                <a:ea typeface="Calibri" pitchFamily="34" charset="-122"/>
                <a:cs typeface="Calibri" pitchFamily="34" charset="-120"/>
              </a:rPr>
              <a:t> prioritise areas and hours for further investigation.</a:t>
            </a:r>
            <a:endParaRPr lang="en-US" sz="2100" dirty="0"/>
          </a:p>
        </p:txBody>
      </p:sp>
      <p:sp>
        <p:nvSpPr>
          <p:cNvPr id="13" name="Shape 8"/>
          <p:cNvSpPr/>
          <p:nvPr/>
        </p:nvSpPr>
        <p:spPr>
          <a:xfrm>
            <a:off x="6199632" y="3794760"/>
            <a:ext cx="5349240" cy="2194560"/>
          </a:xfrm>
          <a:prstGeom prst="roundRect">
            <a:avLst>
              <a:gd name="adj" fmla="val 5000"/>
            </a:avLst>
          </a:prstGeom>
          <a:solidFill>
            <a:srgbClr val="EDF3F4"/>
          </a:solidFill>
          <a:ln w="12700">
            <a:solidFill>
              <a:srgbClr val="EDF3F4"/>
            </a:solidFill>
            <a:prstDash val="solid"/>
          </a:ln>
        </p:spPr>
      </p:sp>
      <p:sp>
        <p:nvSpPr>
          <p:cNvPr id="14" name="Shape 9"/>
          <p:cNvSpPr/>
          <p:nvPr/>
        </p:nvSpPr>
        <p:spPr>
          <a:xfrm>
            <a:off x="6473952" y="4526280"/>
            <a:ext cx="731520" cy="731520"/>
          </a:xfrm>
          <a:prstGeom prst="ellipse">
            <a:avLst/>
          </a:prstGeom>
          <a:solidFill>
            <a:srgbClr val="147D85"/>
          </a:solidFill>
          <a:ln w="12700">
            <a:solidFill>
              <a:srgbClr val="147D85"/>
            </a:solidFill>
            <a:prstDash val="solid"/>
          </a:ln>
        </p:spPr>
      </p:sp>
      <p:pic>
        <p:nvPicPr>
          <p:cNvPr id="15" name="Image 2" descr="preencoded.png"/>
          <p:cNvPicPr>
            <a:picLocks noChangeAspect="1"/>
          </p:cNvPicPr>
          <p:nvPr/>
        </p:nvPicPr>
        <p:blipFill>
          <a:blip r:embed="rId5"/>
          <a:stretch>
            <a:fillRect/>
          </a:stretch>
        </p:blipFill>
        <p:spPr>
          <a:xfrm>
            <a:off x="6656832" y="4709160"/>
            <a:ext cx="365760" cy="365760"/>
          </a:xfrm>
          <a:prstGeom prst="rect">
            <a:avLst/>
          </a:prstGeom>
        </p:spPr>
      </p:pic>
      <p:sp>
        <p:nvSpPr>
          <p:cNvPr id="16" name="Text 10"/>
          <p:cNvSpPr txBox="1"/>
          <p:nvPr/>
        </p:nvSpPr>
        <p:spPr>
          <a:xfrm>
            <a:off x="7479792" y="3794760"/>
            <a:ext cx="3794760" cy="2194560"/>
          </a:xfrm>
          <a:prstGeom prst="rect">
            <a:avLst/>
          </a:prstGeom>
          <a:noFill/>
          <a:ln/>
        </p:spPr>
        <p:txBody>
          <a:bodyPr wrap="square" lIns="0" tIns="0" rIns="0" bIns="0" rtlCol="0" anchor="ctr"/>
          <a:lstStyle/>
          <a:p>
            <a:pPr marL="0" indent="0">
              <a:buNone/>
            </a:pPr>
            <a:r>
              <a:rPr lang="en-US" sz="2100" dirty="0">
                <a:solidFill>
                  <a:srgbClr val="173243"/>
                </a:solidFill>
                <a:latin typeface="Calibri" pitchFamily="34" charset="0"/>
                <a:ea typeface="Calibri" pitchFamily="34" charset="-122"/>
                <a:cs typeface="Calibri" pitchFamily="34" charset="-120"/>
              </a:rPr>
              <a:t>The public data supports quality checks, EDA and a possible C2 extension.</a:t>
            </a:r>
            <a:endParaRPr lang="en-US" sz="2100" dirty="0"/>
          </a:p>
        </p:txBody>
      </p:sp>
      <p:pic>
        <p:nvPicPr>
          <p:cNvPr id="17" name="Imagen 16">
            <a:extLst>
              <a:ext uri="{FF2B5EF4-FFF2-40B4-BE49-F238E27FC236}">
                <a16:creationId xmlns:a16="http://schemas.microsoft.com/office/drawing/2014/main" id="{BB56E138-8BD6-20E1-9599-8A49A9DDE492}"/>
              </a:ext>
            </a:extLst>
          </p:cNvPr>
          <p:cNvPicPr>
            <a:picLocks noChangeAspect="1"/>
          </p:cNvPicPr>
          <p:nvPr/>
        </p:nvPicPr>
        <p:blipFill>
          <a:blip r:embed="rId6"/>
          <a:stretch>
            <a:fillRect/>
          </a:stretch>
        </p:blipFill>
        <p:spPr>
          <a:xfrm>
            <a:off x="-1" y="0"/>
            <a:ext cx="13935075" cy="7048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908792" cy="868680"/>
          </a:xfrm>
          <a:prstGeom prst="rect">
            <a:avLst/>
          </a:prstGeom>
          <a:noFill/>
          <a:ln/>
        </p:spPr>
        <p:txBody>
          <a:bodyPr wrap="square" lIns="0" tIns="0" rIns="0" bIns="0" rtlCol="0" anchor="ctr"/>
          <a:lstStyle/>
          <a:p>
            <a:pPr marL="0" indent="0">
              <a:buNone/>
            </a:pPr>
            <a:r>
              <a:rPr lang="en-US" sz="3600" b="1" dirty="0">
                <a:solidFill>
                  <a:srgbClr val="173243"/>
                </a:solidFill>
                <a:latin typeface="Cambria" pitchFamily="34" charset="0"/>
                <a:ea typeface="Cambria" pitchFamily="34" charset="-122"/>
                <a:cs typeface="Cambria" pitchFamily="34" charset="-120"/>
              </a:rPr>
              <a:t>Data source and observation</a:t>
            </a:r>
            <a:endParaRPr lang="en-US" sz="3600" dirty="0"/>
          </a:p>
        </p:txBody>
      </p:sp>
      <p:sp>
        <p:nvSpPr>
          <p:cNvPr id="4" name="Text 1"/>
          <p:cNvSpPr txBox="1"/>
          <p:nvPr/>
        </p:nvSpPr>
        <p:spPr>
          <a:xfrm>
            <a:off x="10881360" y="6355080"/>
            <a:ext cx="667512" cy="274320"/>
          </a:xfrm>
          <a:prstGeom prst="rect">
            <a:avLst/>
          </a:prstGeom>
          <a:noFill/>
          <a:ln/>
        </p:spPr>
        <p:txBody>
          <a:bodyPr wrap="square" lIns="0" tIns="0" rIns="0" bIns="0" rtlCol="0" anchor="ctr"/>
          <a:lstStyle/>
          <a:p>
            <a:pPr marL="0" indent="0" algn="r">
              <a:buNone/>
            </a:pPr>
            <a:r>
              <a:rPr lang="en-US" sz="1200" dirty="0">
                <a:solidFill>
                  <a:srgbClr val="52636D"/>
                </a:solidFill>
                <a:latin typeface="Calibri" pitchFamily="34" charset="0"/>
                <a:ea typeface="Calibri" pitchFamily="34" charset="-122"/>
                <a:cs typeface="Calibri" pitchFamily="34" charset="-120"/>
              </a:rPr>
              <a:t>03</a:t>
            </a:r>
            <a:endParaRPr lang="en-US" sz="1200" dirty="0"/>
          </a:p>
        </p:txBody>
      </p:sp>
      <p:sp>
        <p:nvSpPr>
          <p:cNvPr id="5" name="Shape 2"/>
          <p:cNvSpPr/>
          <p:nvPr/>
        </p:nvSpPr>
        <p:spPr>
          <a:xfrm>
            <a:off x="640080" y="1600200"/>
            <a:ext cx="5349240" cy="2130552"/>
          </a:xfrm>
          <a:prstGeom prst="roundRect">
            <a:avLst>
              <a:gd name="adj" fmla="val 5150"/>
            </a:avLst>
          </a:prstGeom>
          <a:solidFill>
            <a:srgbClr val="EDF3F4"/>
          </a:solidFill>
          <a:ln w="12700">
            <a:solidFill>
              <a:srgbClr val="EDF3F4"/>
            </a:solidFill>
            <a:prstDash val="solid"/>
          </a:ln>
        </p:spPr>
      </p:sp>
      <p:sp>
        <p:nvSpPr>
          <p:cNvPr id="6" name="Shape 3"/>
          <p:cNvSpPr/>
          <p:nvPr/>
        </p:nvSpPr>
        <p:spPr>
          <a:xfrm>
            <a:off x="914400" y="2299716"/>
            <a:ext cx="731520" cy="731520"/>
          </a:xfrm>
          <a:prstGeom prst="ellipse">
            <a:avLst/>
          </a:prstGeom>
          <a:solidFill>
            <a:srgbClr val="147D85"/>
          </a:solidFill>
          <a:ln w="12700">
            <a:solidFill>
              <a:srgbClr val="147D85"/>
            </a:solidFill>
            <a:prstDash val="solid"/>
          </a:ln>
        </p:spPr>
      </p:sp>
      <p:pic>
        <p:nvPicPr>
          <p:cNvPr id="7" name="Image 0" descr="preencoded.png"/>
          <p:cNvPicPr>
            <a:picLocks noChangeAspect="1"/>
          </p:cNvPicPr>
          <p:nvPr/>
        </p:nvPicPr>
        <p:blipFill>
          <a:blip r:embed="rId3"/>
          <a:stretch>
            <a:fillRect/>
          </a:stretch>
        </p:blipFill>
        <p:spPr>
          <a:xfrm>
            <a:off x="1097280" y="2482596"/>
            <a:ext cx="365760" cy="365760"/>
          </a:xfrm>
          <a:prstGeom prst="rect">
            <a:avLst/>
          </a:prstGeom>
        </p:spPr>
      </p:pic>
      <p:sp>
        <p:nvSpPr>
          <p:cNvPr id="8" name="Text 4"/>
          <p:cNvSpPr txBox="1"/>
          <p:nvPr/>
        </p:nvSpPr>
        <p:spPr>
          <a:xfrm>
            <a:off x="1920240" y="1600200"/>
            <a:ext cx="3794760" cy="2130552"/>
          </a:xfrm>
          <a:prstGeom prst="rect">
            <a:avLst/>
          </a:prstGeom>
          <a:noFill/>
          <a:ln/>
        </p:spPr>
        <p:txBody>
          <a:bodyPr wrap="square" lIns="0" tIns="0" rIns="0" bIns="0" rtlCol="0" anchor="ctr"/>
          <a:lstStyle/>
          <a:p>
            <a:pPr marL="0" indent="0">
              <a:buNone/>
            </a:pPr>
            <a:r>
              <a:rPr lang="en-US" sz="2100" b="1" dirty="0">
                <a:solidFill>
                  <a:srgbClr val="173243"/>
                </a:solidFill>
                <a:latin typeface="Calibri" pitchFamily="34" charset="0"/>
                <a:ea typeface="Calibri" pitchFamily="34" charset="-122"/>
                <a:cs typeface="Calibri" pitchFamily="34" charset="-120"/>
              </a:rPr>
              <a:t>Official source:</a:t>
            </a:r>
            <a:r>
              <a:rPr lang="en-US" sz="2100" dirty="0">
                <a:solidFill>
                  <a:srgbClr val="173243"/>
                </a:solidFill>
                <a:latin typeface="Calibri" pitchFamily="34" charset="0"/>
                <a:ea typeface="Calibri" pitchFamily="34" charset="-122"/>
                <a:cs typeface="Calibri" pitchFamily="34" charset="-120"/>
              </a:rPr>
              <a:t> London Fire Brigade Mobilisation Records.</a:t>
            </a:r>
            <a:endParaRPr lang="en-US" sz="2100" dirty="0"/>
          </a:p>
        </p:txBody>
      </p:sp>
      <p:sp>
        <p:nvSpPr>
          <p:cNvPr id="9" name="Shape 5"/>
          <p:cNvSpPr/>
          <p:nvPr/>
        </p:nvSpPr>
        <p:spPr>
          <a:xfrm>
            <a:off x="6199632" y="1600200"/>
            <a:ext cx="5349240" cy="2130552"/>
          </a:xfrm>
          <a:prstGeom prst="roundRect">
            <a:avLst>
              <a:gd name="adj" fmla="val 5150"/>
            </a:avLst>
          </a:prstGeom>
          <a:solidFill>
            <a:srgbClr val="EDF3F4"/>
          </a:solidFill>
          <a:ln w="12700">
            <a:solidFill>
              <a:srgbClr val="EDF3F4"/>
            </a:solidFill>
            <a:prstDash val="solid"/>
          </a:ln>
        </p:spPr>
      </p:sp>
      <p:sp>
        <p:nvSpPr>
          <p:cNvPr id="10" name="Shape 6"/>
          <p:cNvSpPr/>
          <p:nvPr/>
        </p:nvSpPr>
        <p:spPr>
          <a:xfrm>
            <a:off x="6473952" y="2299716"/>
            <a:ext cx="731520" cy="731520"/>
          </a:xfrm>
          <a:prstGeom prst="ellipse">
            <a:avLst/>
          </a:prstGeom>
          <a:solidFill>
            <a:srgbClr val="147D85"/>
          </a:solidFill>
          <a:ln w="12700">
            <a:solidFill>
              <a:srgbClr val="147D85"/>
            </a:solidFill>
            <a:prstDash val="solid"/>
          </a:ln>
        </p:spPr>
      </p:sp>
      <p:pic>
        <p:nvPicPr>
          <p:cNvPr id="11" name="Image 1" descr="preencoded.png"/>
          <p:cNvPicPr>
            <a:picLocks noChangeAspect="1"/>
          </p:cNvPicPr>
          <p:nvPr/>
        </p:nvPicPr>
        <p:blipFill>
          <a:blip r:embed="rId4"/>
          <a:stretch>
            <a:fillRect/>
          </a:stretch>
        </p:blipFill>
        <p:spPr>
          <a:xfrm>
            <a:off x="6656832" y="2482596"/>
            <a:ext cx="365760" cy="365760"/>
          </a:xfrm>
          <a:prstGeom prst="rect">
            <a:avLst/>
          </a:prstGeom>
        </p:spPr>
      </p:pic>
      <p:sp>
        <p:nvSpPr>
          <p:cNvPr id="12" name="Text 7"/>
          <p:cNvSpPr txBox="1"/>
          <p:nvPr/>
        </p:nvSpPr>
        <p:spPr>
          <a:xfrm>
            <a:off x="7479792" y="1600200"/>
            <a:ext cx="3794760" cy="2130552"/>
          </a:xfrm>
          <a:prstGeom prst="rect">
            <a:avLst/>
          </a:prstGeom>
          <a:noFill/>
          <a:ln/>
        </p:spPr>
        <p:txBody>
          <a:bodyPr wrap="square" lIns="0" tIns="0" rIns="0" bIns="0" rtlCol="0" anchor="ctr"/>
          <a:lstStyle/>
          <a:p>
            <a:pPr marL="0" indent="0">
              <a:buNone/>
            </a:pPr>
            <a:r>
              <a:rPr lang="en-US" sz="2100" dirty="0">
                <a:solidFill>
                  <a:srgbClr val="173243"/>
                </a:solidFill>
                <a:latin typeface="Calibri" pitchFamily="34" charset="0"/>
                <a:ea typeface="Calibri" pitchFamily="34" charset="-122"/>
                <a:cs typeface="Calibri" pitchFamily="34" charset="-120"/>
              </a:rPr>
              <a:t>One row represents one vehicle mobilisation.</a:t>
            </a:r>
            <a:endParaRPr lang="en-US" sz="2100" dirty="0"/>
          </a:p>
        </p:txBody>
      </p:sp>
      <p:sp>
        <p:nvSpPr>
          <p:cNvPr id="13" name="Shape 8"/>
          <p:cNvSpPr/>
          <p:nvPr/>
        </p:nvSpPr>
        <p:spPr>
          <a:xfrm>
            <a:off x="640080" y="3950208"/>
            <a:ext cx="5349240" cy="2130552"/>
          </a:xfrm>
          <a:prstGeom prst="roundRect">
            <a:avLst>
              <a:gd name="adj" fmla="val 5150"/>
            </a:avLst>
          </a:prstGeom>
          <a:solidFill>
            <a:srgbClr val="EDF3F4"/>
          </a:solidFill>
          <a:ln w="12700">
            <a:solidFill>
              <a:srgbClr val="EDF3F4"/>
            </a:solidFill>
            <a:prstDash val="solid"/>
          </a:ln>
        </p:spPr>
      </p:sp>
      <p:sp>
        <p:nvSpPr>
          <p:cNvPr id="14" name="Shape 9"/>
          <p:cNvSpPr/>
          <p:nvPr/>
        </p:nvSpPr>
        <p:spPr>
          <a:xfrm>
            <a:off x="914400" y="4649724"/>
            <a:ext cx="731520" cy="731520"/>
          </a:xfrm>
          <a:prstGeom prst="ellipse">
            <a:avLst/>
          </a:prstGeom>
          <a:solidFill>
            <a:srgbClr val="147D85"/>
          </a:solidFill>
          <a:ln w="12700">
            <a:solidFill>
              <a:srgbClr val="147D85"/>
            </a:solidFill>
            <a:prstDash val="solid"/>
          </a:ln>
        </p:spPr>
      </p:sp>
      <p:pic>
        <p:nvPicPr>
          <p:cNvPr id="15" name="Image 2" descr="preencoded.png"/>
          <p:cNvPicPr>
            <a:picLocks noChangeAspect="1"/>
          </p:cNvPicPr>
          <p:nvPr/>
        </p:nvPicPr>
        <p:blipFill>
          <a:blip r:embed="rId5"/>
          <a:stretch>
            <a:fillRect/>
          </a:stretch>
        </p:blipFill>
        <p:spPr>
          <a:xfrm>
            <a:off x="1097280" y="4832604"/>
            <a:ext cx="365760" cy="365760"/>
          </a:xfrm>
          <a:prstGeom prst="rect">
            <a:avLst/>
          </a:prstGeom>
        </p:spPr>
      </p:pic>
      <p:sp>
        <p:nvSpPr>
          <p:cNvPr id="16" name="Text 10"/>
          <p:cNvSpPr txBox="1"/>
          <p:nvPr/>
        </p:nvSpPr>
        <p:spPr>
          <a:xfrm>
            <a:off x="1920240" y="3950208"/>
            <a:ext cx="3794760" cy="2130552"/>
          </a:xfrm>
          <a:prstGeom prst="rect">
            <a:avLst/>
          </a:prstGeom>
          <a:noFill/>
          <a:ln/>
        </p:spPr>
        <p:txBody>
          <a:bodyPr wrap="square" lIns="0" tIns="0" rIns="0" bIns="0" rtlCol="0" anchor="ctr"/>
          <a:lstStyle/>
          <a:p>
            <a:pPr marL="0" indent="0">
              <a:buNone/>
            </a:pPr>
            <a:r>
              <a:rPr lang="en-US" sz="2100" b="1" dirty="0">
                <a:solidFill>
                  <a:srgbClr val="173243"/>
                </a:solidFill>
                <a:latin typeface="Calibri" pitchFamily="34" charset="0"/>
                <a:ea typeface="Calibri" pitchFamily="34" charset="-122"/>
                <a:cs typeface="Calibri" pitchFamily="34" charset="-120"/>
              </a:rPr>
              <a:t>Analysis window:</a:t>
            </a:r>
            <a:r>
              <a:rPr lang="en-US" sz="2100" dirty="0">
                <a:solidFill>
                  <a:srgbClr val="173243"/>
                </a:solidFill>
                <a:latin typeface="Calibri" pitchFamily="34" charset="0"/>
                <a:ea typeface="Calibri" pitchFamily="34" charset="-122"/>
                <a:cs typeface="Calibri" pitchFamily="34" charset="-120"/>
              </a:rPr>
              <a:t> dispatch dates in 2023–2024, using GMT.</a:t>
            </a:r>
            <a:endParaRPr lang="en-US" sz="2100" dirty="0"/>
          </a:p>
        </p:txBody>
      </p:sp>
      <p:sp>
        <p:nvSpPr>
          <p:cNvPr id="17" name="Shape 11"/>
          <p:cNvSpPr/>
          <p:nvPr/>
        </p:nvSpPr>
        <p:spPr>
          <a:xfrm>
            <a:off x="6199632" y="3950208"/>
            <a:ext cx="5349240" cy="2130552"/>
          </a:xfrm>
          <a:prstGeom prst="roundRect">
            <a:avLst>
              <a:gd name="adj" fmla="val 5150"/>
            </a:avLst>
          </a:prstGeom>
          <a:solidFill>
            <a:srgbClr val="EDF3F4"/>
          </a:solidFill>
          <a:ln w="12700">
            <a:solidFill>
              <a:srgbClr val="EDF3F4"/>
            </a:solidFill>
            <a:prstDash val="solid"/>
          </a:ln>
        </p:spPr>
      </p:sp>
      <p:sp>
        <p:nvSpPr>
          <p:cNvPr id="18" name="Shape 12"/>
          <p:cNvSpPr/>
          <p:nvPr/>
        </p:nvSpPr>
        <p:spPr>
          <a:xfrm>
            <a:off x="6473952" y="4649724"/>
            <a:ext cx="731520" cy="731520"/>
          </a:xfrm>
          <a:prstGeom prst="ellipse">
            <a:avLst/>
          </a:prstGeom>
          <a:solidFill>
            <a:srgbClr val="147D85"/>
          </a:solidFill>
          <a:ln w="12700">
            <a:solidFill>
              <a:srgbClr val="147D85"/>
            </a:solidFill>
            <a:prstDash val="solid"/>
          </a:ln>
        </p:spPr>
      </p:sp>
      <p:pic>
        <p:nvPicPr>
          <p:cNvPr id="19" name="Image 3" descr="preencoded.png"/>
          <p:cNvPicPr>
            <a:picLocks noChangeAspect="1"/>
          </p:cNvPicPr>
          <p:nvPr/>
        </p:nvPicPr>
        <p:blipFill>
          <a:blip r:embed="rId6"/>
          <a:stretch>
            <a:fillRect/>
          </a:stretch>
        </p:blipFill>
        <p:spPr>
          <a:xfrm>
            <a:off x="6656832" y="4832604"/>
            <a:ext cx="365760" cy="365760"/>
          </a:xfrm>
          <a:prstGeom prst="rect">
            <a:avLst/>
          </a:prstGeom>
        </p:spPr>
      </p:pic>
      <p:sp>
        <p:nvSpPr>
          <p:cNvPr id="20" name="Text 13"/>
          <p:cNvSpPr txBox="1"/>
          <p:nvPr/>
        </p:nvSpPr>
        <p:spPr>
          <a:xfrm>
            <a:off x="7479792" y="3950208"/>
            <a:ext cx="3794760" cy="2130552"/>
          </a:xfrm>
          <a:prstGeom prst="rect">
            <a:avLst/>
          </a:prstGeom>
          <a:noFill/>
          <a:ln/>
        </p:spPr>
        <p:txBody>
          <a:bodyPr wrap="square" lIns="0" tIns="0" rIns="0" bIns="0" rtlCol="0" anchor="ctr"/>
          <a:lstStyle/>
          <a:p>
            <a:pPr marL="0" indent="0">
              <a:buNone/>
            </a:pPr>
            <a:r>
              <a:rPr lang="en-US" sz="2100" dirty="0">
                <a:solidFill>
                  <a:srgbClr val="173243"/>
                </a:solidFill>
                <a:latin typeface="Calibri" pitchFamily="34" charset="0"/>
                <a:ea typeface="Calibri" pitchFamily="34" charset="-122"/>
                <a:cs typeface="Calibri" pitchFamily="34" charset="-120"/>
              </a:rPr>
              <a:t>Several vehicles can attend the same incident.</a:t>
            </a:r>
            <a:endParaRPr lang="en-US" sz="2100" dirty="0"/>
          </a:p>
        </p:txBody>
      </p:sp>
      <p:pic>
        <p:nvPicPr>
          <p:cNvPr id="21" name="Imagen 20">
            <a:extLst>
              <a:ext uri="{FF2B5EF4-FFF2-40B4-BE49-F238E27FC236}">
                <a16:creationId xmlns:a16="http://schemas.microsoft.com/office/drawing/2014/main" id="{15174C90-0216-89E5-6F21-5655ED93F0D9}"/>
              </a:ext>
            </a:extLst>
          </p:cNvPr>
          <p:cNvPicPr>
            <a:picLocks noChangeAspect="1"/>
          </p:cNvPicPr>
          <p:nvPr/>
        </p:nvPicPr>
        <p:blipFill>
          <a:blip r:embed="rId7"/>
          <a:stretch>
            <a:fillRect/>
          </a:stretch>
        </p:blipFill>
        <p:spPr>
          <a:xfrm>
            <a:off x="0" y="0"/>
            <a:ext cx="12363450" cy="70294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908792" cy="868680"/>
          </a:xfrm>
          <a:prstGeom prst="rect">
            <a:avLst/>
          </a:prstGeom>
          <a:noFill/>
          <a:ln/>
        </p:spPr>
        <p:txBody>
          <a:bodyPr wrap="square" lIns="0" tIns="0" rIns="0" bIns="0" rtlCol="0" anchor="ctr"/>
          <a:lstStyle/>
          <a:p>
            <a:pPr marL="0" indent="0">
              <a:buNone/>
            </a:pPr>
            <a:r>
              <a:rPr lang="en-US" sz="3600" b="1" dirty="0">
                <a:solidFill>
                  <a:srgbClr val="173243"/>
                </a:solidFill>
                <a:latin typeface="Cambria" pitchFamily="34" charset="0"/>
                <a:ea typeface="Cambria" pitchFamily="34" charset="-122"/>
                <a:cs typeface="Cambria" pitchFamily="34" charset="-120"/>
              </a:rPr>
              <a:t>Our KPI: the 90th percentile</a:t>
            </a:r>
            <a:endParaRPr lang="en-US" sz="3600" dirty="0"/>
          </a:p>
        </p:txBody>
      </p:sp>
      <p:sp>
        <p:nvSpPr>
          <p:cNvPr id="4" name="Text 1"/>
          <p:cNvSpPr txBox="1"/>
          <p:nvPr/>
        </p:nvSpPr>
        <p:spPr>
          <a:xfrm>
            <a:off x="10881360" y="6355080"/>
            <a:ext cx="667512" cy="274320"/>
          </a:xfrm>
          <a:prstGeom prst="rect">
            <a:avLst/>
          </a:prstGeom>
          <a:noFill/>
          <a:ln/>
        </p:spPr>
        <p:txBody>
          <a:bodyPr wrap="square" lIns="0" tIns="0" rIns="0" bIns="0" rtlCol="0" anchor="ctr"/>
          <a:lstStyle/>
          <a:p>
            <a:pPr marL="0" indent="0" algn="r">
              <a:buNone/>
            </a:pPr>
            <a:r>
              <a:rPr lang="en-US" sz="1200" dirty="0">
                <a:solidFill>
                  <a:srgbClr val="52636D"/>
                </a:solidFill>
                <a:latin typeface="Calibri" pitchFamily="34" charset="0"/>
                <a:ea typeface="Calibri" pitchFamily="34" charset="-122"/>
                <a:cs typeface="Calibri" pitchFamily="34" charset="-120"/>
              </a:rPr>
              <a:t>04</a:t>
            </a:r>
            <a:endParaRPr lang="en-US" sz="1200" dirty="0"/>
          </a:p>
        </p:txBody>
      </p:sp>
      <p:sp>
        <p:nvSpPr>
          <p:cNvPr id="5" name="Shape 2"/>
          <p:cNvSpPr/>
          <p:nvPr/>
        </p:nvSpPr>
        <p:spPr>
          <a:xfrm>
            <a:off x="640080" y="1691640"/>
            <a:ext cx="2555748" cy="4297680"/>
          </a:xfrm>
          <a:prstGeom prst="roundRect">
            <a:avLst>
              <a:gd name="adj" fmla="val 4293"/>
            </a:avLst>
          </a:prstGeom>
          <a:solidFill>
            <a:srgbClr val="EDF3F4"/>
          </a:solidFill>
          <a:ln w="12700">
            <a:solidFill>
              <a:srgbClr val="EDF3F4"/>
            </a:solidFill>
            <a:prstDash val="solid"/>
          </a:ln>
        </p:spPr>
      </p:sp>
      <p:sp>
        <p:nvSpPr>
          <p:cNvPr id="6" name="Shape 3"/>
          <p:cNvSpPr/>
          <p:nvPr/>
        </p:nvSpPr>
        <p:spPr>
          <a:xfrm>
            <a:off x="960120" y="2057400"/>
            <a:ext cx="914400" cy="914400"/>
          </a:xfrm>
          <a:prstGeom prst="ellipse">
            <a:avLst/>
          </a:prstGeom>
          <a:solidFill>
            <a:srgbClr val="147D85"/>
          </a:solidFill>
          <a:ln w="12700">
            <a:solidFill>
              <a:srgbClr val="147D85"/>
            </a:solidFill>
            <a:prstDash val="solid"/>
          </a:ln>
        </p:spPr>
      </p:sp>
      <p:pic>
        <p:nvPicPr>
          <p:cNvPr id="7" name="Image 0" descr="preencoded.png"/>
          <p:cNvPicPr>
            <a:picLocks noChangeAspect="1"/>
          </p:cNvPicPr>
          <p:nvPr/>
        </p:nvPicPr>
        <p:blipFill>
          <a:blip r:embed="rId3"/>
          <a:stretch>
            <a:fillRect/>
          </a:stretch>
        </p:blipFill>
        <p:spPr>
          <a:xfrm>
            <a:off x="1188720" y="2286000"/>
            <a:ext cx="457200" cy="457200"/>
          </a:xfrm>
          <a:prstGeom prst="rect">
            <a:avLst/>
          </a:prstGeom>
        </p:spPr>
      </p:pic>
      <p:sp>
        <p:nvSpPr>
          <p:cNvPr id="8" name="Text 4"/>
          <p:cNvSpPr txBox="1"/>
          <p:nvPr/>
        </p:nvSpPr>
        <p:spPr>
          <a:xfrm>
            <a:off x="960120" y="3246120"/>
            <a:ext cx="1915668" cy="2560320"/>
          </a:xfrm>
          <a:prstGeom prst="rect">
            <a:avLst/>
          </a:prstGeom>
          <a:noFill/>
          <a:ln/>
        </p:spPr>
        <p:txBody>
          <a:bodyPr wrap="square" lIns="0" tIns="0" rIns="0" bIns="0" rtlCol="0" anchor="t"/>
          <a:lstStyle/>
          <a:p>
            <a:pPr marL="0" indent="0">
              <a:buNone/>
            </a:pPr>
            <a:r>
              <a:rPr lang="en-US" sz="2000" b="1" dirty="0">
                <a:solidFill>
                  <a:srgbClr val="173243"/>
                </a:solidFill>
                <a:latin typeface="Calibri" pitchFamily="34" charset="0"/>
                <a:ea typeface="Calibri" pitchFamily="34" charset="-122"/>
                <a:cs typeface="Calibri" pitchFamily="34" charset="-120"/>
              </a:rPr>
              <a:t>Measure:</a:t>
            </a:r>
            <a:r>
              <a:rPr lang="en-US" sz="2000" dirty="0">
                <a:solidFill>
                  <a:srgbClr val="173243"/>
                </a:solidFill>
                <a:latin typeface="Calibri" pitchFamily="34" charset="0"/>
                <a:ea typeface="Calibri" pitchFamily="34" charset="-122"/>
                <a:cs typeface="Calibri" pitchFamily="34" charset="-120"/>
              </a:rPr>
              <a:t> minutes from mobilisation to arrival.</a:t>
            </a:r>
            <a:endParaRPr lang="en-US" sz="2000" dirty="0"/>
          </a:p>
        </p:txBody>
      </p:sp>
      <p:sp>
        <p:nvSpPr>
          <p:cNvPr id="9" name="Shape 5"/>
          <p:cNvSpPr/>
          <p:nvPr/>
        </p:nvSpPr>
        <p:spPr>
          <a:xfrm>
            <a:off x="3424428" y="1691640"/>
            <a:ext cx="2555748" cy="4297680"/>
          </a:xfrm>
          <a:prstGeom prst="roundRect">
            <a:avLst>
              <a:gd name="adj" fmla="val 4293"/>
            </a:avLst>
          </a:prstGeom>
          <a:solidFill>
            <a:srgbClr val="EDF3F4"/>
          </a:solidFill>
          <a:ln w="12700">
            <a:solidFill>
              <a:srgbClr val="EDF3F4"/>
            </a:solidFill>
            <a:prstDash val="solid"/>
          </a:ln>
        </p:spPr>
      </p:sp>
      <p:sp>
        <p:nvSpPr>
          <p:cNvPr id="10" name="Shape 6"/>
          <p:cNvSpPr/>
          <p:nvPr/>
        </p:nvSpPr>
        <p:spPr>
          <a:xfrm>
            <a:off x="3744468" y="2057400"/>
            <a:ext cx="914400" cy="914400"/>
          </a:xfrm>
          <a:prstGeom prst="ellipse">
            <a:avLst/>
          </a:prstGeom>
          <a:solidFill>
            <a:srgbClr val="147D85"/>
          </a:solidFill>
          <a:ln w="12700">
            <a:solidFill>
              <a:srgbClr val="147D85"/>
            </a:solidFill>
            <a:prstDash val="solid"/>
          </a:ln>
        </p:spPr>
      </p:sp>
      <p:pic>
        <p:nvPicPr>
          <p:cNvPr id="11" name="Image 1" descr="preencoded.png"/>
          <p:cNvPicPr>
            <a:picLocks noChangeAspect="1"/>
          </p:cNvPicPr>
          <p:nvPr/>
        </p:nvPicPr>
        <p:blipFill>
          <a:blip r:embed="rId4"/>
          <a:stretch>
            <a:fillRect/>
          </a:stretch>
        </p:blipFill>
        <p:spPr>
          <a:xfrm>
            <a:off x="3973068" y="2286000"/>
            <a:ext cx="457200" cy="457200"/>
          </a:xfrm>
          <a:prstGeom prst="rect">
            <a:avLst/>
          </a:prstGeom>
        </p:spPr>
      </p:pic>
      <p:sp>
        <p:nvSpPr>
          <p:cNvPr id="12" name="Text 7"/>
          <p:cNvSpPr txBox="1"/>
          <p:nvPr/>
        </p:nvSpPr>
        <p:spPr>
          <a:xfrm>
            <a:off x="3744468" y="3246120"/>
            <a:ext cx="1915668" cy="2560320"/>
          </a:xfrm>
          <a:prstGeom prst="rect">
            <a:avLst/>
          </a:prstGeom>
          <a:noFill/>
          <a:ln/>
        </p:spPr>
        <p:txBody>
          <a:bodyPr wrap="square" lIns="0" tIns="0" rIns="0" bIns="0" rtlCol="0" anchor="t"/>
          <a:lstStyle/>
          <a:p>
            <a:pPr marL="0" indent="0">
              <a:buNone/>
            </a:pPr>
            <a:r>
              <a:rPr lang="en-US" sz="2000" b="1" dirty="0">
                <a:solidFill>
                  <a:srgbClr val="173243"/>
                </a:solidFill>
                <a:latin typeface="Calibri" pitchFamily="34" charset="0"/>
                <a:ea typeface="Calibri" pitchFamily="34" charset="-122"/>
                <a:cs typeface="Calibri" pitchFamily="34" charset="-120"/>
              </a:rPr>
              <a:t>P90:</a:t>
            </a:r>
            <a:r>
              <a:rPr lang="en-US" sz="2000" dirty="0">
                <a:solidFill>
                  <a:srgbClr val="173243"/>
                </a:solidFill>
                <a:latin typeface="Calibri" pitchFamily="34" charset="0"/>
                <a:ea typeface="Calibri" pitchFamily="34" charset="-122"/>
                <a:cs typeface="Calibri" pitchFamily="34" charset="-120"/>
              </a:rPr>
              <a:t> about 90% of eligible times fall at or below this value.</a:t>
            </a:r>
            <a:endParaRPr lang="en-US" sz="2000" dirty="0"/>
          </a:p>
        </p:txBody>
      </p:sp>
      <p:sp>
        <p:nvSpPr>
          <p:cNvPr id="13" name="Shape 8"/>
          <p:cNvSpPr/>
          <p:nvPr/>
        </p:nvSpPr>
        <p:spPr>
          <a:xfrm>
            <a:off x="6208776" y="1691640"/>
            <a:ext cx="2555748" cy="4297680"/>
          </a:xfrm>
          <a:prstGeom prst="roundRect">
            <a:avLst>
              <a:gd name="adj" fmla="val 4293"/>
            </a:avLst>
          </a:prstGeom>
          <a:solidFill>
            <a:srgbClr val="EDF3F4"/>
          </a:solidFill>
          <a:ln w="12700">
            <a:solidFill>
              <a:srgbClr val="EDF3F4"/>
            </a:solidFill>
            <a:prstDash val="solid"/>
          </a:ln>
        </p:spPr>
      </p:sp>
      <p:sp>
        <p:nvSpPr>
          <p:cNvPr id="14" name="Shape 9"/>
          <p:cNvSpPr/>
          <p:nvPr/>
        </p:nvSpPr>
        <p:spPr>
          <a:xfrm>
            <a:off x="6528816" y="2057400"/>
            <a:ext cx="914400" cy="914400"/>
          </a:xfrm>
          <a:prstGeom prst="ellipse">
            <a:avLst/>
          </a:prstGeom>
          <a:solidFill>
            <a:srgbClr val="147D85"/>
          </a:solidFill>
          <a:ln w="12700">
            <a:solidFill>
              <a:srgbClr val="147D85"/>
            </a:solidFill>
            <a:prstDash val="solid"/>
          </a:ln>
        </p:spPr>
      </p:sp>
      <p:pic>
        <p:nvPicPr>
          <p:cNvPr id="15" name="Image 2" descr="preencoded.png"/>
          <p:cNvPicPr>
            <a:picLocks noChangeAspect="1"/>
          </p:cNvPicPr>
          <p:nvPr/>
        </p:nvPicPr>
        <p:blipFill>
          <a:blip r:embed="rId5"/>
          <a:stretch>
            <a:fillRect/>
          </a:stretch>
        </p:blipFill>
        <p:spPr>
          <a:xfrm>
            <a:off x="6757416" y="2286000"/>
            <a:ext cx="457200" cy="457200"/>
          </a:xfrm>
          <a:prstGeom prst="rect">
            <a:avLst/>
          </a:prstGeom>
        </p:spPr>
      </p:pic>
      <p:sp>
        <p:nvSpPr>
          <p:cNvPr id="16" name="Text 10"/>
          <p:cNvSpPr txBox="1"/>
          <p:nvPr/>
        </p:nvSpPr>
        <p:spPr>
          <a:xfrm>
            <a:off x="6528816" y="3246120"/>
            <a:ext cx="1915668" cy="2560320"/>
          </a:xfrm>
          <a:prstGeom prst="rect">
            <a:avLst/>
          </a:prstGeom>
          <a:noFill/>
          <a:ln/>
        </p:spPr>
        <p:txBody>
          <a:bodyPr wrap="square" lIns="0" tIns="0" rIns="0" bIns="0" rtlCol="0" anchor="t"/>
          <a:lstStyle/>
          <a:p>
            <a:pPr marL="0" indent="0">
              <a:buNone/>
            </a:pPr>
            <a:r>
              <a:rPr lang="en-US" sz="2000" b="1" dirty="0">
                <a:solidFill>
                  <a:srgbClr val="173243"/>
                </a:solidFill>
                <a:latin typeface="Calibri" pitchFamily="34" charset="0"/>
                <a:ea typeface="Calibri" pitchFamily="34" charset="-122"/>
                <a:cs typeface="Calibri" pitchFamily="34" charset="-120"/>
              </a:rPr>
              <a:t>Purpose:</a:t>
            </a:r>
            <a:r>
              <a:rPr lang="en-US" sz="2000" dirty="0">
                <a:solidFill>
                  <a:srgbClr val="173243"/>
                </a:solidFill>
                <a:latin typeface="Calibri" pitchFamily="34" charset="0"/>
                <a:ea typeface="Calibri" pitchFamily="34" charset="-122"/>
                <a:cs typeface="Calibri" pitchFamily="34" charset="-120"/>
              </a:rPr>
              <a:t> examine longer times alongside the median and record count.</a:t>
            </a:r>
            <a:endParaRPr lang="en-US" sz="2000" dirty="0"/>
          </a:p>
        </p:txBody>
      </p:sp>
      <p:sp>
        <p:nvSpPr>
          <p:cNvPr id="17" name="Shape 11"/>
          <p:cNvSpPr/>
          <p:nvPr/>
        </p:nvSpPr>
        <p:spPr>
          <a:xfrm>
            <a:off x="8993124" y="1691640"/>
            <a:ext cx="2555748" cy="4297680"/>
          </a:xfrm>
          <a:prstGeom prst="roundRect">
            <a:avLst>
              <a:gd name="adj" fmla="val 4293"/>
            </a:avLst>
          </a:prstGeom>
          <a:solidFill>
            <a:srgbClr val="EDF3F4"/>
          </a:solidFill>
          <a:ln w="12700">
            <a:solidFill>
              <a:srgbClr val="EDF3F4"/>
            </a:solidFill>
            <a:prstDash val="solid"/>
          </a:ln>
        </p:spPr>
      </p:sp>
      <p:sp>
        <p:nvSpPr>
          <p:cNvPr id="18" name="Shape 12"/>
          <p:cNvSpPr/>
          <p:nvPr/>
        </p:nvSpPr>
        <p:spPr>
          <a:xfrm>
            <a:off x="9313164" y="2057400"/>
            <a:ext cx="914400" cy="914400"/>
          </a:xfrm>
          <a:prstGeom prst="ellipse">
            <a:avLst/>
          </a:prstGeom>
          <a:solidFill>
            <a:srgbClr val="147D85"/>
          </a:solidFill>
          <a:ln w="12700">
            <a:solidFill>
              <a:srgbClr val="147D85"/>
            </a:solidFill>
            <a:prstDash val="solid"/>
          </a:ln>
        </p:spPr>
      </p:sp>
      <p:pic>
        <p:nvPicPr>
          <p:cNvPr id="19" name="Image 3" descr="preencoded.png"/>
          <p:cNvPicPr>
            <a:picLocks noChangeAspect="1"/>
          </p:cNvPicPr>
          <p:nvPr/>
        </p:nvPicPr>
        <p:blipFill>
          <a:blip r:embed="rId6"/>
          <a:stretch>
            <a:fillRect/>
          </a:stretch>
        </p:blipFill>
        <p:spPr>
          <a:xfrm>
            <a:off x="9541764" y="2286000"/>
            <a:ext cx="457200" cy="457200"/>
          </a:xfrm>
          <a:prstGeom prst="rect">
            <a:avLst/>
          </a:prstGeom>
        </p:spPr>
      </p:pic>
      <p:sp>
        <p:nvSpPr>
          <p:cNvPr id="20" name="Text 13"/>
          <p:cNvSpPr txBox="1"/>
          <p:nvPr/>
        </p:nvSpPr>
        <p:spPr>
          <a:xfrm>
            <a:off x="9313164" y="3246120"/>
            <a:ext cx="1915668" cy="2560320"/>
          </a:xfrm>
          <a:prstGeom prst="rect">
            <a:avLst/>
          </a:prstGeom>
          <a:noFill/>
          <a:ln/>
        </p:spPr>
        <p:txBody>
          <a:bodyPr wrap="square" lIns="0" tIns="0" rIns="0" bIns="0" rtlCol="0" anchor="t"/>
          <a:lstStyle/>
          <a:p>
            <a:pPr marL="0" indent="0">
              <a:buNone/>
            </a:pPr>
            <a:r>
              <a:rPr lang="en-US" sz="2000" dirty="0">
                <a:solidFill>
                  <a:srgbClr val="173243"/>
                </a:solidFill>
                <a:latin typeface="Calibri" pitchFamily="34" charset="0"/>
                <a:ea typeface="Calibri" pitchFamily="34" charset="-122"/>
                <a:cs typeface="Calibri" pitchFamily="34" charset="-120"/>
              </a:rPr>
              <a:t>The measure excludes call handling before mobilisation.</a:t>
            </a:r>
            <a:endParaRPr lang="en-US" sz="2000" dirty="0"/>
          </a:p>
        </p:txBody>
      </p:sp>
      <p:pic>
        <p:nvPicPr>
          <p:cNvPr id="21" name="Imagen 20">
            <a:extLst>
              <a:ext uri="{FF2B5EF4-FFF2-40B4-BE49-F238E27FC236}">
                <a16:creationId xmlns:a16="http://schemas.microsoft.com/office/drawing/2014/main" id="{DF322111-14EA-9152-8847-C5733633ED2E}"/>
              </a:ext>
            </a:extLst>
          </p:cNvPr>
          <p:cNvPicPr>
            <a:picLocks noChangeAspect="1"/>
          </p:cNvPicPr>
          <p:nvPr/>
        </p:nvPicPr>
        <p:blipFill>
          <a:blip r:embed="rId7"/>
          <a:stretch>
            <a:fillRect/>
          </a:stretch>
        </p:blipFill>
        <p:spPr>
          <a:xfrm>
            <a:off x="0" y="0"/>
            <a:ext cx="12372975" cy="7048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908792" cy="868680"/>
          </a:xfrm>
          <a:prstGeom prst="rect">
            <a:avLst/>
          </a:prstGeom>
          <a:noFill/>
          <a:ln/>
        </p:spPr>
        <p:txBody>
          <a:bodyPr wrap="square" lIns="0" tIns="0" rIns="0" bIns="0" rtlCol="0" anchor="ctr"/>
          <a:lstStyle/>
          <a:p>
            <a:pPr marL="0" indent="0">
              <a:buNone/>
            </a:pPr>
            <a:r>
              <a:rPr lang="en-US" sz="3600" b="1" dirty="0">
                <a:solidFill>
                  <a:srgbClr val="173243"/>
                </a:solidFill>
                <a:latin typeface="Cambria" pitchFamily="34" charset="0"/>
                <a:ea typeface="Cambria" pitchFamily="34" charset="-122"/>
                <a:cs typeface="Cambria" pitchFamily="34" charset="-120"/>
              </a:rPr>
              <a:t>Data preparation and row counts</a:t>
            </a:r>
            <a:endParaRPr lang="en-US" sz="3600" dirty="0"/>
          </a:p>
        </p:txBody>
      </p:sp>
      <p:sp>
        <p:nvSpPr>
          <p:cNvPr id="4" name="Text 1"/>
          <p:cNvSpPr txBox="1"/>
          <p:nvPr/>
        </p:nvSpPr>
        <p:spPr>
          <a:xfrm>
            <a:off x="10881360" y="6355080"/>
            <a:ext cx="667512" cy="274320"/>
          </a:xfrm>
          <a:prstGeom prst="rect">
            <a:avLst/>
          </a:prstGeom>
          <a:noFill/>
          <a:ln/>
        </p:spPr>
        <p:txBody>
          <a:bodyPr wrap="square" lIns="0" tIns="0" rIns="0" bIns="0" rtlCol="0" anchor="ctr"/>
          <a:lstStyle/>
          <a:p>
            <a:pPr marL="0" indent="0" algn="r">
              <a:buNone/>
            </a:pPr>
            <a:r>
              <a:rPr lang="en-US" sz="1200" dirty="0">
                <a:solidFill>
                  <a:srgbClr val="52636D"/>
                </a:solidFill>
                <a:latin typeface="Calibri" pitchFamily="34" charset="0"/>
                <a:ea typeface="Calibri" pitchFamily="34" charset="-122"/>
                <a:cs typeface="Calibri" pitchFamily="34" charset="-120"/>
              </a:rPr>
              <a:t>05</a:t>
            </a:r>
            <a:endParaRPr lang="en-US" sz="1200" dirty="0"/>
          </a:p>
        </p:txBody>
      </p:sp>
      <p:sp>
        <p:nvSpPr>
          <p:cNvPr id="5" name="Shape 2"/>
          <p:cNvSpPr/>
          <p:nvPr/>
        </p:nvSpPr>
        <p:spPr>
          <a:xfrm>
            <a:off x="640080" y="1691640"/>
            <a:ext cx="2418588" cy="2834640"/>
          </a:xfrm>
          <a:prstGeom prst="roundRect">
            <a:avLst>
              <a:gd name="adj" fmla="val 4537"/>
            </a:avLst>
          </a:prstGeom>
          <a:solidFill>
            <a:srgbClr val="EDF3F4"/>
          </a:solidFill>
          <a:ln w="12700">
            <a:solidFill>
              <a:srgbClr val="EDF3F4"/>
            </a:solidFill>
            <a:prstDash val="solid"/>
          </a:ln>
        </p:spPr>
      </p:sp>
      <p:sp>
        <p:nvSpPr>
          <p:cNvPr id="6" name="Text 3"/>
          <p:cNvSpPr txBox="1"/>
          <p:nvPr/>
        </p:nvSpPr>
        <p:spPr>
          <a:xfrm>
            <a:off x="914400" y="1828800"/>
            <a:ext cx="1869948" cy="274320"/>
          </a:xfrm>
          <a:prstGeom prst="rect">
            <a:avLst/>
          </a:prstGeom>
          <a:noFill/>
          <a:ln/>
        </p:spPr>
        <p:txBody>
          <a:bodyPr wrap="square" lIns="0" tIns="0" rIns="0" bIns="0" rtlCol="0" anchor="ctr"/>
          <a:lstStyle/>
          <a:p>
            <a:pPr marL="0" indent="0">
              <a:buNone/>
            </a:pPr>
            <a:r>
              <a:rPr lang="en-US" sz="1200" b="1" dirty="0">
                <a:solidFill>
                  <a:srgbClr val="147D85"/>
                </a:solidFill>
                <a:latin typeface="Calibri" pitchFamily="34" charset="0"/>
                <a:ea typeface="Calibri" pitchFamily="34" charset="-122"/>
                <a:cs typeface="Calibri" pitchFamily="34" charset="-120"/>
              </a:rPr>
              <a:t>Stage</a:t>
            </a:r>
            <a:endParaRPr lang="en-US" sz="1200" dirty="0"/>
          </a:p>
        </p:txBody>
      </p:sp>
      <p:sp>
        <p:nvSpPr>
          <p:cNvPr id="7" name="Text 4"/>
          <p:cNvSpPr txBox="1"/>
          <p:nvPr/>
        </p:nvSpPr>
        <p:spPr>
          <a:xfrm>
            <a:off x="914400" y="2148840"/>
            <a:ext cx="1869948" cy="914400"/>
          </a:xfrm>
          <a:prstGeom prst="rect">
            <a:avLst/>
          </a:prstGeom>
          <a:noFill/>
          <a:ln/>
        </p:spPr>
        <p:txBody>
          <a:bodyPr wrap="square" lIns="0" tIns="0" rIns="0" bIns="0" rtlCol="0" anchor="t"/>
          <a:lstStyle/>
          <a:p>
            <a:pPr marL="0" indent="0">
              <a:buNone/>
            </a:pPr>
            <a:r>
              <a:rPr lang="en-US" sz="1700" dirty="0">
                <a:solidFill>
                  <a:srgbClr val="173243"/>
                </a:solidFill>
                <a:latin typeface="Calibri" pitchFamily="34" charset="0"/>
                <a:ea typeface="Calibri" pitchFamily="34" charset="-122"/>
                <a:cs typeface="Calibri" pitchFamily="34" charset="-120"/>
              </a:rPr>
              <a:t>Original file, 2021–2024</a:t>
            </a:r>
            <a:endParaRPr lang="en-US" sz="1700" dirty="0"/>
          </a:p>
        </p:txBody>
      </p:sp>
      <p:sp>
        <p:nvSpPr>
          <p:cNvPr id="8" name="Text 5"/>
          <p:cNvSpPr txBox="1"/>
          <p:nvPr/>
        </p:nvSpPr>
        <p:spPr>
          <a:xfrm>
            <a:off x="914400" y="3108960"/>
            <a:ext cx="1869948" cy="274320"/>
          </a:xfrm>
          <a:prstGeom prst="rect">
            <a:avLst/>
          </a:prstGeom>
          <a:noFill/>
          <a:ln/>
        </p:spPr>
        <p:txBody>
          <a:bodyPr wrap="square" lIns="0" tIns="0" rIns="0" bIns="0" rtlCol="0" anchor="ctr"/>
          <a:lstStyle/>
          <a:p>
            <a:pPr marL="0" indent="0">
              <a:buNone/>
            </a:pPr>
            <a:r>
              <a:rPr lang="en-US" sz="1200" b="1" dirty="0">
                <a:solidFill>
                  <a:srgbClr val="147D85"/>
                </a:solidFill>
                <a:latin typeface="Calibri" pitchFamily="34" charset="0"/>
                <a:ea typeface="Calibri" pitchFamily="34" charset="-122"/>
                <a:cs typeface="Calibri" pitchFamily="34" charset="-120"/>
              </a:rPr>
              <a:t>Rows</a:t>
            </a:r>
            <a:endParaRPr lang="en-US" sz="1200" dirty="0"/>
          </a:p>
        </p:txBody>
      </p:sp>
      <p:sp>
        <p:nvSpPr>
          <p:cNvPr id="9" name="Text 6"/>
          <p:cNvSpPr txBox="1"/>
          <p:nvPr/>
        </p:nvSpPr>
        <p:spPr>
          <a:xfrm>
            <a:off x="914400" y="3383280"/>
            <a:ext cx="1869948" cy="822960"/>
          </a:xfrm>
          <a:prstGeom prst="rect">
            <a:avLst/>
          </a:prstGeom>
          <a:noFill/>
          <a:ln/>
        </p:spPr>
        <p:txBody>
          <a:bodyPr wrap="square" lIns="0" tIns="0" rIns="0" bIns="0" rtlCol="0" anchor="ctr"/>
          <a:lstStyle/>
          <a:p>
            <a:pPr marL="0" indent="0">
              <a:buNone/>
            </a:pPr>
            <a:r>
              <a:rPr lang="en-US" sz="3200" b="1" dirty="0">
                <a:solidFill>
                  <a:srgbClr val="173243"/>
                </a:solidFill>
                <a:latin typeface="Cambria" pitchFamily="34" charset="0"/>
                <a:ea typeface="Cambria" pitchFamily="34" charset="-122"/>
                <a:cs typeface="Cambria" pitchFamily="34" charset="-120"/>
              </a:rPr>
              <a:t>727,857</a:t>
            </a:r>
            <a:endParaRPr lang="en-US" sz="3200" dirty="0"/>
          </a:p>
        </p:txBody>
      </p:sp>
      <p:pic>
        <p:nvPicPr>
          <p:cNvPr id="10" name="Image 0" descr="preencoded.png"/>
          <p:cNvPicPr>
            <a:picLocks noChangeAspect="1"/>
          </p:cNvPicPr>
          <p:nvPr/>
        </p:nvPicPr>
        <p:blipFill>
          <a:blip r:embed="rId3"/>
          <a:stretch>
            <a:fillRect/>
          </a:stretch>
        </p:blipFill>
        <p:spPr>
          <a:xfrm>
            <a:off x="3127248" y="2971800"/>
            <a:ext cx="274320" cy="274320"/>
          </a:xfrm>
          <a:prstGeom prst="rect">
            <a:avLst/>
          </a:prstGeom>
        </p:spPr>
      </p:pic>
      <p:sp>
        <p:nvSpPr>
          <p:cNvPr id="11" name="Shape 7"/>
          <p:cNvSpPr/>
          <p:nvPr/>
        </p:nvSpPr>
        <p:spPr>
          <a:xfrm>
            <a:off x="3470148" y="1691640"/>
            <a:ext cx="2418588" cy="2834640"/>
          </a:xfrm>
          <a:prstGeom prst="roundRect">
            <a:avLst>
              <a:gd name="adj" fmla="val 4537"/>
            </a:avLst>
          </a:prstGeom>
          <a:solidFill>
            <a:srgbClr val="EDF3F4"/>
          </a:solidFill>
          <a:ln w="12700">
            <a:solidFill>
              <a:srgbClr val="EDF3F4"/>
            </a:solidFill>
            <a:prstDash val="solid"/>
          </a:ln>
        </p:spPr>
      </p:sp>
      <p:sp>
        <p:nvSpPr>
          <p:cNvPr id="12" name="Text 8"/>
          <p:cNvSpPr txBox="1"/>
          <p:nvPr/>
        </p:nvSpPr>
        <p:spPr>
          <a:xfrm>
            <a:off x="3744468" y="1828800"/>
            <a:ext cx="1869948" cy="274320"/>
          </a:xfrm>
          <a:prstGeom prst="rect">
            <a:avLst/>
          </a:prstGeom>
          <a:noFill/>
          <a:ln/>
        </p:spPr>
        <p:txBody>
          <a:bodyPr wrap="square" lIns="0" tIns="0" rIns="0" bIns="0" rtlCol="0" anchor="ctr"/>
          <a:lstStyle/>
          <a:p>
            <a:pPr marL="0" indent="0">
              <a:buNone/>
            </a:pPr>
            <a:r>
              <a:rPr lang="en-US" sz="1200" b="1" dirty="0">
                <a:solidFill>
                  <a:srgbClr val="147D85"/>
                </a:solidFill>
                <a:latin typeface="Calibri" pitchFamily="34" charset="0"/>
                <a:ea typeface="Calibri" pitchFamily="34" charset="-122"/>
                <a:cs typeface="Calibri" pitchFamily="34" charset="-120"/>
              </a:rPr>
              <a:t>Stage</a:t>
            </a:r>
            <a:endParaRPr lang="en-US" sz="1200" dirty="0"/>
          </a:p>
        </p:txBody>
      </p:sp>
      <p:sp>
        <p:nvSpPr>
          <p:cNvPr id="13" name="Text 9"/>
          <p:cNvSpPr txBox="1"/>
          <p:nvPr/>
        </p:nvSpPr>
        <p:spPr>
          <a:xfrm>
            <a:off x="3744468" y="2148840"/>
            <a:ext cx="1869948" cy="914400"/>
          </a:xfrm>
          <a:prstGeom prst="rect">
            <a:avLst/>
          </a:prstGeom>
          <a:noFill/>
          <a:ln/>
        </p:spPr>
        <p:txBody>
          <a:bodyPr wrap="square" lIns="0" tIns="0" rIns="0" bIns="0" rtlCol="0" anchor="t"/>
          <a:lstStyle/>
          <a:p>
            <a:pPr marL="0" indent="0">
              <a:buNone/>
            </a:pPr>
            <a:r>
              <a:rPr lang="en-US" sz="1700" dirty="0">
                <a:solidFill>
                  <a:srgbClr val="173243"/>
                </a:solidFill>
                <a:latin typeface="Calibri" pitchFamily="34" charset="0"/>
                <a:ea typeface="Calibri" pitchFamily="34" charset="-122"/>
                <a:cs typeface="Calibri" pitchFamily="34" charset="-120"/>
              </a:rPr>
              <a:t>After removing exact duplicates</a:t>
            </a:r>
            <a:endParaRPr lang="en-US" sz="1700" dirty="0"/>
          </a:p>
        </p:txBody>
      </p:sp>
      <p:sp>
        <p:nvSpPr>
          <p:cNvPr id="14" name="Text 10"/>
          <p:cNvSpPr txBox="1"/>
          <p:nvPr/>
        </p:nvSpPr>
        <p:spPr>
          <a:xfrm>
            <a:off x="3744468" y="3108960"/>
            <a:ext cx="1869948" cy="274320"/>
          </a:xfrm>
          <a:prstGeom prst="rect">
            <a:avLst/>
          </a:prstGeom>
          <a:noFill/>
          <a:ln/>
        </p:spPr>
        <p:txBody>
          <a:bodyPr wrap="square" lIns="0" tIns="0" rIns="0" bIns="0" rtlCol="0" anchor="ctr"/>
          <a:lstStyle/>
          <a:p>
            <a:pPr marL="0" indent="0">
              <a:buNone/>
            </a:pPr>
            <a:r>
              <a:rPr lang="en-US" sz="1200" b="1" dirty="0">
                <a:solidFill>
                  <a:srgbClr val="147D85"/>
                </a:solidFill>
                <a:latin typeface="Calibri" pitchFamily="34" charset="0"/>
                <a:ea typeface="Calibri" pitchFamily="34" charset="-122"/>
                <a:cs typeface="Calibri" pitchFamily="34" charset="-120"/>
              </a:rPr>
              <a:t>Rows</a:t>
            </a:r>
            <a:endParaRPr lang="en-US" sz="1200" dirty="0"/>
          </a:p>
        </p:txBody>
      </p:sp>
      <p:sp>
        <p:nvSpPr>
          <p:cNvPr id="15" name="Text 11"/>
          <p:cNvSpPr txBox="1"/>
          <p:nvPr/>
        </p:nvSpPr>
        <p:spPr>
          <a:xfrm>
            <a:off x="3744468" y="3383280"/>
            <a:ext cx="1869948" cy="822960"/>
          </a:xfrm>
          <a:prstGeom prst="rect">
            <a:avLst/>
          </a:prstGeom>
          <a:noFill/>
          <a:ln/>
        </p:spPr>
        <p:txBody>
          <a:bodyPr wrap="square" lIns="0" tIns="0" rIns="0" bIns="0" rtlCol="0" anchor="ctr"/>
          <a:lstStyle/>
          <a:p>
            <a:pPr marL="0" indent="0">
              <a:buNone/>
            </a:pPr>
            <a:r>
              <a:rPr lang="en-US" sz="3200" b="1" dirty="0">
                <a:solidFill>
                  <a:srgbClr val="173243"/>
                </a:solidFill>
                <a:latin typeface="Cambria" pitchFamily="34" charset="0"/>
                <a:ea typeface="Cambria" pitchFamily="34" charset="-122"/>
                <a:cs typeface="Cambria" pitchFamily="34" charset="-120"/>
              </a:rPr>
              <a:t>723,935</a:t>
            </a:r>
            <a:endParaRPr lang="en-US" sz="3200" dirty="0"/>
          </a:p>
        </p:txBody>
      </p:sp>
      <p:pic>
        <p:nvPicPr>
          <p:cNvPr id="16" name="Image 1" descr="preencoded.png"/>
          <p:cNvPicPr>
            <a:picLocks noChangeAspect="1"/>
          </p:cNvPicPr>
          <p:nvPr/>
        </p:nvPicPr>
        <p:blipFill>
          <a:blip r:embed="rId3"/>
          <a:stretch>
            <a:fillRect/>
          </a:stretch>
        </p:blipFill>
        <p:spPr>
          <a:xfrm>
            <a:off x="5957316" y="2971800"/>
            <a:ext cx="274320" cy="274320"/>
          </a:xfrm>
          <a:prstGeom prst="rect">
            <a:avLst/>
          </a:prstGeom>
        </p:spPr>
      </p:pic>
      <p:sp>
        <p:nvSpPr>
          <p:cNvPr id="17" name="Shape 12"/>
          <p:cNvSpPr/>
          <p:nvPr/>
        </p:nvSpPr>
        <p:spPr>
          <a:xfrm>
            <a:off x="6300216" y="1691640"/>
            <a:ext cx="2418588" cy="2834640"/>
          </a:xfrm>
          <a:prstGeom prst="roundRect">
            <a:avLst>
              <a:gd name="adj" fmla="val 4537"/>
            </a:avLst>
          </a:prstGeom>
          <a:solidFill>
            <a:srgbClr val="EDF3F4"/>
          </a:solidFill>
          <a:ln w="12700">
            <a:solidFill>
              <a:srgbClr val="EDF3F4"/>
            </a:solidFill>
            <a:prstDash val="solid"/>
          </a:ln>
        </p:spPr>
      </p:sp>
      <p:sp>
        <p:nvSpPr>
          <p:cNvPr id="18" name="Text 13"/>
          <p:cNvSpPr txBox="1"/>
          <p:nvPr/>
        </p:nvSpPr>
        <p:spPr>
          <a:xfrm>
            <a:off x="6574536" y="1828800"/>
            <a:ext cx="1869948" cy="274320"/>
          </a:xfrm>
          <a:prstGeom prst="rect">
            <a:avLst/>
          </a:prstGeom>
          <a:noFill/>
          <a:ln/>
        </p:spPr>
        <p:txBody>
          <a:bodyPr wrap="square" lIns="0" tIns="0" rIns="0" bIns="0" rtlCol="0" anchor="ctr"/>
          <a:lstStyle/>
          <a:p>
            <a:pPr marL="0" indent="0">
              <a:buNone/>
            </a:pPr>
            <a:r>
              <a:rPr lang="en-US" sz="1200" b="1" dirty="0">
                <a:solidFill>
                  <a:srgbClr val="147D85"/>
                </a:solidFill>
                <a:latin typeface="Calibri" pitchFamily="34" charset="0"/>
                <a:ea typeface="Calibri" pitchFamily="34" charset="-122"/>
                <a:cs typeface="Calibri" pitchFamily="34" charset="-120"/>
              </a:rPr>
              <a:t>Stage</a:t>
            </a:r>
            <a:endParaRPr lang="en-US" sz="1200" dirty="0"/>
          </a:p>
        </p:txBody>
      </p:sp>
      <p:sp>
        <p:nvSpPr>
          <p:cNvPr id="19" name="Text 14"/>
          <p:cNvSpPr txBox="1"/>
          <p:nvPr/>
        </p:nvSpPr>
        <p:spPr>
          <a:xfrm>
            <a:off x="6574536" y="2148840"/>
            <a:ext cx="1869948" cy="914400"/>
          </a:xfrm>
          <a:prstGeom prst="rect">
            <a:avLst/>
          </a:prstGeom>
          <a:noFill/>
          <a:ln/>
        </p:spPr>
        <p:txBody>
          <a:bodyPr wrap="square" lIns="0" tIns="0" rIns="0" bIns="0" rtlCol="0" anchor="t"/>
          <a:lstStyle/>
          <a:p>
            <a:pPr marL="0" indent="0">
              <a:buNone/>
            </a:pPr>
            <a:r>
              <a:rPr lang="en-US" sz="1700" dirty="0">
                <a:solidFill>
                  <a:srgbClr val="173243"/>
                </a:solidFill>
                <a:latin typeface="Calibri" pitchFamily="34" charset="0"/>
                <a:ea typeface="Calibri" pitchFamily="34" charset="-122"/>
                <a:cs typeface="Calibri" pitchFamily="34" charset="-120"/>
              </a:rPr>
              <a:t>Selected dispatch period, 2023–2024</a:t>
            </a:r>
            <a:endParaRPr lang="en-US" sz="1700" dirty="0"/>
          </a:p>
        </p:txBody>
      </p:sp>
      <p:sp>
        <p:nvSpPr>
          <p:cNvPr id="20" name="Text 15"/>
          <p:cNvSpPr txBox="1"/>
          <p:nvPr/>
        </p:nvSpPr>
        <p:spPr>
          <a:xfrm>
            <a:off x="6574536" y="3108960"/>
            <a:ext cx="1869948" cy="274320"/>
          </a:xfrm>
          <a:prstGeom prst="rect">
            <a:avLst/>
          </a:prstGeom>
          <a:noFill/>
          <a:ln/>
        </p:spPr>
        <p:txBody>
          <a:bodyPr wrap="square" lIns="0" tIns="0" rIns="0" bIns="0" rtlCol="0" anchor="ctr"/>
          <a:lstStyle/>
          <a:p>
            <a:pPr marL="0" indent="0">
              <a:buNone/>
            </a:pPr>
            <a:r>
              <a:rPr lang="en-US" sz="1200" b="1" dirty="0">
                <a:solidFill>
                  <a:srgbClr val="147D85"/>
                </a:solidFill>
                <a:latin typeface="Calibri" pitchFamily="34" charset="0"/>
                <a:ea typeface="Calibri" pitchFamily="34" charset="-122"/>
                <a:cs typeface="Calibri" pitchFamily="34" charset="-120"/>
              </a:rPr>
              <a:t>Rows</a:t>
            </a:r>
            <a:endParaRPr lang="en-US" sz="1200" dirty="0"/>
          </a:p>
        </p:txBody>
      </p:sp>
      <p:sp>
        <p:nvSpPr>
          <p:cNvPr id="21" name="Text 16"/>
          <p:cNvSpPr txBox="1"/>
          <p:nvPr/>
        </p:nvSpPr>
        <p:spPr>
          <a:xfrm>
            <a:off x="6574536" y="3383280"/>
            <a:ext cx="1869948" cy="822960"/>
          </a:xfrm>
          <a:prstGeom prst="rect">
            <a:avLst/>
          </a:prstGeom>
          <a:noFill/>
          <a:ln/>
        </p:spPr>
        <p:txBody>
          <a:bodyPr wrap="square" lIns="0" tIns="0" rIns="0" bIns="0" rtlCol="0" anchor="ctr"/>
          <a:lstStyle/>
          <a:p>
            <a:pPr marL="0" indent="0">
              <a:buNone/>
            </a:pPr>
            <a:r>
              <a:rPr lang="en-US" sz="3200" b="1" dirty="0">
                <a:solidFill>
                  <a:srgbClr val="173243"/>
                </a:solidFill>
                <a:latin typeface="Cambria" pitchFamily="34" charset="0"/>
                <a:ea typeface="Cambria" pitchFamily="34" charset="-122"/>
                <a:cs typeface="Cambria" pitchFamily="34" charset="-120"/>
              </a:rPr>
              <a:t>384,643</a:t>
            </a:r>
            <a:endParaRPr lang="en-US" sz="3200" dirty="0"/>
          </a:p>
        </p:txBody>
      </p:sp>
      <p:pic>
        <p:nvPicPr>
          <p:cNvPr id="22" name="Image 2" descr="preencoded.png"/>
          <p:cNvPicPr>
            <a:picLocks noChangeAspect="1"/>
          </p:cNvPicPr>
          <p:nvPr/>
        </p:nvPicPr>
        <p:blipFill>
          <a:blip r:embed="rId3"/>
          <a:stretch>
            <a:fillRect/>
          </a:stretch>
        </p:blipFill>
        <p:spPr>
          <a:xfrm>
            <a:off x="8787384" y="2971800"/>
            <a:ext cx="274320" cy="274320"/>
          </a:xfrm>
          <a:prstGeom prst="rect">
            <a:avLst/>
          </a:prstGeom>
        </p:spPr>
      </p:pic>
      <p:sp>
        <p:nvSpPr>
          <p:cNvPr id="23" name="Shape 17"/>
          <p:cNvSpPr/>
          <p:nvPr/>
        </p:nvSpPr>
        <p:spPr>
          <a:xfrm>
            <a:off x="9130284" y="1691640"/>
            <a:ext cx="2418588" cy="2834640"/>
          </a:xfrm>
          <a:prstGeom prst="roundRect">
            <a:avLst>
              <a:gd name="adj" fmla="val 4537"/>
            </a:avLst>
          </a:prstGeom>
          <a:solidFill>
            <a:srgbClr val="173243"/>
          </a:solidFill>
          <a:ln w="12700">
            <a:solidFill>
              <a:srgbClr val="173243"/>
            </a:solidFill>
            <a:prstDash val="solid"/>
          </a:ln>
        </p:spPr>
      </p:sp>
      <p:sp>
        <p:nvSpPr>
          <p:cNvPr id="24" name="Text 18"/>
          <p:cNvSpPr txBox="1"/>
          <p:nvPr/>
        </p:nvSpPr>
        <p:spPr>
          <a:xfrm>
            <a:off x="9404604" y="1828800"/>
            <a:ext cx="1869948" cy="274320"/>
          </a:xfrm>
          <a:prstGeom prst="rect">
            <a:avLst/>
          </a:prstGeom>
          <a:noFill/>
          <a:ln/>
        </p:spPr>
        <p:txBody>
          <a:bodyPr wrap="square" lIns="0" tIns="0" rIns="0" bIns="0" rtlCol="0" anchor="ctr"/>
          <a:lstStyle/>
          <a:p>
            <a:pPr marL="0" indent="0">
              <a:buNone/>
            </a:pPr>
            <a:r>
              <a:rPr lang="en-US" sz="1200" b="1" dirty="0">
                <a:solidFill>
                  <a:srgbClr val="B8E0DF"/>
                </a:solidFill>
                <a:latin typeface="Calibri" pitchFamily="34" charset="0"/>
                <a:ea typeface="Calibri" pitchFamily="34" charset="-122"/>
                <a:cs typeface="Calibri" pitchFamily="34" charset="-120"/>
              </a:rPr>
              <a:t>Stage</a:t>
            </a:r>
            <a:endParaRPr lang="en-US" sz="1200" dirty="0"/>
          </a:p>
        </p:txBody>
      </p:sp>
      <p:sp>
        <p:nvSpPr>
          <p:cNvPr id="25" name="Text 19"/>
          <p:cNvSpPr txBox="1"/>
          <p:nvPr/>
        </p:nvSpPr>
        <p:spPr>
          <a:xfrm>
            <a:off x="9404604" y="2148840"/>
            <a:ext cx="1869948" cy="914400"/>
          </a:xfrm>
          <a:prstGeom prst="rect">
            <a:avLst/>
          </a:prstGeom>
          <a:noFill/>
          <a:ln/>
        </p:spPr>
        <p:txBody>
          <a:bodyPr wrap="square" lIns="0" tIns="0" rIns="0" bIns="0" rtlCol="0" anchor="t"/>
          <a:lstStyle/>
          <a:p>
            <a:pPr marL="0" indent="0">
              <a:buNone/>
            </a:pPr>
            <a:r>
              <a:rPr lang="en-US" sz="1700" dirty="0">
                <a:solidFill>
                  <a:srgbClr val="FFFFFF"/>
                </a:solidFill>
                <a:latin typeface="Calibri" pitchFamily="34" charset="0"/>
                <a:ea typeface="Calibri" pitchFamily="34" charset="-122"/>
                <a:cs typeface="Calibri" pitchFamily="34" charset="-120"/>
              </a:rPr>
              <a:t>Eligible after 16 conflicting-ID exclusions</a:t>
            </a:r>
            <a:endParaRPr lang="en-US" sz="1700" dirty="0"/>
          </a:p>
        </p:txBody>
      </p:sp>
      <p:sp>
        <p:nvSpPr>
          <p:cNvPr id="26" name="Text 20"/>
          <p:cNvSpPr txBox="1"/>
          <p:nvPr/>
        </p:nvSpPr>
        <p:spPr>
          <a:xfrm>
            <a:off x="9404604" y="3108960"/>
            <a:ext cx="1869948" cy="274320"/>
          </a:xfrm>
          <a:prstGeom prst="rect">
            <a:avLst/>
          </a:prstGeom>
          <a:noFill/>
          <a:ln/>
        </p:spPr>
        <p:txBody>
          <a:bodyPr wrap="square" lIns="0" tIns="0" rIns="0" bIns="0" rtlCol="0" anchor="ctr"/>
          <a:lstStyle/>
          <a:p>
            <a:pPr marL="0" indent="0">
              <a:buNone/>
            </a:pPr>
            <a:r>
              <a:rPr lang="en-US" sz="1200" b="1" dirty="0">
                <a:solidFill>
                  <a:srgbClr val="B8E0DF"/>
                </a:solidFill>
                <a:latin typeface="Calibri" pitchFamily="34" charset="0"/>
                <a:ea typeface="Calibri" pitchFamily="34" charset="-122"/>
                <a:cs typeface="Calibri" pitchFamily="34" charset="-120"/>
              </a:rPr>
              <a:t>Rows</a:t>
            </a:r>
            <a:endParaRPr lang="en-US" sz="1200" dirty="0"/>
          </a:p>
        </p:txBody>
      </p:sp>
      <p:sp>
        <p:nvSpPr>
          <p:cNvPr id="27" name="Text 21"/>
          <p:cNvSpPr txBox="1"/>
          <p:nvPr/>
        </p:nvSpPr>
        <p:spPr>
          <a:xfrm>
            <a:off x="9404604" y="3383280"/>
            <a:ext cx="1869948"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384,627</a:t>
            </a:r>
            <a:endParaRPr lang="en-US" sz="3200" dirty="0"/>
          </a:p>
        </p:txBody>
      </p:sp>
      <p:sp>
        <p:nvSpPr>
          <p:cNvPr id="28" name="Shape 22"/>
          <p:cNvSpPr/>
          <p:nvPr/>
        </p:nvSpPr>
        <p:spPr>
          <a:xfrm>
            <a:off x="640080" y="4800600"/>
            <a:ext cx="10908792" cy="1188720"/>
          </a:xfrm>
          <a:prstGeom prst="roundRect">
            <a:avLst>
              <a:gd name="adj" fmla="val 9231"/>
            </a:avLst>
          </a:prstGeom>
          <a:solidFill>
            <a:srgbClr val="147D85"/>
          </a:solidFill>
          <a:ln w="12700">
            <a:solidFill>
              <a:srgbClr val="147D85"/>
            </a:solidFill>
            <a:prstDash val="solid"/>
          </a:ln>
        </p:spPr>
      </p:sp>
      <p:sp>
        <p:nvSpPr>
          <p:cNvPr id="29" name="Shape 23"/>
          <p:cNvSpPr/>
          <p:nvPr/>
        </p:nvSpPr>
        <p:spPr>
          <a:xfrm>
            <a:off x="960120" y="5029200"/>
            <a:ext cx="731520" cy="731520"/>
          </a:xfrm>
          <a:prstGeom prst="ellipse">
            <a:avLst/>
          </a:prstGeom>
          <a:solidFill>
            <a:srgbClr val="173243"/>
          </a:solidFill>
          <a:ln w="12700">
            <a:solidFill>
              <a:srgbClr val="173243"/>
            </a:solidFill>
            <a:prstDash val="solid"/>
          </a:ln>
        </p:spPr>
      </p:sp>
      <p:pic>
        <p:nvPicPr>
          <p:cNvPr id="30" name="Image 3" descr="preencoded.png"/>
          <p:cNvPicPr>
            <a:picLocks noChangeAspect="1"/>
          </p:cNvPicPr>
          <p:nvPr/>
        </p:nvPicPr>
        <p:blipFill>
          <a:blip r:embed="rId4"/>
          <a:stretch>
            <a:fillRect/>
          </a:stretch>
        </p:blipFill>
        <p:spPr>
          <a:xfrm>
            <a:off x="1143000" y="5212080"/>
            <a:ext cx="365760" cy="365760"/>
          </a:xfrm>
          <a:prstGeom prst="rect">
            <a:avLst/>
          </a:prstGeom>
        </p:spPr>
      </p:pic>
      <p:sp>
        <p:nvSpPr>
          <p:cNvPr id="31" name="Text 24"/>
          <p:cNvSpPr txBox="1"/>
          <p:nvPr/>
        </p:nvSpPr>
        <p:spPr>
          <a:xfrm>
            <a:off x="2011680" y="4800600"/>
            <a:ext cx="9326880" cy="11887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Final population:</a:t>
            </a:r>
            <a:r>
              <a:rPr lang="en-US" sz="2200" dirty="0">
                <a:solidFill>
                  <a:srgbClr val="FFFFFF"/>
                </a:solidFill>
                <a:latin typeface="Calibri" pitchFamily="34" charset="0"/>
                <a:ea typeface="Calibri" pitchFamily="34" charset="-122"/>
                <a:cs typeface="Calibri" pitchFamily="34" charset="-120"/>
              </a:rPr>
              <a:t> 384,627 vehicle mobilisations across 248,225 distinct incident IDs.</a:t>
            </a:r>
            <a:endParaRPr lang="en-US" sz="2200" dirty="0"/>
          </a:p>
        </p:txBody>
      </p:sp>
      <p:pic>
        <p:nvPicPr>
          <p:cNvPr id="32" name="Imagen 31">
            <a:extLst>
              <a:ext uri="{FF2B5EF4-FFF2-40B4-BE49-F238E27FC236}">
                <a16:creationId xmlns:a16="http://schemas.microsoft.com/office/drawing/2014/main" id="{81C57A46-10FC-9A7A-9702-ABA87089D2CA}"/>
              </a:ext>
            </a:extLst>
          </p:cNvPr>
          <p:cNvPicPr>
            <a:picLocks noChangeAspect="1"/>
          </p:cNvPicPr>
          <p:nvPr/>
        </p:nvPicPr>
        <p:blipFill>
          <a:blip r:embed="rId5"/>
          <a:stretch>
            <a:fillRect/>
          </a:stretch>
        </p:blipFill>
        <p:spPr>
          <a:xfrm>
            <a:off x="7958" y="0"/>
            <a:ext cx="12176084"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908792" cy="868680"/>
          </a:xfrm>
          <a:prstGeom prst="rect">
            <a:avLst/>
          </a:prstGeom>
          <a:noFill/>
          <a:ln/>
        </p:spPr>
        <p:txBody>
          <a:bodyPr wrap="square" lIns="0" tIns="0" rIns="0" bIns="0" rtlCol="0" anchor="ctr"/>
          <a:lstStyle/>
          <a:p>
            <a:pPr marL="0" indent="0">
              <a:buNone/>
            </a:pPr>
            <a:r>
              <a:rPr lang="en-US" sz="3600" b="1" dirty="0">
                <a:solidFill>
                  <a:srgbClr val="173243"/>
                </a:solidFill>
                <a:latin typeface="Cambria" pitchFamily="34" charset="0"/>
                <a:ea typeface="Cambria" pitchFamily="34" charset="-122"/>
                <a:cs typeface="Cambria" pitchFamily="34" charset="-120"/>
              </a:rPr>
              <a:t>Cleaning decisions and validation</a:t>
            </a:r>
            <a:endParaRPr lang="en-US" sz="3600" dirty="0"/>
          </a:p>
        </p:txBody>
      </p:sp>
      <p:sp>
        <p:nvSpPr>
          <p:cNvPr id="4" name="Text 1"/>
          <p:cNvSpPr txBox="1"/>
          <p:nvPr/>
        </p:nvSpPr>
        <p:spPr>
          <a:xfrm>
            <a:off x="10881360" y="6355080"/>
            <a:ext cx="667512" cy="274320"/>
          </a:xfrm>
          <a:prstGeom prst="rect">
            <a:avLst/>
          </a:prstGeom>
          <a:noFill/>
          <a:ln/>
        </p:spPr>
        <p:txBody>
          <a:bodyPr wrap="square" lIns="0" tIns="0" rIns="0" bIns="0" rtlCol="0" anchor="ctr"/>
          <a:lstStyle/>
          <a:p>
            <a:pPr marL="0" indent="0" algn="r">
              <a:buNone/>
            </a:pPr>
            <a:r>
              <a:rPr lang="en-US" sz="1200" dirty="0">
                <a:solidFill>
                  <a:srgbClr val="52636D"/>
                </a:solidFill>
                <a:latin typeface="Calibri" pitchFamily="34" charset="0"/>
                <a:ea typeface="Calibri" pitchFamily="34" charset="-122"/>
                <a:cs typeface="Calibri" pitchFamily="34" charset="-120"/>
              </a:rPr>
              <a:t>06</a:t>
            </a:r>
            <a:endParaRPr lang="en-US" sz="1200" dirty="0"/>
          </a:p>
        </p:txBody>
      </p:sp>
      <p:sp>
        <p:nvSpPr>
          <p:cNvPr id="5" name="Shape 2"/>
          <p:cNvSpPr/>
          <p:nvPr/>
        </p:nvSpPr>
        <p:spPr>
          <a:xfrm>
            <a:off x="640080" y="1645920"/>
            <a:ext cx="10908792" cy="960120"/>
          </a:xfrm>
          <a:prstGeom prst="roundRect">
            <a:avLst>
              <a:gd name="adj" fmla="val 11429"/>
            </a:avLst>
          </a:prstGeom>
          <a:solidFill>
            <a:srgbClr val="EDF3F4"/>
          </a:solidFill>
          <a:ln w="12700">
            <a:solidFill>
              <a:srgbClr val="EDF3F4"/>
            </a:solidFill>
            <a:prstDash val="solid"/>
          </a:ln>
        </p:spPr>
      </p:sp>
      <p:sp>
        <p:nvSpPr>
          <p:cNvPr id="6" name="Shape 3"/>
          <p:cNvSpPr/>
          <p:nvPr/>
        </p:nvSpPr>
        <p:spPr>
          <a:xfrm>
            <a:off x="914400" y="1828800"/>
            <a:ext cx="594360" cy="594360"/>
          </a:xfrm>
          <a:prstGeom prst="ellipse">
            <a:avLst/>
          </a:prstGeom>
          <a:solidFill>
            <a:srgbClr val="147D85"/>
          </a:solidFill>
          <a:ln w="12700">
            <a:solidFill>
              <a:srgbClr val="147D85"/>
            </a:solidFill>
            <a:prstDash val="solid"/>
          </a:ln>
        </p:spPr>
      </p:sp>
      <p:pic>
        <p:nvPicPr>
          <p:cNvPr id="7" name="Image 0" descr="preencoded.png"/>
          <p:cNvPicPr>
            <a:picLocks noChangeAspect="1"/>
          </p:cNvPicPr>
          <p:nvPr/>
        </p:nvPicPr>
        <p:blipFill>
          <a:blip r:embed="rId3"/>
          <a:stretch>
            <a:fillRect/>
          </a:stretch>
        </p:blipFill>
        <p:spPr>
          <a:xfrm>
            <a:off x="1062990" y="1977390"/>
            <a:ext cx="297180" cy="297180"/>
          </a:xfrm>
          <a:prstGeom prst="rect">
            <a:avLst/>
          </a:prstGeom>
        </p:spPr>
      </p:pic>
      <p:sp>
        <p:nvSpPr>
          <p:cNvPr id="8" name="Text 4"/>
          <p:cNvSpPr txBox="1"/>
          <p:nvPr/>
        </p:nvSpPr>
        <p:spPr>
          <a:xfrm>
            <a:off x="1783080" y="1645920"/>
            <a:ext cx="9491472" cy="960120"/>
          </a:xfrm>
          <a:prstGeom prst="rect">
            <a:avLst/>
          </a:prstGeom>
          <a:noFill/>
          <a:ln/>
        </p:spPr>
        <p:txBody>
          <a:bodyPr wrap="square" lIns="0" tIns="0" rIns="0" bIns="0" rtlCol="0" anchor="ctr"/>
          <a:lstStyle/>
          <a:p>
            <a:pPr marL="0" indent="0">
              <a:buNone/>
            </a:pPr>
            <a:r>
              <a:rPr lang="en-US" sz="2200" dirty="0">
                <a:solidFill>
                  <a:srgbClr val="173243"/>
                </a:solidFill>
                <a:latin typeface="Calibri" pitchFamily="34" charset="0"/>
                <a:ea typeface="Calibri" pitchFamily="34" charset="-122"/>
                <a:cs typeface="Calibri" pitchFamily="34" charset="-120"/>
              </a:rPr>
              <a:t>Check unique mobilisation IDs and nonnegative durations.</a:t>
            </a:r>
            <a:endParaRPr lang="en-US" sz="2200" dirty="0"/>
          </a:p>
        </p:txBody>
      </p:sp>
      <p:sp>
        <p:nvSpPr>
          <p:cNvPr id="9" name="Shape 5"/>
          <p:cNvSpPr/>
          <p:nvPr/>
        </p:nvSpPr>
        <p:spPr>
          <a:xfrm>
            <a:off x="640080" y="2788920"/>
            <a:ext cx="10908792" cy="960120"/>
          </a:xfrm>
          <a:prstGeom prst="roundRect">
            <a:avLst>
              <a:gd name="adj" fmla="val 11429"/>
            </a:avLst>
          </a:prstGeom>
          <a:solidFill>
            <a:srgbClr val="EDF3F4"/>
          </a:solidFill>
          <a:ln w="12700">
            <a:solidFill>
              <a:srgbClr val="EDF3F4"/>
            </a:solidFill>
            <a:prstDash val="solid"/>
          </a:ln>
        </p:spPr>
      </p:sp>
      <p:sp>
        <p:nvSpPr>
          <p:cNvPr id="10" name="Shape 6"/>
          <p:cNvSpPr/>
          <p:nvPr/>
        </p:nvSpPr>
        <p:spPr>
          <a:xfrm>
            <a:off x="914400" y="2971800"/>
            <a:ext cx="594360" cy="594360"/>
          </a:xfrm>
          <a:prstGeom prst="ellipse">
            <a:avLst/>
          </a:prstGeom>
          <a:solidFill>
            <a:srgbClr val="147D85"/>
          </a:solidFill>
          <a:ln w="12700">
            <a:solidFill>
              <a:srgbClr val="147D85"/>
            </a:solidFill>
            <a:prstDash val="solid"/>
          </a:ln>
        </p:spPr>
      </p:sp>
      <p:pic>
        <p:nvPicPr>
          <p:cNvPr id="11" name="Image 1" descr="preencoded.png"/>
          <p:cNvPicPr>
            <a:picLocks noChangeAspect="1"/>
          </p:cNvPicPr>
          <p:nvPr/>
        </p:nvPicPr>
        <p:blipFill>
          <a:blip r:embed="rId4"/>
          <a:stretch>
            <a:fillRect/>
          </a:stretch>
        </p:blipFill>
        <p:spPr>
          <a:xfrm>
            <a:off x="1062990" y="3120390"/>
            <a:ext cx="297180" cy="297180"/>
          </a:xfrm>
          <a:prstGeom prst="rect">
            <a:avLst/>
          </a:prstGeom>
        </p:spPr>
      </p:pic>
      <p:sp>
        <p:nvSpPr>
          <p:cNvPr id="12" name="Text 7"/>
          <p:cNvSpPr txBox="1"/>
          <p:nvPr/>
        </p:nvSpPr>
        <p:spPr>
          <a:xfrm>
            <a:off x="1783080" y="2788920"/>
            <a:ext cx="9491472" cy="960120"/>
          </a:xfrm>
          <a:prstGeom prst="rect">
            <a:avLst/>
          </a:prstGeom>
          <a:noFill/>
          <a:ln/>
        </p:spPr>
        <p:txBody>
          <a:bodyPr wrap="square" lIns="0" tIns="0" rIns="0" bIns="0" rtlCol="0" anchor="ctr"/>
          <a:lstStyle/>
          <a:p>
            <a:pPr marL="0" indent="0">
              <a:buNone/>
            </a:pPr>
            <a:r>
              <a:rPr lang="en-US" sz="2200" dirty="0">
                <a:solidFill>
                  <a:srgbClr val="173243"/>
                </a:solidFill>
                <a:latin typeface="Calibri" pitchFamily="34" charset="0"/>
                <a:ea typeface="Calibri" pitchFamily="34" charset="-122"/>
                <a:cs typeface="Calibri" pitchFamily="34" charset="-120"/>
              </a:rPr>
              <a:t>Compare attendance time with arrival minus mobilisation, within 1 second.</a:t>
            </a:r>
            <a:endParaRPr lang="en-US" sz="2200" dirty="0"/>
          </a:p>
        </p:txBody>
      </p:sp>
      <p:sp>
        <p:nvSpPr>
          <p:cNvPr id="13" name="Shape 8"/>
          <p:cNvSpPr/>
          <p:nvPr/>
        </p:nvSpPr>
        <p:spPr>
          <a:xfrm>
            <a:off x="640080" y="3931920"/>
            <a:ext cx="10908792" cy="960120"/>
          </a:xfrm>
          <a:prstGeom prst="roundRect">
            <a:avLst>
              <a:gd name="adj" fmla="val 11429"/>
            </a:avLst>
          </a:prstGeom>
          <a:solidFill>
            <a:srgbClr val="EDF3F4"/>
          </a:solidFill>
          <a:ln w="12700">
            <a:solidFill>
              <a:srgbClr val="EDF3F4"/>
            </a:solidFill>
            <a:prstDash val="solid"/>
          </a:ln>
        </p:spPr>
      </p:sp>
      <p:sp>
        <p:nvSpPr>
          <p:cNvPr id="14" name="Shape 9"/>
          <p:cNvSpPr/>
          <p:nvPr/>
        </p:nvSpPr>
        <p:spPr>
          <a:xfrm>
            <a:off x="914400" y="4114800"/>
            <a:ext cx="594360" cy="594360"/>
          </a:xfrm>
          <a:prstGeom prst="ellipse">
            <a:avLst/>
          </a:prstGeom>
          <a:solidFill>
            <a:srgbClr val="147D85"/>
          </a:solidFill>
          <a:ln w="12700">
            <a:solidFill>
              <a:srgbClr val="147D85"/>
            </a:solidFill>
            <a:prstDash val="solid"/>
          </a:ln>
        </p:spPr>
      </p:sp>
      <p:pic>
        <p:nvPicPr>
          <p:cNvPr id="15" name="Image 2" descr="preencoded.png"/>
          <p:cNvPicPr>
            <a:picLocks noChangeAspect="1"/>
          </p:cNvPicPr>
          <p:nvPr/>
        </p:nvPicPr>
        <p:blipFill>
          <a:blip r:embed="rId5"/>
          <a:stretch>
            <a:fillRect/>
          </a:stretch>
        </p:blipFill>
        <p:spPr>
          <a:xfrm>
            <a:off x="1062990" y="4263390"/>
            <a:ext cx="297180" cy="297180"/>
          </a:xfrm>
          <a:prstGeom prst="rect">
            <a:avLst/>
          </a:prstGeom>
        </p:spPr>
      </p:pic>
      <p:sp>
        <p:nvSpPr>
          <p:cNvPr id="16" name="Text 10"/>
          <p:cNvSpPr txBox="1"/>
          <p:nvPr/>
        </p:nvSpPr>
        <p:spPr>
          <a:xfrm>
            <a:off x="1783080" y="3931920"/>
            <a:ext cx="9491472" cy="960120"/>
          </a:xfrm>
          <a:prstGeom prst="rect">
            <a:avLst/>
          </a:prstGeom>
          <a:noFill/>
          <a:ln/>
        </p:spPr>
        <p:txBody>
          <a:bodyPr wrap="square" lIns="0" tIns="0" rIns="0" bIns="0" rtlCol="0" anchor="ctr"/>
          <a:lstStyle/>
          <a:p>
            <a:pPr marL="0" indent="0">
              <a:buNone/>
            </a:pPr>
            <a:r>
              <a:rPr lang="en-US" sz="2200" dirty="0">
                <a:solidFill>
                  <a:srgbClr val="173243"/>
                </a:solidFill>
                <a:latin typeface="Calibri" pitchFamily="34" charset="0"/>
                <a:ea typeface="Calibri" pitchFamily="34" charset="-122"/>
                <a:cs typeface="Calibri" pitchFamily="34" charset="-120"/>
              </a:rPr>
              <a:t>Keep 1,288 records with unknown district in the global KPI.</a:t>
            </a:r>
            <a:endParaRPr lang="en-US" sz="2200" dirty="0"/>
          </a:p>
        </p:txBody>
      </p:sp>
      <p:sp>
        <p:nvSpPr>
          <p:cNvPr id="17" name="Shape 11"/>
          <p:cNvSpPr/>
          <p:nvPr/>
        </p:nvSpPr>
        <p:spPr>
          <a:xfrm>
            <a:off x="640080" y="5074920"/>
            <a:ext cx="10908792" cy="960120"/>
          </a:xfrm>
          <a:prstGeom prst="roundRect">
            <a:avLst>
              <a:gd name="adj" fmla="val 11429"/>
            </a:avLst>
          </a:prstGeom>
          <a:solidFill>
            <a:srgbClr val="EDF3F4"/>
          </a:solidFill>
          <a:ln w="12700">
            <a:solidFill>
              <a:srgbClr val="EDF3F4"/>
            </a:solidFill>
            <a:prstDash val="solid"/>
          </a:ln>
        </p:spPr>
      </p:sp>
      <p:sp>
        <p:nvSpPr>
          <p:cNvPr id="18" name="Shape 12"/>
          <p:cNvSpPr/>
          <p:nvPr/>
        </p:nvSpPr>
        <p:spPr>
          <a:xfrm>
            <a:off x="914400" y="5257800"/>
            <a:ext cx="594360" cy="594360"/>
          </a:xfrm>
          <a:prstGeom prst="ellipse">
            <a:avLst/>
          </a:prstGeom>
          <a:solidFill>
            <a:srgbClr val="147D85"/>
          </a:solidFill>
          <a:ln w="12700">
            <a:solidFill>
              <a:srgbClr val="147D85"/>
            </a:solidFill>
            <a:prstDash val="solid"/>
          </a:ln>
        </p:spPr>
      </p:sp>
      <p:pic>
        <p:nvPicPr>
          <p:cNvPr id="19" name="Image 3" descr="preencoded.png"/>
          <p:cNvPicPr>
            <a:picLocks noChangeAspect="1"/>
          </p:cNvPicPr>
          <p:nvPr/>
        </p:nvPicPr>
        <p:blipFill>
          <a:blip r:embed="rId6"/>
          <a:stretch>
            <a:fillRect/>
          </a:stretch>
        </p:blipFill>
        <p:spPr>
          <a:xfrm>
            <a:off x="1062990" y="5406390"/>
            <a:ext cx="297180" cy="297180"/>
          </a:xfrm>
          <a:prstGeom prst="rect">
            <a:avLst/>
          </a:prstGeom>
        </p:spPr>
      </p:pic>
      <p:sp>
        <p:nvSpPr>
          <p:cNvPr id="20" name="Text 13"/>
          <p:cNvSpPr txBox="1"/>
          <p:nvPr/>
        </p:nvSpPr>
        <p:spPr>
          <a:xfrm>
            <a:off x="1783080" y="5074920"/>
            <a:ext cx="9491472" cy="960120"/>
          </a:xfrm>
          <a:prstGeom prst="rect">
            <a:avLst/>
          </a:prstGeom>
          <a:noFill/>
          <a:ln/>
        </p:spPr>
        <p:txBody>
          <a:bodyPr wrap="square" lIns="0" tIns="0" rIns="0" bIns="0" rtlCol="0" anchor="ctr"/>
          <a:lstStyle/>
          <a:p>
            <a:pPr marL="0" indent="0">
              <a:buNone/>
            </a:pPr>
            <a:r>
              <a:rPr lang="en-US" sz="2200" dirty="0">
                <a:solidFill>
                  <a:srgbClr val="173243"/>
                </a:solidFill>
                <a:latin typeface="Calibri" pitchFamily="34" charset="0"/>
                <a:ea typeface="Calibri" pitchFamily="34" charset="-122"/>
                <a:cs typeface="Calibri" pitchFamily="34" charset="-120"/>
              </a:rPr>
              <a:t>Keep valid long times. Do not impute the target.</a:t>
            </a:r>
            <a:endParaRPr lang="en-US" sz="2200" dirty="0"/>
          </a:p>
        </p:txBody>
      </p:sp>
      <p:pic>
        <p:nvPicPr>
          <p:cNvPr id="21" name="Imagen 20">
            <a:extLst>
              <a:ext uri="{FF2B5EF4-FFF2-40B4-BE49-F238E27FC236}">
                <a16:creationId xmlns:a16="http://schemas.microsoft.com/office/drawing/2014/main" id="{C4107932-77D1-C3FD-1DF8-E0635B012618}"/>
              </a:ext>
            </a:extLst>
          </p:cNvPr>
          <p:cNvPicPr>
            <a:picLocks noChangeAspect="1"/>
          </p:cNvPicPr>
          <p:nvPr/>
        </p:nvPicPr>
        <p:blipFill>
          <a:blip r:embed="rId7"/>
          <a:stretch>
            <a:fillRect/>
          </a:stretch>
        </p:blipFill>
        <p:spPr>
          <a:xfrm>
            <a:off x="7958" y="0"/>
            <a:ext cx="12176084"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908792" cy="868680"/>
          </a:xfrm>
          <a:prstGeom prst="rect">
            <a:avLst/>
          </a:prstGeom>
          <a:noFill/>
          <a:ln/>
        </p:spPr>
        <p:txBody>
          <a:bodyPr wrap="square" lIns="0" tIns="0" rIns="0" bIns="0" rtlCol="0" anchor="ctr"/>
          <a:lstStyle/>
          <a:p>
            <a:pPr marL="0" indent="0">
              <a:buNone/>
            </a:pPr>
            <a:r>
              <a:rPr lang="en-US" sz="3600" b="1" dirty="0">
                <a:solidFill>
                  <a:srgbClr val="173243"/>
                </a:solidFill>
                <a:latin typeface="Cambria" pitchFamily="34" charset="0"/>
                <a:ea typeface="Cambria" pitchFamily="34" charset="-122"/>
                <a:cs typeface="Cambria" pitchFamily="34" charset="-120"/>
              </a:rPr>
              <a:t>Distribution of attendance times</a:t>
            </a:r>
            <a:endParaRPr lang="en-US" sz="3600" dirty="0"/>
          </a:p>
        </p:txBody>
      </p:sp>
      <p:sp>
        <p:nvSpPr>
          <p:cNvPr id="4" name="Text 1"/>
          <p:cNvSpPr txBox="1"/>
          <p:nvPr/>
        </p:nvSpPr>
        <p:spPr>
          <a:xfrm>
            <a:off x="10881360" y="6355080"/>
            <a:ext cx="667512" cy="274320"/>
          </a:xfrm>
          <a:prstGeom prst="rect">
            <a:avLst/>
          </a:prstGeom>
          <a:noFill/>
          <a:ln/>
        </p:spPr>
        <p:txBody>
          <a:bodyPr wrap="square" lIns="0" tIns="0" rIns="0" bIns="0" rtlCol="0" anchor="ctr"/>
          <a:lstStyle/>
          <a:p>
            <a:pPr marL="0" indent="0" algn="r">
              <a:buNone/>
            </a:pPr>
            <a:r>
              <a:rPr lang="en-US" sz="1200" dirty="0">
                <a:solidFill>
                  <a:srgbClr val="52636D"/>
                </a:solidFill>
                <a:latin typeface="Calibri" pitchFamily="34" charset="0"/>
                <a:ea typeface="Calibri" pitchFamily="34" charset="-122"/>
                <a:cs typeface="Calibri" pitchFamily="34" charset="-120"/>
              </a:rPr>
              <a:t>07</a:t>
            </a:r>
            <a:endParaRPr lang="en-US" sz="1200" dirty="0"/>
          </a:p>
        </p:txBody>
      </p:sp>
      <p:graphicFrame>
        <p:nvGraphicFramePr>
          <p:cNvPr id="5" name="Chart 0"/>
          <p:cNvGraphicFramePr/>
          <p:nvPr/>
        </p:nvGraphicFramePr>
        <p:xfrm>
          <a:off x="640080" y="1463040"/>
          <a:ext cx="786384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8732520" y="1463040"/>
            <a:ext cx="2816352" cy="1280160"/>
          </a:xfrm>
          <a:prstGeom prst="roundRect">
            <a:avLst>
              <a:gd name="adj" fmla="val 8571"/>
            </a:avLst>
          </a:prstGeom>
          <a:solidFill>
            <a:srgbClr val="EDF3F4"/>
          </a:solidFill>
          <a:ln w="12700">
            <a:solidFill>
              <a:srgbClr val="EDF3F4"/>
            </a:solidFill>
            <a:prstDash val="solid"/>
          </a:ln>
        </p:spPr>
      </p:sp>
      <p:sp>
        <p:nvSpPr>
          <p:cNvPr id="7" name="Text 3"/>
          <p:cNvSpPr txBox="1"/>
          <p:nvPr/>
        </p:nvSpPr>
        <p:spPr>
          <a:xfrm>
            <a:off x="9006840" y="1645920"/>
            <a:ext cx="2286000" cy="320040"/>
          </a:xfrm>
          <a:prstGeom prst="rect">
            <a:avLst/>
          </a:prstGeom>
          <a:noFill/>
          <a:ln/>
        </p:spPr>
        <p:txBody>
          <a:bodyPr wrap="square" lIns="0" tIns="0" rIns="0" bIns="0" rtlCol="0" anchor="ctr"/>
          <a:lstStyle/>
          <a:p>
            <a:pPr marL="0" indent="0">
              <a:buNone/>
            </a:pPr>
            <a:r>
              <a:rPr lang="en-US" sz="1400" b="1" dirty="0">
                <a:solidFill>
                  <a:srgbClr val="52636D"/>
                </a:solidFill>
                <a:latin typeface="Calibri" pitchFamily="34" charset="0"/>
                <a:ea typeface="Calibri" pitchFamily="34" charset="-122"/>
                <a:cs typeface="Calibri" pitchFamily="34" charset="-120"/>
              </a:rPr>
              <a:t>Median</a:t>
            </a:r>
            <a:endParaRPr lang="en-US" sz="1400" dirty="0"/>
          </a:p>
        </p:txBody>
      </p:sp>
      <p:sp>
        <p:nvSpPr>
          <p:cNvPr id="8" name="Text 4"/>
          <p:cNvSpPr txBox="1"/>
          <p:nvPr/>
        </p:nvSpPr>
        <p:spPr>
          <a:xfrm>
            <a:off x="9006840" y="2011680"/>
            <a:ext cx="2286000" cy="594360"/>
          </a:xfrm>
          <a:prstGeom prst="rect">
            <a:avLst/>
          </a:prstGeom>
          <a:noFill/>
          <a:ln/>
        </p:spPr>
        <p:txBody>
          <a:bodyPr wrap="square" lIns="0" tIns="0" rIns="0" bIns="0" rtlCol="0" anchor="ctr"/>
          <a:lstStyle/>
          <a:p>
            <a:pPr marL="0" indent="0">
              <a:buNone/>
            </a:pPr>
            <a:r>
              <a:rPr lang="en-US" sz="3200" b="1" dirty="0">
                <a:solidFill>
                  <a:srgbClr val="147D85"/>
                </a:solidFill>
                <a:latin typeface="Cambria" pitchFamily="34" charset="0"/>
                <a:ea typeface="Cambria" pitchFamily="34" charset="-122"/>
                <a:cs typeface="Cambria" pitchFamily="34" charset="-120"/>
              </a:rPr>
              <a:t>5.65 min</a:t>
            </a:r>
            <a:endParaRPr lang="en-US" sz="3200" dirty="0"/>
          </a:p>
        </p:txBody>
      </p:sp>
      <p:sp>
        <p:nvSpPr>
          <p:cNvPr id="9" name="Shape 5"/>
          <p:cNvSpPr/>
          <p:nvPr/>
        </p:nvSpPr>
        <p:spPr>
          <a:xfrm>
            <a:off x="8732520" y="2880360"/>
            <a:ext cx="2816352" cy="1280160"/>
          </a:xfrm>
          <a:prstGeom prst="roundRect">
            <a:avLst>
              <a:gd name="adj" fmla="val 8571"/>
            </a:avLst>
          </a:prstGeom>
          <a:solidFill>
            <a:srgbClr val="EDF3F4"/>
          </a:solidFill>
          <a:ln w="12700">
            <a:solidFill>
              <a:srgbClr val="EDF3F4"/>
            </a:solidFill>
            <a:prstDash val="solid"/>
          </a:ln>
        </p:spPr>
      </p:sp>
      <p:sp>
        <p:nvSpPr>
          <p:cNvPr id="10" name="Text 6"/>
          <p:cNvSpPr txBox="1"/>
          <p:nvPr/>
        </p:nvSpPr>
        <p:spPr>
          <a:xfrm>
            <a:off x="9006840" y="3063240"/>
            <a:ext cx="2286000" cy="320040"/>
          </a:xfrm>
          <a:prstGeom prst="rect">
            <a:avLst/>
          </a:prstGeom>
          <a:noFill/>
          <a:ln/>
        </p:spPr>
        <p:txBody>
          <a:bodyPr wrap="square" lIns="0" tIns="0" rIns="0" bIns="0" rtlCol="0" anchor="ctr"/>
          <a:lstStyle/>
          <a:p>
            <a:pPr marL="0" indent="0">
              <a:buNone/>
            </a:pPr>
            <a:r>
              <a:rPr lang="en-US" sz="1400" b="1" dirty="0">
                <a:solidFill>
                  <a:srgbClr val="52636D"/>
                </a:solidFill>
                <a:latin typeface="Calibri" pitchFamily="34" charset="0"/>
                <a:ea typeface="Calibri" pitchFamily="34" charset="-122"/>
                <a:cs typeface="Calibri" pitchFamily="34" charset="-120"/>
              </a:rPr>
              <a:t>Mean</a:t>
            </a:r>
            <a:endParaRPr lang="en-US" sz="1400" dirty="0"/>
          </a:p>
        </p:txBody>
      </p:sp>
      <p:sp>
        <p:nvSpPr>
          <p:cNvPr id="11" name="Text 7"/>
          <p:cNvSpPr txBox="1"/>
          <p:nvPr/>
        </p:nvSpPr>
        <p:spPr>
          <a:xfrm>
            <a:off x="9006840" y="3429000"/>
            <a:ext cx="2286000" cy="594360"/>
          </a:xfrm>
          <a:prstGeom prst="rect">
            <a:avLst/>
          </a:prstGeom>
          <a:noFill/>
          <a:ln/>
        </p:spPr>
        <p:txBody>
          <a:bodyPr wrap="square" lIns="0" tIns="0" rIns="0" bIns="0" rtlCol="0" anchor="ctr"/>
          <a:lstStyle/>
          <a:p>
            <a:pPr marL="0" indent="0">
              <a:buNone/>
            </a:pPr>
            <a:r>
              <a:rPr lang="en-US" sz="3200" b="1" dirty="0">
                <a:solidFill>
                  <a:srgbClr val="52636D"/>
                </a:solidFill>
                <a:latin typeface="Cambria" pitchFamily="34" charset="0"/>
                <a:ea typeface="Cambria" pitchFamily="34" charset="-122"/>
                <a:cs typeface="Cambria" pitchFamily="34" charset="-120"/>
              </a:rPr>
              <a:t>6.03 min</a:t>
            </a:r>
            <a:endParaRPr lang="en-US" sz="3200" dirty="0"/>
          </a:p>
        </p:txBody>
      </p:sp>
      <p:sp>
        <p:nvSpPr>
          <p:cNvPr id="12" name="Shape 8"/>
          <p:cNvSpPr/>
          <p:nvPr/>
        </p:nvSpPr>
        <p:spPr>
          <a:xfrm>
            <a:off x="8732520" y="4297680"/>
            <a:ext cx="2816352" cy="1280160"/>
          </a:xfrm>
          <a:prstGeom prst="roundRect">
            <a:avLst>
              <a:gd name="adj" fmla="val 8571"/>
            </a:avLst>
          </a:prstGeom>
          <a:solidFill>
            <a:srgbClr val="EDF3F4"/>
          </a:solidFill>
          <a:ln w="12700">
            <a:solidFill>
              <a:srgbClr val="EDF3F4"/>
            </a:solidFill>
            <a:prstDash val="solid"/>
          </a:ln>
        </p:spPr>
      </p:sp>
      <p:sp>
        <p:nvSpPr>
          <p:cNvPr id="13" name="Text 9"/>
          <p:cNvSpPr txBox="1"/>
          <p:nvPr/>
        </p:nvSpPr>
        <p:spPr>
          <a:xfrm>
            <a:off x="9006840" y="4480560"/>
            <a:ext cx="2286000" cy="320040"/>
          </a:xfrm>
          <a:prstGeom prst="rect">
            <a:avLst/>
          </a:prstGeom>
          <a:noFill/>
          <a:ln/>
        </p:spPr>
        <p:txBody>
          <a:bodyPr wrap="square" lIns="0" tIns="0" rIns="0" bIns="0" rtlCol="0" anchor="ctr"/>
          <a:lstStyle/>
          <a:p>
            <a:pPr marL="0" indent="0">
              <a:buNone/>
            </a:pPr>
            <a:r>
              <a:rPr lang="en-US" sz="1400" b="1" dirty="0">
                <a:solidFill>
                  <a:srgbClr val="52636D"/>
                </a:solidFill>
                <a:latin typeface="Calibri" pitchFamily="34" charset="0"/>
                <a:ea typeface="Calibri" pitchFamily="34" charset="-122"/>
                <a:cs typeface="Calibri" pitchFamily="34" charset="-120"/>
              </a:rPr>
              <a:t>P90</a:t>
            </a:r>
            <a:endParaRPr lang="en-US" sz="1400" dirty="0"/>
          </a:p>
        </p:txBody>
      </p:sp>
      <p:sp>
        <p:nvSpPr>
          <p:cNvPr id="14" name="Text 10"/>
          <p:cNvSpPr txBox="1"/>
          <p:nvPr/>
        </p:nvSpPr>
        <p:spPr>
          <a:xfrm>
            <a:off x="9006840" y="4846320"/>
            <a:ext cx="2286000" cy="594360"/>
          </a:xfrm>
          <a:prstGeom prst="rect">
            <a:avLst/>
          </a:prstGeom>
          <a:noFill/>
          <a:ln/>
        </p:spPr>
        <p:txBody>
          <a:bodyPr wrap="square" lIns="0" tIns="0" rIns="0" bIns="0" rtlCol="0" anchor="ctr"/>
          <a:lstStyle/>
          <a:p>
            <a:pPr marL="0" indent="0">
              <a:buNone/>
            </a:pPr>
            <a:r>
              <a:rPr lang="en-US" sz="3200" b="1" dirty="0">
                <a:solidFill>
                  <a:srgbClr val="B85332"/>
                </a:solidFill>
                <a:latin typeface="Cambria" pitchFamily="34" charset="0"/>
                <a:ea typeface="Cambria" pitchFamily="34" charset="-122"/>
                <a:cs typeface="Cambria" pitchFamily="34" charset="-120"/>
              </a:rPr>
              <a:t>9.20 min</a:t>
            </a:r>
            <a:endParaRPr lang="en-US" sz="3200" dirty="0"/>
          </a:p>
        </p:txBody>
      </p:sp>
      <p:sp>
        <p:nvSpPr>
          <p:cNvPr id="15" name="Text 11"/>
          <p:cNvSpPr txBox="1"/>
          <p:nvPr/>
        </p:nvSpPr>
        <p:spPr>
          <a:xfrm>
            <a:off x="640080" y="5760720"/>
            <a:ext cx="10881360" cy="365760"/>
          </a:xfrm>
          <a:prstGeom prst="rect">
            <a:avLst/>
          </a:prstGeom>
          <a:noFill/>
          <a:ln/>
        </p:spPr>
        <p:txBody>
          <a:bodyPr wrap="square" lIns="0" tIns="0" rIns="0" bIns="0" rtlCol="0" anchor="ctr"/>
          <a:lstStyle/>
          <a:p>
            <a:pPr marL="0" indent="0">
              <a:buNone/>
            </a:pPr>
            <a:r>
              <a:rPr lang="en-US" sz="1400" dirty="0">
                <a:solidFill>
                  <a:srgbClr val="52636D"/>
                </a:solidFill>
                <a:latin typeface="Calibri" pitchFamily="34" charset="0"/>
                <a:ea typeface="Calibri" pitchFamily="34" charset="-122"/>
                <a:cs typeface="Calibri" pitchFamily="34" charset="-120"/>
              </a:rPr>
              <a:t>All 384,627 eligible records. Full observed range shown.</a:t>
            </a:r>
            <a:endParaRPr lang="en-US" sz="1400" dirty="0"/>
          </a:p>
        </p:txBody>
      </p:sp>
      <p:pic>
        <p:nvPicPr>
          <p:cNvPr id="16" name="Imagen 15">
            <a:extLst>
              <a:ext uri="{FF2B5EF4-FFF2-40B4-BE49-F238E27FC236}">
                <a16:creationId xmlns:a16="http://schemas.microsoft.com/office/drawing/2014/main" id="{AFCAB514-A9CB-B6B2-786B-6CF73F052744}"/>
              </a:ext>
            </a:extLst>
          </p:cNvPr>
          <p:cNvPicPr>
            <a:picLocks noChangeAspect="1"/>
          </p:cNvPicPr>
          <p:nvPr/>
        </p:nvPicPr>
        <p:blipFill>
          <a:blip r:embed="rId4"/>
          <a:stretch>
            <a:fillRect/>
          </a:stretch>
        </p:blipFill>
        <p:spPr>
          <a:xfrm>
            <a:off x="0" y="0"/>
            <a:ext cx="12372975" cy="70294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908792" cy="868680"/>
          </a:xfrm>
          <a:prstGeom prst="rect">
            <a:avLst/>
          </a:prstGeom>
          <a:noFill/>
          <a:ln/>
        </p:spPr>
        <p:txBody>
          <a:bodyPr wrap="square" lIns="0" tIns="0" rIns="0" bIns="0" rtlCol="0" anchor="ctr"/>
          <a:lstStyle/>
          <a:p>
            <a:pPr marL="0" indent="0">
              <a:buNone/>
            </a:pPr>
            <a:r>
              <a:rPr lang="en-US" sz="3600" b="1" dirty="0">
                <a:solidFill>
                  <a:srgbClr val="173243"/>
                </a:solidFill>
                <a:latin typeface="Cambria" pitchFamily="34" charset="0"/>
                <a:ea typeface="Cambria" pitchFamily="34" charset="-122"/>
                <a:cs typeface="Cambria" pitchFamily="34" charset="-120"/>
              </a:rPr>
              <a:t>Density of attendance times</a:t>
            </a:r>
            <a:endParaRPr lang="en-US" sz="3600" dirty="0"/>
          </a:p>
        </p:txBody>
      </p:sp>
      <p:sp>
        <p:nvSpPr>
          <p:cNvPr id="4" name="Text 1"/>
          <p:cNvSpPr txBox="1"/>
          <p:nvPr/>
        </p:nvSpPr>
        <p:spPr>
          <a:xfrm>
            <a:off x="10881360" y="6355080"/>
            <a:ext cx="667512" cy="274320"/>
          </a:xfrm>
          <a:prstGeom prst="rect">
            <a:avLst/>
          </a:prstGeom>
          <a:noFill/>
          <a:ln/>
        </p:spPr>
        <p:txBody>
          <a:bodyPr wrap="square" lIns="0" tIns="0" rIns="0" bIns="0" rtlCol="0" anchor="ctr"/>
          <a:lstStyle/>
          <a:p>
            <a:pPr marL="0" indent="0" algn="r">
              <a:buNone/>
            </a:pPr>
            <a:r>
              <a:rPr lang="en-US" sz="1200" dirty="0">
                <a:solidFill>
                  <a:srgbClr val="52636D"/>
                </a:solidFill>
                <a:latin typeface="Calibri" pitchFamily="34" charset="0"/>
                <a:ea typeface="Calibri" pitchFamily="34" charset="-122"/>
                <a:cs typeface="Calibri" pitchFamily="34" charset="-120"/>
              </a:rPr>
              <a:t>08</a:t>
            </a:r>
            <a:endParaRPr lang="en-US" sz="1200" dirty="0"/>
          </a:p>
        </p:txBody>
      </p:sp>
      <p:graphicFrame>
        <p:nvGraphicFramePr>
          <p:cNvPr id="5" name="Chart 0"/>
          <p:cNvGraphicFramePr/>
          <p:nvPr/>
        </p:nvGraphicFramePr>
        <p:xfrm>
          <a:off x="640080" y="1371600"/>
          <a:ext cx="10908792"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640080" y="5486400"/>
            <a:ext cx="10908792" cy="777240"/>
          </a:xfrm>
          <a:prstGeom prst="roundRect">
            <a:avLst>
              <a:gd name="adj" fmla="val 14118"/>
            </a:avLst>
          </a:prstGeom>
          <a:solidFill>
            <a:srgbClr val="EDF3F4"/>
          </a:solidFill>
          <a:ln w="12700">
            <a:solidFill>
              <a:srgbClr val="EDF3F4"/>
            </a:solidFill>
            <a:prstDash val="solid"/>
          </a:ln>
        </p:spPr>
      </p:sp>
      <p:sp>
        <p:nvSpPr>
          <p:cNvPr id="7" name="Shape 3"/>
          <p:cNvSpPr/>
          <p:nvPr/>
        </p:nvSpPr>
        <p:spPr>
          <a:xfrm>
            <a:off x="914400" y="5646420"/>
            <a:ext cx="457200" cy="457200"/>
          </a:xfrm>
          <a:prstGeom prst="ellipse">
            <a:avLst/>
          </a:prstGeom>
          <a:solidFill>
            <a:srgbClr val="147D85"/>
          </a:solidFill>
          <a:ln w="12700">
            <a:solidFill>
              <a:srgbClr val="147D85"/>
            </a:solidFill>
            <a:prstDash val="solid"/>
          </a:ln>
        </p:spPr>
      </p:sp>
      <p:pic>
        <p:nvPicPr>
          <p:cNvPr id="8" name="Image 0" descr="preencoded.png"/>
          <p:cNvPicPr>
            <a:picLocks noChangeAspect="1"/>
          </p:cNvPicPr>
          <p:nvPr/>
        </p:nvPicPr>
        <p:blipFill>
          <a:blip r:embed="rId4"/>
          <a:stretch>
            <a:fillRect/>
          </a:stretch>
        </p:blipFill>
        <p:spPr>
          <a:xfrm>
            <a:off x="1028700" y="5760720"/>
            <a:ext cx="228600" cy="228600"/>
          </a:xfrm>
          <a:prstGeom prst="rect">
            <a:avLst/>
          </a:prstGeom>
        </p:spPr>
      </p:pic>
      <p:sp>
        <p:nvSpPr>
          <p:cNvPr id="9" name="Text 4"/>
          <p:cNvSpPr txBox="1"/>
          <p:nvPr/>
        </p:nvSpPr>
        <p:spPr>
          <a:xfrm>
            <a:off x="1645920" y="5486400"/>
            <a:ext cx="9628632" cy="777240"/>
          </a:xfrm>
          <a:prstGeom prst="rect">
            <a:avLst/>
          </a:prstGeom>
          <a:noFill/>
          <a:ln/>
        </p:spPr>
        <p:txBody>
          <a:bodyPr wrap="square" lIns="0" tIns="0" rIns="0" bIns="0" rtlCol="0" anchor="ctr"/>
          <a:lstStyle/>
          <a:p>
            <a:pPr marL="0" indent="0">
              <a:buNone/>
            </a:pPr>
            <a:r>
              <a:rPr lang="en-US" sz="1400" dirty="0">
                <a:solidFill>
                  <a:srgbClr val="173243"/>
                </a:solidFill>
                <a:latin typeface="Calibri" pitchFamily="34" charset="0"/>
                <a:ea typeface="Calibri" pitchFamily="34" charset="-122"/>
                <a:cs typeface="Calibri" pitchFamily="34" charset="-120"/>
              </a:rPr>
              <a:t>KDE based on a reproducible sample of 20,000 records, with reflection at zero.</a:t>
            </a:r>
            <a:endParaRPr lang="en-US" sz="1400" dirty="0"/>
          </a:p>
          <a:p>
            <a:pPr marL="0" indent="0">
              <a:buNone/>
            </a:pPr>
            <a:r>
              <a:rPr lang="en-US" sz="1400" dirty="0">
                <a:solidFill>
                  <a:srgbClr val="173243"/>
                </a:solidFill>
                <a:latin typeface="Calibri" pitchFamily="34" charset="0"/>
                <a:ea typeface="Calibri" pitchFamily="34" charset="-122"/>
                <a:cs typeface="Calibri" pitchFamily="34" charset="-120"/>
              </a:rPr>
              <a:t>Curve height shows density. It is not a direct percentage.</a:t>
            </a:r>
            <a:endParaRPr lang="en-US" sz="1400" dirty="0"/>
          </a:p>
        </p:txBody>
      </p:sp>
      <p:pic>
        <p:nvPicPr>
          <p:cNvPr id="10" name="Imagen 9">
            <a:extLst>
              <a:ext uri="{FF2B5EF4-FFF2-40B4-BE49-F238E27FC236}">
                <a16:creationId xmlns:a16="http://schemas.microsoft.com/office/drawing/2014/main" id="{9A5261D3-B1AC-0D5E-7EC4-4AF65D869CDE}"/>
              </a:ext>
            </a:extLst>
          </p:cNvPr>
          <p:cNvPicPr>
            <a:picLocks noChangeAspect="1"/>
          </p:cNvPicPr>
          <p:nvPr/>
        </p:nvPicPr>
        <p:blipFill>
          <a:blip r:embed="rId5"/>
          <a:stretch>
            <a:fillRect/>
          </a:stretch>
        </p:blipFill>
        <p:spPr>
          <a:xfrm>
            <a:off x="0" y="-1"/>
            <a:ext cx="12416589" cy="70104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908792" cy="868680"/>
          </a:xfrm>
          <a:prstGeom prst="rect">
            <a:avLst/>
          </a:prstGeom>
          <a:noFill/>
          <a:ln/>
        </p:spPr>
        <p:txBody>
          <a:bodyPr wrap="square" lIns="0" tIns="0" rIns="0" bIns="0" rtlCol="0" anchor="ctr"/>
          <a:lstStyle/>
          <a:p>
            <a:pPr marL="0" indent="0">
              <a:buNone/>
            </a:pPr>
            <a:r>
              <a:rPr lang="en-US" sz="3600" b="1" dirty="0">
                <a:solidFill>
                  <a:srgbClr val="173243"/>
                </a:solidFill>
                <a:latin typeface="Cambria" pitchFamily="34" charset="0"/>
                <a:ea typeface="Cambria" pitchFamily="34" charset="-122"/>
                <a:cs typeface="Cambria" pitchFamily="34" charset="-120"/>
              </a:rPr>
              <a:t>Districts with the highest P90</a:t>
            </a:r>
            <a:endParaRPr lang="en-US" sz="3600" dirty="0"/>
          </a:p>
        </p:txBody>
      </p:sp>
      <p:sp>
        <p:nvSpPr>
          <p:cNvPr id="4" name="Text 1"/>
          <p:cNvSpPr txBox="1"/>
          <p:nvPr/>
        </p:nvSpPr>
        <p:spPr>
          <a:xfrm>
            <a:off x="10881360" y="6355080"/>
            <a:ext cx="667512" cy="274320"/>
          </a:xfrm>
          <a:prstGeom prst="rect">
            <a:avLst/>
          </a:prstGeom>
          <a:noFill/>
          <a:ln/>
        </p:spPr>
        <p:txBody>
          <a:bodyPr wrap="square" lIns="0" tIns="0" rIns="0" bIns="0" rtlCol="0" anchor="ctr"/>
          <a:lstStyle/>
          <a:p>
            <a:pPr marL="0" indent="0" algn="r">
              <a:buNone/>
            </a:pPr>
            <a:r>
              <a:rPr lang="en-US" sz="1200" dirty="0">
                <a:solidFill>
                  <a:srgbClr val="52636D"/>
                </a:solidFill>
                <a:latin typeface="Calibri" pitchFamily="34" charset="0"/>
                <a:ea typeface="Calibri" pitchFamily="34" charset="-122"/>
                <a:cs typeface="Calibri" pitchFamily="34" charset="-120"/>
              </a:rPr>
              <a:t>10</a:t>
            </a:r>
            <a:endParaRPr lang="en-US" sz="1200" dirty="0"/>
          </a:p>
        </p:txBody>
      </p:sp>
      <p:graphicFrame>
        <p:nvGraphicFramePr>
          <p:cNvPr id="5" name="Chart 0"/>
          <p:cNvGraphicFramePr/>
          <p:nvPr/>
        </p:nvGraphicFramePr>
        <p:xfrm>
          <a:off x="640080" y="1463040"/>
          <a:ext cx="722376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8092440" y="1463040"/>
            <a:ext cx="3456432" cy="2834640"/>
          </a:xfrm>
          <a:prstGeom prst="roundRect">
            <a:avLst>
              <a:gd name="adj" fmla="val 3871"/>
            </a:avLst>
          </a:prstGeom>
          <a:solidFill>
            <a:srgbClr val="173243"/>
          </a:solidFill>
          <a:ln w="12700">
            <a:solidFill>
              <a:srgbClr val="173243"/>
            </a:solidFill>
            <a:prstDash val="solid"/>
          </a:ln>
        </p:spPr>
      </p:sp>
      <p:sp>
        <p:nvSpPr>
          <p:cNvPr id="7" name="Text 3"/>
          <p:cNvSpPr txBox="1"/>
          <p:nvPr/>
        </p:nvSpPr>
        <p:spPr>
          <a:xfrm>
            <a:off x="8412480" y="1463040"/>
            <a:ext cx="2834640" cy="2834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Hillingdon:</a:t>
            </a:r>
            <a:r>
              <a:rPr lang="en-US" sz="2200" dirty="0">
                <a:solidFill>
                  <a:srgbClr val="FFFFFF"/>
                </a:solidFill>
                <a:latin typeface="Calibri" pitchFamily="34" charset="0"/>
                <a:ea typeface="Calibri" pitchFamily="34" charset="-122"/>
                <a:cs typeface="Calibri" pitchFamily="34" charset="-120"/>
              </a:rPr>
              <a:t> P90 of 10.67 minutes, based on 12,195 eligible mobilisations.</a:t>
            </a:r>
            <a:endParaRPr lang="en-US" sz="2200" dirty="0"/>
          </a:p>
        </p:txBody>
      </p:sp>
      <p:sp>
        <p:nvSpPr>
          <p:cNvPr id="8" name="Shape 4"/>
          <p:cNvSpPr/>
          <p:nvPr/>
        </p:nvSpPr>
        <p:spPr>
          <a:xfrm>
            <a:off x="8092440" y="4526280"/>
            <a:ext cx="3456432" cy="1463040"/>
          </a:xfrm>
          <a:prstGeom prst="roundRect">
            <a:avLst>
              <a:gd name="adj" fmla="val 7500"/>
            </a:avLst>
          </a:prstGeom>
          <a:solidFill>
            <a:srgbClr val="EDF3F4"/>
          </a:solidFill>
          <a:ln w="12700">
            <a:solidFill>
              <a:srgbClr val="EDF3F4"/>
            </a:solidFill>
            <a:prstDash val="solid"/>
          </a:ln>
        </p:spPr>
      </p:sp>
      <p:sp>
        <p:nvSpPr>
          <p:cNvPr id="9" name="Shape 5"/>
          <p:cNvSpPr/>
          <p:nvPr/>
        </p:nvSpPr>
        <p:spPr>
          <a:xfrm>
            <a:off x="8366760" y="4983480"/>
            <a:ext cx="548640" cy="548640"/>
          </a:xfrm>
          <a:prstGeom prst="ellipse">
            <a:avLst/>
          </a:prstGeom>
          <a:solidFill>
            <a:srgbClr val="B85332"/>
          </a:solidFill>
          <a:ln w="12700">
            <a:solidFill>
              <a:srgbClr val="B85332"/>
            </a:solidFill>
            <a:prstDash val="solid"/>
          </a:ln>
        </p:spPr>
      </p:sp>
      <p:pic>
        <p:nvPicPr>
          <p:cNvPr id="10" name="Image 0" descr="preencoded.png"/>
          <p:cNvPicPr>
            <a:picLocks noChangeAspect="1"/>
          </p:cNvPicPr>
          <p:nvPr/>
        </p:nvPicPr>
        <p:blipFill>
          <a:blip r:embed="rId4"/>
          <a:stretch>
            <a:fillRect/>
          </a:stretch>
        </p:blipFill>
        <p:spPr>
          <a:xfrm>
            <a:off x="8503920" y="5120640"/>
            <a:ext cx="274320" cy="274320"/>
          </a:xfrm>
          <a:prstGeom prst="rect">
            <a:avLst/>
          </a:prstGeom>
        </p:spPr>
      </p:pic>
      <p:sp>
        <p:nvSpPr>
          <p:cNvPr id="11" name="Text 6"/>
          <p:cNvSpPr txBox="1"/>
          <p:nvPr/>
        </p:nvSpPr>
        <p:spPr>
          <a:xfrm>
            <a:off x="9189720" y="4526280"/>
            <a:ext cx="2084832" cy="1463040"/>
          </a:xfrm>
          <a:prstGeom prst="rect">
            <a:avLst/>
          </a:prstGeom>
          <a:noFill/>
          <a:ln/>
        </p:spPr>
        <p:txBody>
          <a:bodyPr wrap="square" lIns="0" tIns="0" rIns="0" bIns="0" rtlCol="0" anchor="ctr"/>
          <a:lstStyle/>
          <a:p>
            <a:pPr marL="0" indent="0">
              <a:buNone/>
            </a:pPr>
            <a:r>
              <a:rPr lang="en-US" sz="1500" dirty="0">
                <a:solidFill>
                  <a:srgbClr val="173243"/>
                </a:solidFill>
                <a:latin typeface="Calibri" pitchFamily="34" charset="0"/>
                <a:ea typeface="Calibri" pitchFamily="34" charset="-122"/>
                <a:cs typeface="Calibri" pitchFamily="34" charset="-120"/>
              </a:rPr>
              <a:t>Comparisons do not adjust for distance or incident mix.</a:t>
            </a:r>
            <a:endParaRPr lang="en-US" sz="1500" dirty="0"/>
          </a:p>
        </p:txBody>
      </p:sp>
      <p:pic>
        <p:nvPicPr>
          <p:cNvPr id="12" name="Imagen 11">
            <a:extLst>
              <a:ext uri="{FF2B5EF4-FFF2-40B4-BE49-F238E27FC236}">
                <a16:creationId xmlns:a16="http://schemas.microsoft.com/office/drawing/2014/main" id="{B0DEFEF2-E025-276E-C819-96769A94FB7D}"/>
              </a:ext>
            </a:extLst>
          </p:cNvPr>
          <p:cNvPicPr>
            <a:picLocks noChangeAspect="1"/>
          </p:cNvPicPr>
          <p:nvPr/>
        </p:nvPicPr>
        <p:blipFill>
          <a:blip r:embed="rId5"/>
          <a:stretch>
            <a:fillRect/>
          </a:stretch>
        </p:blipFill>
        <p:spPr>
          <a:xfrm>
            <a:off x="0" y="0"/>
            <a:ext cx="12382500" cy="7048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908792" cy="868680"/>
          </a:xfrm>
          <a:prstGeom prst="rect">
            <a:avLst/>
          </a:prstGeom>
          <a:noFill/>
          <a:ln/>
        </p:spPr>
        <p:txBody>
          <a:bodyPr wrap="square" lIns="0" tIns="0" rIns="0" bIns="0" rtlCol="0" anchor="ctr"/>
          <a:lstStyle/>
          <a:p>
            <a:pPr marL="0" indent="0">
              <a:buNone/>
            </a:pPr>
            <a:r>
              <a:rPr lang="en-US" sz="3600" b="1" dirty="0">
                <a:solidFill>
                  <a:srgbClr val="173243"/>
                </a:solidFill>
                <a:latin typeface="Cambria" pitchFamily="34" charset="0"/>
                <a:ea typeface="Cambria" pitchFamily="34" charset="-122"/>
                <a:cs typeface="Cambria" pitchFamily="34" charset="-120"/>
              </a:rPr>
              <a:t>Attendance times by dispatch hour</a:t>
            </a:r>
            <a:endParaRPr lang="en-US" sz="3600" dirty="0"/>
          </a:p>
        </p:txBody>
      </p:sp>
      <p:sp>
        <p:nvSpPr>
          <p:cNvPr id="4" name="Text 1"/>
          <p:cNvSpPr txBox="1"/>
          <p:nvPr/>
        </p:nvSpPr>
        <p:spPr>
          <a:xfrm>
            <a:off x="10881360" y="6355080"/>
            <a:ext cx="667512" cy="274320"/>
          </a:xfrm>
          <a:prstGeom prst="rect">
            <a:avLst/>
          </a:prstGeom>
          <a:noFill/>
          <a:ln/>
        </p:spPr>
        <p:txBody>
          <a:bodyPr wrap="square" lIns="0" tIns="0" rIns="0" bIns="0" rtlCol="0" anchor="ctr"/>
          <a:lstStyle/>
          <a:p>
            <a:pPr marL="0" indent="0" algn="r">
              <a:buNone/>
            </a:pPr>
            <a:r>
              <a:rPr lang="en-US" sz="1200" dirty="0">
                <a:solidFill>
                  <a:srgbClr val="52636D"/>
                </a:solidFill>
                <a:latin typeface="Calibri" pitchFamily="34" charset="0"/>
                <a:ea typeface="Calibri" pitchFamily="34" charset="-122"/>
                <a:cs typeface="Calibri" pitchFamily="34" charset="-120"/>
              </a:rPr>
              <a:t>11</a:t>
            </a:r>
            <a:endParaRPr lang="en-US" sz="1200" dirty="0"/>
          </a:p>
        </p:txBody>
      </p:sp>
      <p:sp>
        <p:nvSpPr>
          <p:cNvPr id="5" name="Shape 2"/>
          <p:cNvSpPr/>
          <p:nvPr/>
        </p:nvSpPr>
        <p:spPr>
          <a:xfrm>
            <a:off x="640080" y="1417320"/>
            <a:ext cx="10908792" cy="868680"/>
          </a:xfrm>
          <a:prstGeom prst="roundRect">
            <a:avLst>
              <a:gd name="adj" fmla="val 12632"/>
            </a:avLst>
          </a:prstGeom>
          <a:solidFill>
            <a:srgbClr val="173243"/>
          </a:solidFill>
          <a:ln w="12700">
            <a:solidFill>
              <a:srgbClr val="173243"/>
            </a:solidFill>
            <a:prstDash val="solid"/>
          </a:ln>
        </p:spPr>
      </p:sp>
      <p:sp>
        <p:nvSpPr>
          <p:cNvPr id="6" name="Text 3"/>
          <p:cNvSpPr txBox="1"/>
          <p:nvPr/>
        </p:nvSpPr>
        <p:spPr>
          <a:xfrm>
            <a:off x="1005840" y="1417320"/>
            <a:ext cx="10149840" cy="8686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Highest hourly P90:</a:t>
            </a:r>
            <a:r>
              <a:rPr lang="en-US" sz="2200" dirty="0">
                <a:solidFill>
                  <a:srgbClr val="FFFFFF"/>
                </a:solidFill>
                <a:latin typeface="Calibri" pitchFamily="34" charset="0"/>
                <a:ea typeface="Calibri" pitchFamily="34" charset="-122"/>
                <a:cs typeface="Calibri" pitchFamily="34" charset="-120"/>
              </a:rPr>
              <a:t> 11:00–11:59 GMT, approximately 10.03 minutes.</a:t>
            </a:r>
            <a:endParaRPr lang="en-US" sz="2200" dirty="0"/>
          </a:p>
        </p:txBody>
      </p:sp>
      <p:graphicFrame>
        <p:nvGraphicFramePr>
          <p:cNvPr id="7" name="Chart 0"/>
          <p:cNvGraphicFramePr/>
          <p:nvPr/>
        </p:nvGraphicFramePr>
        <p:xfrm>
          <a:off x="640080" y="2423160"/>
          <a:ext cx="10908792"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4"/>
          <p:cNvSpPr txBox="1"/>
          <p:nvPr/>
        </p:nvSpPr>
        <p:spPr>
          <a:xfrm>
            <a:off x="640080" y="5852160"/>
            <a:ext cx="9966960" cy="365760"/>
          </a:xfrm>
          <a:prstGeom prst="rect">
            <a:avLst/>
          </a:prstGeom>
          <a:noFill/>
          <a:ln/>
        </p:spPr>
        <p:txBody>
          <a:bodyPr wrap="square" lIns="0" tIns="0" rIns="0" bIns="0" rtlCol="0" anchor="ctr"/>
          <a:lstStyle/>
          <a:p>
            <a:pPr marL="0" indent="0">
              <a:buNone/>
            </a:pPr>
            <a:r>
              <a:rPr lang="en-US" sz="1400" dirty="0">
                <a:solidFill>
                  <a:srgbClr val="52636D"/>
                </a:solidFill>
                <a:latin typeface="Calibri" pitchFamily="34" charset="0"/>
                <a:ea typeface="Calibri" pitchFamily="34" charset="-122"/>
                <a:cs typeface="Calibri" pitchFamily="34" charset="-120"/>
              </a:rPr>
              <a:t>Each group combines all available dates in the selected period.</a:t>
            </a:r>
            <a:endParaRPr lang="en-US" sz="1400" dirty="0"/>
          </a:p>
        </p:txBody>
      </p:sp>
      <p:pic>
        <p:nvPicPr>
          <p:cNvPr id="9" name="Imagen 8">
            <a:extLst>
              <a:ext uri="{FF2B5EF4-FFF2-40B4-BE49-F238E27FC236}">
                <a16:creationId xmlns:a16="http://schemas.microsoft.com/office/drawing/2014/main" id="{B27DFABB-D39E-8F0B-7DFB-B3F5EE898384}"/>
              </a:ext>
            </a:extLst>
          </p:cNvPr>
          <p:cNvPicPr>
            <a:picLocks noChangeAspect="1"/>
          </p:cNvPicPr>
          <p:nvPr/>
        </p:nvPicPr>
        <p:blipFill>
          <a:blip r:embed="rId4"/>
          <a:stretch>
            <a:fillRect/>
          </a:stretch>
        </p:blipFill>
        <p:spPr>
          <a:xfrm>
            <a:off x="7958" y="0"/>
            <a:ext cx="12176084"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908792" cy="868680"/>
          </a:xfrm>
          <a:prstGeom prst="rect">
            <a:avLst/>
          </a:prstGeom>
          <a:noFill/>
          <a:ln/>
        </p:spPr>
        <p:txBody>
          <a:bodyPr wrap="square" lIns="0" tIns="0" rIns="0" bIns="0" rtlCol="0" anchor="ctr"/>
          <a:lstStyle/>
          <a:p>
            <a:pPr marL="0" indent="0">
              <a:buNone/>
            </a:pPr>
            <a:r>
              <a:rPr lang="en-US" sz="3600" b="1" dirty="0">
                <a:solidFill>
                  <a:srgbClr val="173243"/>
                </a:solidFill>
                <a:latin typeface="Cambria" pitchFamily="34" charset="0"/>
                <a:ea typeface="Cambria" pitchFamily="34" charset="-122"/>
                <a:cs typeface="Cambria" pitchFamily="34" charset="-120"/>
              </a:rPr>
              <a:t>Correlation between time components</a:t>
            </a:r>
            <a:endParaRPr lang="en-US" sz="3600" dirty="0"/>
          </a:p>
        </p:txBody>
      </p:sp>
      <p:sp>
        <p:nvSpPr>
          <p:cNvPr id="4" name="Text 1"/>
          <p:cNvSpPr txBox="1"/>
          <p:nvPr/>
        </p:nvSpPr>
        <p:spPr>
          <a:xfrm>
            <a:off x="10881360" y="6355080"/>
            <a:ext cx="667512" cy="274320"/>
          </a:xfrm>
          <a:prstGeom prst="rect">
            <a:avLst/>
          </a:prstGeom>
          <a:noFill/>
          <a:ln/>
        </p:spPr>
        <p:txBody>
          <a:bodyPr wrap="square" lIns="0" tIns="0" rIns="0" bIns="0" rtlCol="0" anchor="ctr"/>
          <a:lstStyle/>
          <a:p>
            <a:pPr marL="0" indent="0" algn="r">
              <a:buNone/>
            </a:pPr>
            <a:r>
              <a:rPr lang="en-US" sz="1200" dirty="0">
                <a:solidFill>
                  <a:srgbClr val="52636D"/>
                </a:solidFill>
                <a:latin typeface="Calibri" pitchFamily="34" charset="0"/>
                <a:ea typeface="Calibri" pitchFamily="34" charset="-122"/>
                <a:cs typeface="Calibri" pitchFamily="34" charset="-120"/>
              </a:rPr>
              <a:t>12</a:t>
            </a:r>
            <a:endParaRPr lang="en-US" sz="1200" dirty="0"/>
          </a:p>
        </p:txBody>
      </p:sp>
      <p:sp>
        <p:nvSpPr>
          <p:cNvPr id="5" name="Text 2"/>
          <p:cNvSpPr txBox="1"/>
          <p:nvPr/>
        </p:nvSpPr>
        <p:spPr>
          <a:xfrm>
            <a:off x="640080" y="1417320"/>
            <a:ext cx="5486400" cy="365760"/>
          </a:xfrm>
          <a:prstGeom prst="rect">
            <a:avLst/>
          </a:prstGeom>
          <a:noFill/>
          <a:ln/>
        </p:spPr>
        <p:txBody>
          <a:bodyPr wrap="square" lIns="0" tIns="0" rIns="0" bIns="0" rtlCol="0" anchor="ctr"/>
          <a:lstStyle/>
          <a:p>
            <a:pPr marL="0" indent="0">
              <a:buNone/>
            </a:pPr>
            <a:r>
              <a:rPr lang="en-US" sz="1600" b="1" dirty="0">
                <a:solidFill>
                  <a:srgbClr val="52636D"/>
                </a:solidFill>
                <a:latin typeface="Calibri" pitchFamily="34" charset="0"/>
                <a:ea typeface="Calibri" pitchFamily="34" charset="-122"/>
                <a:cs typeface="Calibri" pitchFamily="34" charset="-120"/>
              </a:rPr>
              <a:t>Spearman correlation</a:t>
            </a:r>
            <a:endParaRPr lang="en-US" sz="1600" dirty="0"/>
          </a:p>
        </p:txBody>
      </p:sp>
      <p:sp>
        <p:nvSpPr>
          <p:cNvPr id="6" name="Shape 3"/>
          <p:cNvSpPr/>
          <p:nvPr/>
        </p:nvSpPr>
        <p:spPr>
          <a:xfrm>
            <a:off x="640080" y="1920240"/>
            <a:ext cx="3471977" cy="2514600"/>
          </a:xfrm>
          <a:prstGeom prst="roundRect">
            <a:avLst>
              <a:gd name="adj" fmla="val 4364"/>
            </a:avLst>
          </a:prstGeom>
          <a:solidFill>
            <a:srgbClr val="EDF3F4"/>
          </a:solidFill>
          <a:ln w="12700">
            <a:solidFill>
              <a:srgbClr val="EDF3F4"/>
            </a:solidFill>
            <a:prstDash val="solid"/>
          </a:ln>
        </p:spPr>
      </p:sp>
      <p:sp>
        <p:nvSpPr>
          <p:cNvPr id="7" name="Text 4"/>
          <p:cNvSpPr txBox="1"/>
          <p:nvPr/>
        </p:nvSpPr>
        <p:spPr>
          <a:xfrm>
            <a:off x="960120" y="2148840"/>
            <a:ext cx="2831897" cy="320040"/>
          </a:xfrm>
          <a:prstGeom prst="rect">
            <a:avLst/>
          </a:prstGeom>
          <a:noFill/>
          <a:ln/>
        </p:spPr>
        <p:txBody>
          <a:bodyPr wrap="square" lIns="0" tIns="0" rIns="0" bIns="0" rtlCol="0" anchor="ctr"/>
          <a:lstStyle/>
          <a:p>
            <a:pPr marL="0" indent="0">
              <a:buNone/>
            </a:pPr>
            <a:r>
              <a:rPr lang="en-US" sz="1300" dirty="0">
                <a:solidFill>
                  <a:srgbClr val="52636D"/>
                </a:solidFill>
                <a:latin typeface="Calibri" pitchFamily="34" charset="0"/>
                <a:ea typeface="Calibri" pitchFamily="34" charset="-122"/>
                <a:cs typeface="Calibri" pitchFamily="34" charset="-120"/>
              </a:rPr>
              <a:t>Coefficient</a:t>
            </a:r>
            <a:endParaRPr lang="en-US" sz="1300" dirty="0"/>
          </a:p>
        </p:txBody>
      </p:sp>
      <p:sp>
        <p:nvSpPr>
          <p:cNvPr id="8" name="Text 5"/>
          <p:cNvSpPr txBox="1"/>
          <p:nvPr/>
        </p:nvSpPr>
        <p:spPr>
          <a:xfrm>
            <a:off x="960120" y="2560320"/>
            <a:ext cx="2831897" cy="1005840"/>
          </a:xfrm>
          <a:prstGeom prst="rect">
            <a:avLst/>
          </a:prstGeom>
          <a:noFill/>
          <a:ln/>
        </p:spPr>
        <p:txBody>
          <a:bodyPr wrap="square" lIns="0" tIns="0" rIns="0" bIns="0" rtlCol="0" anchor="ctr"/>
          <a:lstStyle/>
          <a:p>
            <a:pPr marL="0" indent="0">
              <a:buNone/>
            </a:pPr>
            <a:r>
              <a:rPr lang="en-US" sz="5400" b="1" dirty="0">
                <a:solidFill>
                  <a:srgbClr val="147D85"/>
                </a:solidFill>
                <a:latin typeface="Cambria" pitchFamily="34" charset="0"/>
                <a:ea typeface="Cambria" pitchFamily="34" charset="-122"/>
                <a:cs typeface="Cambria" pitchFamily="34" charset="-120"/>
              </a:rPr>
              <a:t>0.952</a:t>
            </a:r>
            <a:endParaRPr lang="en-US" sz="5400" dirty="0"/>
          </a:p>
        </p:txBody>
      </p:sp>
      <p:sp>
        <p:nvSpPr>
          <p:cNvPr id="9" name="Text 6"/>
          <p:cNvSpPr txBox="1"/>
          <p:nvPr/>
        </p:nvSpPr>
        <p:spPr>
          <a:xfrm>
            <a:off x="960120" y="3611880"/>
            <a:ext cx="2831897" cy="685800"/>
          </a:xfrm>
          <a:prstGeom prst="rect">
            <a:avLst/>
          </a:prstGeom>
          <a:noFill/>
          <a:ln/>
        </p:spPr>
        <p:txBody>
          <a:bodyPr wrap="square" lIns="0" tIns="0" rIns="0" bIns="0" rtlCol="0" anchor="t"/>
          <a:lstStyle/>
          <a:p>
            <a:pPr marL="0" indent="0">
              <a:buNone/>
            </a:pPr>
            <a:r>
              <a:rPr lang="en-US" sz="1700" dirty="0">
                <a:solidFill>
                  <a:srgbClr val="173243"/>
                </a:solidFill>
                <a:latin typeface="Calibri" pitchFamily="34" charset="0"/>
                <a:ea typeface="Calibri" pitchFamily="34" charset="-122"/>
                <a:cs typeface="Calibri" pitchFamily="34" charset="-120"/>
              </a:rPr>
              <a:t>Travel time and total attendance time</a:t>
            </a:r>
            <a:endParaRPr lang="en-US" sz="1700" dirty="0"/>
          </a:p>
        </p:txBody>
      </p:sp>
      <p:sp>
        <p:nvSpPr>
          <p:cNvPr id="10" name="Shape 7"/>
          <p:cNvSpPr/>
          <p:nvPr/>
        </p:nvSpPr>
        <p:spPr>
          <a:xfrm>
            <a:off x="4358945" y="1920240"/>
            <a:ext cx="3471977" cy="2514600"/>
          </a:xfrm>
          <a:prstGeom prst="roundRect">
            <a:avLst>
              <a:gd name="adj" fmla="val 4364"/>
            </a:avLst>
          </a:prstGeom>
          <a:solidFill>
            <a:srgbClr val="EDF3F4"/>
          </a:solidFill>
          <a:ln w="12700">
            <a:solidFill>
              <a:srgbClr val="EDF3F4"/>
            </a:solidFill>
            <a:prstDash val="solid"/>
          </a:ln>
        </p:spPr>
      </p:sp>
      <p:sp>
        <p:nvSpPr>
          <p:cNvPr id="11" name="Text 8"/>
          <p:cNvSpPr txBox="1"/>
          <p:nvPr/>
        </p:nvSpPr>
        <p:spPr>
          <a:xfrm>
            <a:off x="4678985" y="2148840"/>
            <a:ext cx="2831897" cy="320040"/>
          </a:xfrm>
          <a:prstGeom prst="rect">
            <a:avLst/>
          </a:prstGeom>
          <a:noFill/>
          <a:ln/>
        </p:spPr>
        <p:txBody>
          <a:bodyPr wrap="square" lIns="0" tIns="0" rIns="0" bIns="0" rtlCol="0" anchor="ctr"/>
          <a:lstStyle/>
          <a:p>
            <a:pPr marL="0" indent="0">
              <a:buNone/>
            </a:pPr>
            <a:r>
              <a:rPr lang="en-US" sz="1300" dirty="0">
                <a:solidFill>
                  <a:srgbClr val="52636D"/>
                </a:solidFill>
                <a:latin typeface="Calibri" pitchFamily="34" charset="0"/>
                <a:ea typeface="Calibri" pitchFamily="34" charset="-122"/>
                <a:cs typeface="Calibri" pitchFamily="34" charset="-120"/>
              </a:rPr>
              <a:t>Coefficient</a:t>
            </a:r>
            <a:endParaRPr lang="en-US" sz="1300" dirty="0"/>
          </a:p>
        </p:txBody>
      </p:sp>
      <p:sp>
        <p:nvSpPr>
          <p:cNvPr id="12" name="Text 9"/>
          <p:cNvSpPr txBox="1"/>
          <p:nvPr/>
        </p:nvSpPr>
        <p:spPr>
          <a:xfrm>
            <a:off x="4678985" y="2560320"/>
            <a:ext cx="2831897" cy="1005840"/>
          </a:xfrm>
          <a:prstGeom prst="rect">
            <a:avLst/>
          </a:prstGeom>
          <a:noFill/>
          <a:ln/>
        </p:spPr>
        <p:txBody>
          <a:bodyPr wrap="square" lIns="0" tIns="0" rIns="0" bIns="0" rtlCol="0" anchor="ctr"/>
          <a:lstStyle/>
          <a:p>
            <a:pPr marL="0" indent="0">
              <a:buNone/>
            </a:pPr>
            <a:r>
              <a:rPr lang="en-US" sz="5400" b="1" dirty="0">
                <a:solidFill>
                  <a:srgbClr val="173243"/>
                </a:solidFill>
                <a:latin typeface="Cambria" pitchFamily="34" charset="0"/>
                <a:ea typeface="Cambria" pitchFamily="34" charset="-122"/>
                <a:cs typeface="Cambria" pitchFamily="34" charset="-120"/>
              </a:rPr>
              <a:t>0.169</a:t>
            </a:r>
            <a:endParaRPr lang="en-US" sz="5400" dirty="0"/>
          </a:p>
        </p:txBody>
      </p:sp>
      <p:sp>
        <p:nvSpPr>
          <p:cNvPr id="13" name="Text 10"/>
          <p:cNvSpPr txBox="1"/>
          <p:nvPr/>
        </p:nvSpPr>
        <p:spPr>
          <a:xfrm>
            <a:off x="4678985" y="3611880"/>
            <a:ext cx="2831897" cy="685800"/>
          </a:xfrm>
          <a:prstGeom prst="rect">
            <a:avLst/>
          </a:prstGeom>
          <a:noFill/>
          <a:ln/>
        </p:spPr>
        <p:txBody>
          <a:bodyPr wrap="square" lIns="0" tIns="0" rIns="0" bIns="0" rtlCol="0" anchor="t"/>
          <a:lstStyle/>
          <a:p>
            <a:pPr marL="0" indent="0">
              <a:buNone/>
            </a:pPr>
            <a:r>
              <a:rPr lang="en-US" sz="1700" dirty="0">
                <a:solidFill>
                  <a:srgbClr val="173243"/>
                </a:solidFill>
                <a:latin typeface="Calibri" pitchFamily="34" charset="0"/>
                <a:ea typeface="Calibri" pitchFamily="34" charset="-122"/>
                <a:cs typeface="Calibri" pitchFamily="34" charset="-120"/>
              </a:rPr>
              <a:t>Turnout time and total attendance time</a:t>
            </a:r>
            <a:endParaRPr lang="en-US" sz="1700" dirty="0"/>
          </a:p>
        </p:txBody>
      </p:sp>
      <p:sp>
        <p:nvSpPr>
          <p:cNvPr id="14" name="Shape 11"/>
          <p:cNvSpPr/>
          <p:nvPr/>
        </p:nvSpPr>
        <p:spPr>
          <a:xfrm>
            <a:off x="8077810" y="1920240"/>
            <a:ext cx="3471977" cy="2514600"/>
          </a:xfrm>
          <a:prstGeom prst="roundRect">
            <a:avLst>
              <a:gd name="adj" fmla="val 4364"/>
            </a:avLst>
          </a:prstGeom>
          <a:solidFill>
            <a:srgbClr val="EDF3F4"/>
          </a:solidFill>
          <a:ln w="12700">
            <a:solidFill>
              <a:srgbClr val="EDF3F4"/>
            </a:solidFill>
            <a:prstDash val="solid"/>
          </a:ln>
        </p:spPr>
      </p:sp>
      <p:sp>
        <p:nvSpPr>
          <p:cNvPr id="15" name="Text 12"/>
          <p:cNvSpPr txBox="1"/>
          <p:nvPr/>
        </p:nvSpPr>
        <p:spPr>
          <a:xfrm>
            <a:off x="8397850" y="2148840"/>
            <a:ext cx="2831897" cy="320040"/>
          </a:xfrm>
          <a:prstGeom prst="rect">
            <a:avLst/>
          </a:prstGeom>
          <a:noFill/>
          <a:ln/>
        </p:spPr>
        <p:txBody>
          <a:bodyPr wrap="square" lIns="0" tIns="0" rIns="0" bIns="0" rtlCol="0" anchor="ctr"/>
          <a:lstStyle/>
          <a:p>
            <a:pPr marL="0" indent="0">
              <a:buNone/>
            </a:pPr>
            <a:r>
              <a:rPr lang="en-US" sz="1300" dirty="0">
                <a:solidFill>
                  <a:srgbClr val="52636D"/>
                </a:solidFill>
                <a:latin typeface="Calibri" pitchFamily="34" charset="0"/>
                <a:ea typeface="Calibri" pitchFamily="34" charset="-122"/>
                <a:cs typeface="Calibri" pitchFamily="34" charset="-120"/>
              </a:rPr>
              <a:t>Coefficient</a:t>
            </a:r>
            <a:endParaRPr lang="en-US" sz="1300" dirty="0"/>
          </a:p>
        </p:txBody>
      </p:sp>
      <p:sp>
        <p:nvSpPr>
          <p:cNvPr id="16" name="Text 13"/>
          <p:cNvSpPr txBox="1"/>
          <p:nvPr/>
        </p:nvSpPr>
        <p:spPr>
          <a:xfrm>
            <a:off x="8397850" y="2560320"/>
            <a:ext cx="2831897" cy="1005840"/>
          </a:xfrm>
          <a:prstGeom prst="rect">
            <a:avLst/>
          </a:prstGeom>
          <a:noFill/>
          <a:ln/>
        </p:spPr>
        <p:txBody>
          <a:bodyPr wrap="square" lIns="0" tIns="0" rIns="0" bIns="0" rtlCol="0" anchor="ctr"/>
          <a:lstStyle/>
          <a:p>
            <a:pPr marL="0" indent="0">
              <a:buNone/>
            </a:pPr>
            <a:r>
              <a:rPr lang="en-US" sz="5400" b="1" dirty="0">
                <a:solidFill>
                  <a:srgbClr val="B85332"/>
                </a:solidFill>
                <a:latin typeface="Cambria" pitchFamily="34" charset="0"/>
                <a:ea typeface="Cambria" pitchFamily="34" charset="-122"/>
                <a:cs typeface="Cambria" pitchFamily="34" charset="-120"/>
              </a:rPr>
              <a:t>−0.083</a:t>
            </a:r>
            <a:endParaRPr lang="en-US" sz="5400" dirty="0"/>
          </a:p>
        </p:txBody>
      </p:sp>
      <p:sp>
        <p:nvSpPr>
          <p:cNvPr id="17" name="Text 14"/>
          <p:cNvSpPr txBox="1"/>
          <p:nvPr/>
        </p:nvSpPr>
        <p:spPr>
          <a:xfrm>
            <a:off x="8397850" y="3611880"/>
            <a:ext cx="2831897" cy="685800"/>
          </a:xfrm>
          <a:prstGeom prst="rect">
            <a:avLst/>
          </a:prstGeom>
          <a:noFill/>
          <a:ln/>
        </p:spPr>
        <p:txBody>
          <a:bodyPr wrap="square" lIns="0" tIns="0" rIns="0" bIns="0" rtlCol="0" anchor="t"/>
          <a:lstStyle/>
          <a:p>
            <a:pPr marL="0" indent="0">
              <a:buNone/>
            </a:pPr>
            <a:r>
              <a:rPr lang="en-US" sz="1700" dirty="0">
                <a:solidFill>
                  <a:srgbClr val="173243"/>
                </a:solidFill>
                <a:latin typeface="Calibri" pitchFamily="34" charset="0"/>
                <a:ea typeface="Calibri" pitchFamily="34" charset="-122"/>
                <a:cs typeface="Calibri" pitchFamily="34" charset="-120"/>
              </a:rPr>
              <a:t>Turnout time and travel time</a:t>
            </a:r>
            <a:endParaRPr lang="en-US" sz="1700" dirty="0"/>
          </a:p>
        </p:txBody>
      </p:sp>
      <p:sp>
        <p:nvSpPr>
          <p:cNvPr id="18" name="Shape 15"/>
          <p:cNvSpPr/>
          <p:nvPr/>
        </p:nvSpPr>
        <p:spPr>
          <a:xfrm>
            <a:off x="640080" y="4709160"/>
            <a:ext cx="5349240" cy="1371600"/>
          </a:xfrm>
          <a:prstGeom prst="roundRect">
            <a:avLst>
              <a:gd name="adj" fmla="val 8000"/>
            </a:avLst>
          </a:prstGeom>
          <a:solidFill>
            <a:srgbClr val="EDF3F4"/>
          </a:solidFill>
          <a:ln w="12700">
            <a:solidFill>
              <a:srgbClr val="EDF3F4"/>
            </a:solidFill>
            <a:prstDash val="solid"/>
          </a:ln>
        </p:spPr>
      </p:sp>
      <p:sp>
        <p:nvSpPr>
          <p:cNvPr id="19" name="Shape 16"/>
          <p:cNvSpPr/>
          <p:nvPr/>
        </p:nvSpPr>
        <p:spPr>
          <a:xfrm>
            <a:off x="914400" y="5120640"/>
            <a:ext cx="548640" cy="548640"/>
          </a:xfrm>
          <a:prstGeom prst="ellipse">
            <a:avLst/>
          </a:prstGeom>
          <a:solidFill>
            <a:srgbClr val="147D85"/>
          </a:solidFill>
          <a:ln w="12700">
            <a:solidFill>
              <a:srgbClr val="147D85"/>
            </a:solidFill>
            <a:prstDash val="solid"/>
          </a:ln>
        </p:spPr>
      </p:sp>
      <p:pic>
        <p:nvPicPr>
          <p:cNvPr id="20" name="Image 0" descr="preencoded.png"/>
          <p:cNvPicPr>
            <a:picLocks noChangeAspect="1"/>
          </p:cNvPicPr>
          <p:nvPr/>
        </p:nvPicPr>
        <p:blipFill>
          <a:blip r:embed="rId3"/>
          <a:stretch>
            <a:fillRect/>
          </a:stretch>
        </p:blipFill>
        <p:spPr>
          <a:xfrm>
            <a:off x="1051560" y="5257800"/>
            <a:ext cx="274320" cy="274320"/>
          </a:xfrm>
          <a:prstGeom prst="rect">
            <a:avLst/>
          </a:prstGeom>
        </p:spPr>
      </p:pic>
      <p:sp>
        <p:nvSpPr>
          <p:cNvPr id="21" name="Text 17"/>
          <p:cNvSpPr txBox="1"/>
          <p:nvPr/>
        </p:nvSpPr>
        <p:spPr>
          <a:xfrm>
            <a:off x="1737360" y="4709160"/>
            <a:ext cx="3977640" cy="1371600"/>
          </a:xfrm>
          <a:prstGeom prst="rect">
            <a:avLst/>
          </a:prstGeom>
          <a:noFill/>
          <a:ln/>
        </p:spPr>
        <p:txBody>
          <a:bodyPr wrap="square" lIns="0" tIns="0" rIns="0" bIns="0" rtlCol="0" anchor="ctr"/>
          <a:lstStyle/>
          <a:p>
            <a:pPr marL="0" indent="0">
              <a:buNone/>
            </a:pPr>
            <a:r>
              <a:rPr lang="en-US" sz="1600" dirty="0">
                <a:solidFill>
                  <a:srgbClr val="173243"/>
                </a:solidFill>
                <a:latin typeface="Calibri" pitchFamily="34" charset="0"/>
                <a:ea typeface="Calibri" pitchFamily="34" charset="-122"/>
                <a:cs typeface="Calibri" pitchFamily="34" charset="-120"/>
              </a:rPr>
              <a:t>Total time includes turnout and travel. Correlation does not measure a share of total time.</a:t>
            </a:r>
            <a:endParaRPr lang="en-US" sz="1600" dirty="0"/>
          </a:p>
        </p:txBody>
      </p:sp>
      <p:sp>
        <p:nvSpPr>
          <p:cNvPr id="22" name="Shape 18"/>
          <p:cNvSpPr/>
          <p:nvPr/>
        </p:nvSpPr>
        <p:spPr>
          <a:xfrm>
            <a:off x="6199632" y="4709160"/>
            <a:ext cx="5349240" cy="1371600"/>
          </a:xfrm>
          <a:prstGeom prst="roundRect">
            <a:avLst>
              <a:gd name="adj" fmla="val 8000"/>
            </a:avLst>
          </a:prstGeom>
          <a:solidFill>
            <a:srgbClr val="EDF3F4"/>
          </a:solidFill>
          <a:ln w="12700">
            <a:solidFill>
              <a:srgbClr val="EDF3F4"/>
            </a:solidFill>
            <a:prstDash val="solid"/>
          </a:ln>
        </p:spPr>
      </p:sp>
      <p:sp>
        <p:nvSpPr>
          <p:cNvPr id="23" name="Shape 19"/>
          <p:cNvSpPr/>
          <p:nvPr/>
        </p:nvSpPr>
        <p:spPr>
          <a:xfrm>
            <a:off x="6473952" y="5120640"/>
            <a:ext cx="548640" cy="548640"/>
          </a:xfrm>
          <a:prstGeom prst="ellipse">
            <a:avLst/>
          </a:prstGeom>
          <a:solidFill>
            <a:srgbClr val="147D85"/>
          </a:solidFill>
          <a:ln w="12700">
            <a:solidFill>
              <a:srgbClr val="147D85"/>
            </a:solidFill>
            <a:prstDash val="solid"/>
          </a:ln>
        </p:spPr>
      </p:sp>
      <p:pic>
        <p:nvPicPr>
          <p:cNvPr id="24" name="Image 1" descr="preencoded.png"/>
          <p:cNvPicPr>
            <a:picLocks noChangeAspect="1"/>
          </p:cNvPicPr>
          <p:nvPr/>
        </p:nvPicPr>
        <p:blipFill>
          <a:blip r:embed="rId3"/>
          <a:stretch>
            <a:fillRect/>
          </a:stretch>
        </p:blipFill>
        <p:spPr>
          <a:xfrm>
            <a:off x="6611112" y="5257800"/>
            <a:ext cx="274320" cy="274320"/>
          </a:xfrm>
          <a:prstGeom prst="rect">
            <a:avLst/>
          </a:prstGeom>
        </p:spPr>
      </p:pic>
      <p:sp>
        <p:nvSpPr>
          <p:cNvPr id="25" name="Text 20"/>
          <p:cNvSpPr txBox="1"/>
          <p:nvPr/>
        </p:nvSpPr>
        <p:spPr>
          <a:xfrm>
            <a:off x="7296912" y="4709160"/>
            <a:ext cx="3977640" cy="1371600"/>
          </a:xfrm>
          <a:prstGeom prst="rect">
            <a:avLst/>
          </a:prstGeom>
          <a:noFill/>
          <a:ln/>
        </p:spPr>
        <p:txBody>
          <a:bodyPr wrap="square" lIns="0" tIns="0" rIns="0" bIns="0" rtlCol="0" anchor="ctr"/>
          <a:lstStyle/>
          <a:p>
            <a:pPr marL="0" indent="0">
              <a:buNone/>
            </a:pPr>
            <a:r>
              <a:rPr lang="en-US" sz="1600" b="1" dirty="0">
                <a:solidFill>
                  <a:srgbClr val="173243"/>
                </a:solidFill>
                <a:latin typeface="Calibri" pitchFamily="34" charset="0"/>
                <a:ea typeface="Calibri" pitchFamily="34" charset="-122"/>
                <a:cs typeface="Calibri" pitchFamily="34" charset="-120"/>
              </a:rPr>
              <a:t>Complete, consistent component records:</a:t>
            </a:r>
            <a:r>
              <a:rPr lang="en-US" sz="1600" dirty="0">
                <a:solidFill>
                  <a:srgbClr val="173243"/>
                </a:solidFill>
                <a:latin typeface="Calibri" pitchFamily="34" charset="0"/>
                <a:ea typeface="Calibri" pitchFamily="34" charset="-122"/>
                <a:cs typeface="Calibri" pitchFamily="34" charset="-120"/>
              </a:rPr>
              <a:t> 382,811. No causal claim.</a:t>
            </a:r>
            <a:endParaRPr lang="en-US" sz="1600" dirty="0"/>
          </a:p>
        </p:txBody>
      </p:sp>
      <p:pic>
        <p:nvPicPr>
          <p:cNvPr id="26" name="Imagen 25">
            <a:extLst>
              <a:ext uri="{FF2B5EF4-FFF2-40B4-BE49-F238E27FC236}">
                <a16:creationId xmlns:a16="http://schemas.microsoft.com/office/drawing/2014/main" id="{8A91A543-952E-9903-8006-AB0AFA81E64E}"/>
              </a:ext>
            </a:extLst>
          </p:cNvPr>
          <p:cNvPicPr>
            <a:picLocks noChangeAspect="1"/>
          </p:cNvPicPr>
          <p:nvPr/>
        </p:nvPicPr>
        <p:blipFill>
          <a:blip r:embed="rId4"/>
          <a:stretch>
            <a:fillRect/>
          </a:stretch>
        </p:blipFill>
        <p:spPr>
          <a:xfrm>
            <a:off x="0" y="0"/>
            <a:ext cx="12382500" cy="7067550"/>
          </a:xfrm>
          <a:prstGeom prst="rect">
            <a:avLst/>
          </a:prstGeom>
        </p:spPr>
      </p:pic>
      <p:pic>
        <p:nvPicPr>
          <p:cNvPr id="28" name="Imagen 27">
            <a:extLst>
              <a:ext uri="{FF2B5EF4-FFF2-40B4-BE49-F238E27FC236}">
                <a16:creationId xmlns:a16="http://schemas.microsoft.com/office/drawing/2014/main" id="{15FA18F0-723C-1C54-ACB8-E2E2E0875505}"/>
              </a:ext>
            </a:extLst>
          </p:cNvPr>
          <p:cNvPicPr>
            <a:picLocks noChangeAspect="1"/>
          </p:cNvPicPr>
          <p:nvPr/>
        </p:nvPicPr>
        <p:blipFill>
          <a:blip r:embed="rId5"/>
          <a:stretch>
            <a:fillRect/>
          </a:stretch>
        </p:blipFill>
        <p:spPr>
          <a:xfrm>
            <a:off x="0" y="-1016"/>
            <a:ext cx="12191999" cy="68600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908792" cy="868680"/>
          </a:xfrm>
          <a:prstGeom prst="rect">
            <a:avLst/>
          </a:prstGeom>
          <a:noFill/>
          <a:ln/>
        </p:spPr>
        <p:txBody>
          <a:bodyPr wrap="square" lIns="0" tIns="0" rIns="0" bIns="0" rtlCol="0" anchor="ctr"/>
          <a:lstStyle/>
          <a:p>
            <a:pPr marL="0" indent="0">
              <a:buNone/>
            </a:pPr>
            <a:r>
              <a:rPr lang="en-US" sz="3600" b="1" dirty="0">
                <a:solidFill>
                  <a:srgbClr val="173243"/>
                </a:solidFill>
                <a:latin typeface="Cambria" pitchFamily="34" charset="0"/>
                <a:ea typeface="Cambria" pitchFamily="34" charset="-122"/>
                <a:cs typeface="Cambria" pitchFamily="34" charset="-120"/>
              </a:rPr>
              <a:t>A rule for further review</a:t>
            </a:r>
            <a:endParaRPr lang="en-US" sz="3600" dirty="0"/>
          </a:p>
        </p:txBody>
      </p:sp>
      <p:sp>
        <p:nvSpPr>
          <p:cNvPr id="4" name="Text 1"/>
          <p:cNvSpPr txBox="1"/>
          <p:nvPr/>
        </p:nvSpPr>
        <p:spPr>
          <a:xfrm>
            <a:off x="10881360" y="6355080"/>
            <a:ext cx="667512" cy="274320"/>
          </a:xfrm>
          <a:prstGeom prst="rect">
            <a:avLst/>
          </a:prstGeom>
          <a:noFill/>
          <a:ln/>
        </p:spPr>
        <p:txBody>
          <a:bodyPr wrap="square" lIns="0" tIns="0" rIns="0" bIns="0" rtlCol="0" anchor="ctr"/>
          <a:lstStyle/>
          <a:p>
            <a:pPr marL="0" indent="0" algn="r">
              <a:buNone/>
            </a:pPr>
            <a:r>
              <a:rPr lang="en-US" sz="1200" dirty="0">
                <a:solidFill>
                  <a:srgbClr val="52636D"/>
                </a:solidFill>
                <a:latin typeface="Calibri" pitchFamily="34" charset="0"/>
                <a:ea typeface="Calibri" pitchFamily="34" charset="-122"/>
                <a:cs typeface="Calibri" pitchFamily="34" charset="-120"/>
              </a:rPr>
              <a:t>13</a:t>
            </a:r>
            <a:endParaRPr lang="en-US" sz="1200" dirty="0"/>
          </a:p>
        </p:txBody>
      </p:sp>
      <p:sp>
        <p:nvSpPr>
          <p:cNvPr id="5" name="Shape 2"/>
          <p:cNvSpPr/>
          <p:nvPr/>
        </p:nvSpPr>
        <p:spPr>
          <a:xfrm>
            <a:off x="640080" y="1554480"/>
            <a:ext cx="5852160" cy="3246120"/>
          </a:xfrm>
          <a:prstGeom prst="roundRect">
            <a:avLst>
              <a:gd name="adj" fmla="val 3380"/>
            </a:avLst>
          </a:prstGeom>
          <a:solidFill>
            <a:srgbClr val="173243"/>
          </a:solidFill>
          <a:ln w="12700">
            <a:solidFill>
              <a:srgbClr val="173243"/>
            </a:solidFill>
            <a:prstDash val="solid"/>
          </a:ln>
        </p:spPr>
      </p:sp>
      <p:sp>
        <p:nvSpPr>
          <p:cNvPr id="6" name="Shape 3"/>
          <p:cNvSpPr/>
          <p:nvPr/>
        </p:nvSpPr>
        <p:spPr>
          <a:xfrm>
            <a:off x="960120" y="1828800"/>
            <a:ext cx="502920" cy="502920"/>
          </a:xfrm>
          <a:prstGeom prst="ellipse">
            <a:avLst/>
          </a:prstGeom>
          <a:solidFill>
            <a:srgbClr val="147D85"/>
          </a:solidFill>
          <a:ln w="12700">
            <a:solidFill>
              <a:srgbClr val="147D85"/>
            </a:solidFill>
            <a:prstDash val="solid"/>
          </a:ln>
        </p:spPr>
      </p:sp>
      <p:pic>
        <p:nvPicPr>
          <p:cNvPr id="7" name="Image 0" descr="preencoded.png"/>
          <p:cNvPicPr>
            <a:picLocks noChangeAspect="1"/>
          </p:cNvPicPr>
          <p:nvPr/>
        </p:nvPicPr>
        <p:blipFill>
          <a:blip r:embed="rId3"/>
          <a:stretch>
            <a:fillRect/>
          </a:stretch>
        </p:blipFill>
        <p:spPr>
          <a:xfrm>
            <a:off x="1085850" y="1954530"/>
            <a:ext cx="251460" cy="251460"/>
          </a:xfrm>
          <a:prstGeom prst="rect">
            <a:avLst/>
          </a:prstGeom>
        </p:spPr>
      </p:pic>
      <p:sp>
        <p:nvSpPr>
          <p:cNvPr id="8" name="Text 4"/>
          <p:cNvSpPr txBox="1"/>
          <p:nvPr/>
        </p:nvSpPr>
        <p:spPr>
          <a:xfrm>
            <a:off x="1691640" y="1783080"/>
            <a:ext cx="4572000" cy="59436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Monthly district P90 above the same-month global P90</a:t>
            </a:r>
            <a:endParaRPr lang="en-US" sz="1800" dirty="0"/>
          </a:p>
        </p:txBody>
      </p:sp>
      <p:sp>
        <p:nvSpPr>
          <p:cNvPr id="9" name="Shape 5"/>
          <p:cNvSpPr/>
          <p:nvPr/>
        </p:nvSpPr>
        <p:spPr>
          <a:xfrm>
            <a:off x="960120" y="2788920"/>
            <a:ext cx="502920" cy="502920"/>
          </a:xfrm>
          <a:prstGeom prst="ellipse">
            <a:avLst/>
          </a:prstGeom>
          <a:solidFill>
            <a:srgbClr val="147D85"/>
          </a:solidFill>
          <a:ln w="12700">
            <a:solidFill>
              <a:srgbClr val="147D85"/>
            </a:solidFill>
            <a:prstDash val="solid"/>
          </a:ln>
        </p:spPr>
      </p:sp>
      <p:pic>
        <p:nvPicPr>
          <p:cNvPr id="10" name="Image 1" descr="preencoded.png"/>
          <p:cNvPicPr>
            <a:picLocks noChangeAspect="1"/>
          </p:cNvPicPr>
          <p:nvPr/>
        </p:nvPicPr>
        <p:blipFill>
          <a:blip r:embed="rId3"/>
          <a:stretch>
            <a:fillRect/>
          </a:stretch>
        </p:blipFill>
        <p:spPr>
          <a:xfrm>
            <a:off x="1085850" y="2914650"/>
            <a:ext cx="251460" cy="251460"/>
          </a:xfrm>
          <a:prstGeom prst="rect">
            <a:avLst/>
          </a:prstGeom>
        </p:spPr>
      </p:pic>
      <p:sp>
        <p:nvSpPr>
          <p:cNvPr id="11" name="Text 6"/>
          <p:cNvSpPr txBox="1"/>
          <p:nvPr/>
        </p:nvSpPr>
        <p:spPr>
          <a:xfrm>
            <a:off x="1691640" y="2743200"/>
            <a:ext cx="4572000" cy="59436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At least 100 eligible records per month</a:t>
            </a:r>
            <a:endParaRPr lang="en-US" sz="1800" dirty="0"/>
          </a:p>
        </p:txBody>
      </p:sp>
      <p:sp>
        <p:nvSpPr>
          <p:cNvPr id="12" name="Shape 7"/>
          <p:cNvSpPr/>
          <p:nvPr/>
        </p:nvSpPr>
        <p:spPr>
          <a:xfrm>
            <a:off x="960120" y="3749040"/>
            <a:ext cx="502920" cy="502920"/>
          </a:xfrm>
          <a:prstGeom prst="ellipse">
            <a:avLst/>
          </a:prstGeom>
          <a:solidFill>
            <a:srgbClr val="147D85"/>
          </a:solidFill>
          <a:ln w="12700">
            <a:solidFill>
              <a:srgbClr val="147D85"/>
            </a:solidFill>
            <a:prstDash val="solid"/>
          </a:ln>
        </p:spPr>
      </p:sp>
      <p:pic>
        <p:nvPicPr>
          <p:cNvPr id="13" name="Image 2" descr="preencoded.png"/>
          <p:cNvPicPr>
            <a:picLocks noChangeAspect="1"/>
          </p:cNvPicPr>
          <p:nvPr/>
        </p:nvPicPr>
        <p:blipFill>
          <a:blip r:embed="rId3"/>
          <a:stretch>
            <a:fillRect/>
          </a:stretch>
        </p:blipFill>
        <p:spPr>
          <a:xfrm>
            <a:off x="1085850" y="3874770"/>
            <a:ext cx="251460" cy="251460"/>
          </a:xfrm>
          <a:prstGeom prst="rect">
            <a:avLst/>
          </a:prstGeom>
        </p:spPr>
      </p:pic>
      <p:sp>
        <p:nvSpPr>
          <p:cNvPr id="14" name="Text 8"/>
          <p:cNvSpPr txBox="1"/>
          <p:nvPr/>
        </p:nvSpPr>
        <p:spPr>
          <a:xfrm>
            <a:off x="1691640" y="3703320"/>
            <a:ext cx="4572000" cy="59436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At least 3 consecutive months</a:t>
            </a:r>
            <a:endParaRPr lang="en-US" sz="1800" dirty="0"/>
          </a:p>
        </p:txBody>
      </p:sp>
      <p:sp>
        <p:nvSpPr>
          <p:cNvPr id="15" name="Shape 9"/>
          <p:cNvSpPr/>
          <p:nvPr/>
        </p:nvSpPr>
        <p:spPr>
          <a:xfrm>
            <a:off x="6720840" y="1554480"/>
            <a:ext cx="4828032" cy="1554480"/>
          </a:xfrm>
          <a:prstGeom prst="roundRect">
            <a:avLst>
              <a:gd name="adj" fmla="val 7059"/>
            </a:avLst>
          </a:prstGeom>
          <a:solidFill>
            <a:srgbClr val="EDF3F4"/>
          </a:solidFill>
          <a:ln w="12700">
            <a:solidFill>
              <a:srgbClr val="EDF3F4"/>
            </a:solidFill>
            <a:prstDash val="solid"/>
          </a:ln>
        </p:spPr>
      </p:sp>
      <p:sp>
        <p:nvSpPr>
          <p:cNvPr id="16" name="Text 10"/>
          <p:cNvSpPr txBox="1"/>
          <p:nvPr/>
        </p:nvSpPr>
        <p:spPr>
          <a:xfrm>
            <a:off x="7086600" y="1645920"/>
            <a:ext cx="4206240" cy="868680"/>
          </a:xfrm>
          <a:prstGeom prst="rect">
            <a:avLst/>
          </a:prstGeom>
          <a:noFill/>
          <a:ln/>
        </p:spPr>
        <p:txBody>
          <a:bodyPr wrap="square" lIns="0" tIns="0" rIns="0" bIns="0" rtlCol="0" anchor="ctr"/>
          <a:lstStyle/>
          <a:p>
            <a:pPr marL="0" indent="0">
              <a:buNone/>
            </a:pPr>
            <a:r>
              <a:rPr lang="en-US" sz="5400" b="1" dirty="0">
                <a:solidFill>
                  <a:srgbClr val="147D85"/>
                </a:solidFill>
                <a:latin typeface="Cambria" pitchFamily="34" charset="0"/>
                <a:ea typeface="Cambria" pitchFamily="34" charset="-122"/>
                <a:cs typeface="Cambria" pitchFamily="34" charset="-120"/>
              </a:rPr>
              <a:t>19</a:t>
            </a:r>
            <a:r>
              <a:rPr lang="en-US" sz="2600" b="1" dirty="0">
                <a:solidFill>
                  <a:srgbClr val="173243"/>
                </a:solidFill>
                <a:latin typeface="Calibri" pitchFamily="34" charset="0"/>
                <a:ea typeface="Calibri" pitchFamily="34" charset="-122"/>
                <a:cs typeface="Calibri" pitchFamily="34" charset="-120"/>
              </a:rPr>
              <a:t> districts</a:t>
            </a:r>
            <a:endParaRPr lang="en-US" sz="5400" dirty="0"/>
          </a:p>
        </p:txBody>
      </p:sp>
      <p:sp>
        <p:nvSpPr>
          <p:cNvPr id="17" name="Text 11"/>
          <p:cNvSpPr txBox="1"/>
          <p:nvPr/>
        </p:nvSpPr>
        <p:spPr>
          <a:xfrm>
            <a:off x="7086600" y="2514600"/>
            <a:ext cx="4206240" cy="457200"/>
          </a:xfrm>
          <a:prstGeom prst="rect">
            <a:avLst/>
          </a:prstGeom>
          <a:noFill/>
          <a:ln/>
        </p:spPr>
        <p:txBody>
          <a:bodyPr wrap="square" lIns="0" tIns="0" rIns="0" bIns="0" rtlCol="0" anchor="ctr"/>
          <a:lstStyle/>
          <a:p>
            <a:pPr marL="0" indent="0">
              <a:buNone/>
            </a:pPr>
            <a:r>
              <a:rPr lang="en-US" sz="1800" dirty="0">
                <a:solidFill>
                  <a:srgbClr val="52636D"/>
                </a:solidFill>
                <a:latin typeface="Calibri" pitchFamily="34" charset="0"/>
                <a:ea typeface="Calibri" pitchFamily="34" charset="-122"/>
                <a:cs typeface="Calibri" pitchFamily="34" charset="-120"/>
              </a:rPr>
              <a:t>with 3 consecutive months</a:t>
            </a:r>
            <a:endParaRPr lang="en-US" sz="1800" dirty="0"/>
          </a:p>
        </p:txBody>
      </p:sp>
      <p:sp>
        <p:nvSpPr>
          <p:cNvPr id="18" name="Shape 12"/>
          <p:cNvSpPr/>
          <p:nvPr/>
        </p:nvSpPr>
        <p:spPr>
          <a:xfrm>
            <a:off x="6720840" y="3246120"/>
            <a:ext cx="4828032" cy="1554480"/>
          </a:xfrm>
          <a:prstGeom prst="roundRect">
            <a:avLst>
              <a:gd name="adj" fmla="val 7059"/>
            </a:avLst>
          </a:prstGeom>
          <a:solidFill>
            <a:srgbClr val="EDF3F4"/>
          </a:solidFill>
          <a:ln w="12700">
            <a:solidFill>
              <a:srgbClr val="EDF3F4"/>
            </a:solidFill>
            <a:prstDash val="solid"/>
          </a:ln>
        </p:spPr>
      </p:sp>
      <p:sp>
        <p:nvSpPr>
          <p:cNvPr id="19" name="Text 13"/>
          <p:cNvSpPr txBox="1"/>
          <p:nvPr/>
        </p:nvSpPr>
        <p:spPr>
          <a:xfrm>
            <a:off x="7086600" y="3337560"/>
            <a:ext cx="4206240" cy="868680"/>
          </a:xfrm>
          <a:prstGeom prst="rect">
            <a:avLst/>
          </a:prstGeom>
          <a:noFill/>
          <a:ln/>
        </p:spPr>
        <p:txBody>
          <a:bodyPr wrap="square" lIns="0" tIns="0" rIns="0" bIns="0" rtlCol="0" anchor="ctr"/>
          <a:lstStyle/>
          <a:p>
            <a:pPr marL="0" indent="0">
              <a:buNone/>
            </a:pPr>
            <a:r>
              <a:rPr lang="en-US" sz="5400" b="1" dirty="0">
                <a:solidFill>
                  <a:srgbClr val="B85332"/>
                </a:solidFill>
                <a:latin typeface="Cambria" pitchFamily="34" charset="0"/>
                <a:ea typeface="Cambria" pitchFamily="34" charset="-122"/>
                <a:cs typeface="Cambria" pitchFamily="34" charset="-120"/>
              </a:rPr>
              <a:t>15</a:t>
            </a:r>
            <a:r>
              <a:rPr lang="en-US" sz="2600" b="1" dirty="0">
                <a:solidFill>
                  <a:srgbClr val="173243"/>
                </a:solidFill>
                <a:latin typeface="Calibri" pitchFamily="34" charset="0"/>
                <a:ea typeface="Calibri" pitchFamily="34" charset="-122"/>
                <a:cs typeface="Calibri" pitchFamily="34" charset="-120"/>
              </a:rPr>
              <a:t> districts</a:t>
            </a:r>
            <a:endParaRPr lang="en-US" sz="5400" dirty="0"/>
          </a:p>
        </p:txBody>
      </p:sp>
      <p:sp>
        <p:nvSpPr>
          <p:cNvPr id="20" name="Text 14"/>
          <p:cNvSpPr txBox="1"/>
          <p:nvPr/>
        </p:nvSpPr>
        <p:spPr>
          <a:xfrm>
            <a:off x="7086600" y="4206240"/>
            <a:ext cx="4206240" cy="457200"/>
          </a:xfrm>
          <a:prstGeom prst="rect">
            <a:avLst/>
          </a:prstGeom>
          <a:noFill/>
          <a:ln/>
        </p:spPr>
        <p:txBody>
          <a:bodyPr wrap="square" lIns="0" tIns="0" rIns="0" bIns="0" rtlCol="0" anchor="ctr"/>
          <a:lstStyle/>
          <a:p>
            <a:pPr marL="0" indent="0">
              <a:buNone/>
            </a:pPr>
            <a:r>
              <a:rPr lang="en-US" sz="1800" dirty="0">
                <a:solidFill>
                  <a:srgbClr val="52636D"/>
                </a:solidFill>
                <a:latin typeface="Calibri" pitchFamily="34" charset="0"/>
                <a:ea typeface="Calibri" pitchFamily="34" charset="-122"/>
                <a:cs typeface="Calibri" pitchFamily="34" charset="-120"/>
              </a:rPr>
              <a:t>with 6 consecutive months</a:t>
            </a:r>
            <a:endParaRPr lang="en-US" sz="1800" dirty="0"/>
          </a:p>
        </p:txBody>
      </p:sp>
      <p:sp>
        <p:nvSpPr>
          <p:cNvPr id="21" name="Shape 15"/>
          <p:cNvSpPr/>
          <p:nvPr/>
        </p:nvSpPr>
        <p:spPr>
          <a:xfrm>
            <a:off x="640080" y="5074920"/>
            <a:ext cx="10908792" cy="1005840"/>
          </a:xfrm>
          <a:prstGeom prst="roundRect">
            <a:avLst>
              <a:gd name="adj" fmla="val 10909"/>
            </a:avLst>
          </a:prstGeom>
          <a:solidFill>
            <a:srgbClr val="EDF3F4"/>
          </a:solidFill>
          <a:ln w="12700">
            <a:solidFill>
              <a:srgbClr val="EDF3F4"/>
            </a:solidFill>
            <a:prstDash val="solid"/>
          </a:ln>
        </p:spPr>
      </p:sp>
      <p:sp>
        <p:nvSpPr>
          <p:cNvPr id="22" name="Shape 16"/>
          <p:cNvSpPr/>
          <p:nvPr/>
        </p:nvSpPr>
        <p:spPr>
          <a:xfrm>
            <a:off x="914400" y="5303520"/>
            <a:ext cx="548640" cy="548640"/>
          </a:xfrm>
          <a:prstGeom prst="ellipse">
            <a:avLst/>
          </a:prstGeom>
          <a:solidFill>
            <a:srgbClr val="147D85"/>
          </a:solidFill>
          <a:ln w="12700">
            <a:solidFill>
              <a:srgbClr val="147D85"/>
            </a:solidFill>
            <a:prstDash val="solid"/>
          </a:ln>
        </p:spPr>
      </p:sp>
      <p:pic>
        <p:nvPicPr>
          <p:cNvPr id="23" name="Image 3" descr="preencoded.png"/>
          <p:cNvPicPr>
            <a:picLocks noChangeAspect="1"/>
          </p:cNvPicPr>
          <p:nvPr/>
        </p:nvPicPr>
        <p:blipFill>
          <a:blip r:embed="rId4"/>
          <a:stretch>
            <a:fillRect/>
          </a:stretch>
        </p:blipFill>
        <p:spPr>
          <a:xfrm>
            <a:off x="1051560" y="5440680"/>
            <a:ext cx="274320" cy="274320"/>
          </a:xfrm>
          <a:prstGeom prst="rect">
            <a:avLst/>
          </a:prstGeom>
        </p:spPr>
      </p:pic>
      <p:sp>
        <p:nvSpPr>
          <p:cNvPr id="24" name="Text 17"/>
          <p:cNvSpPr txBox="1"/>
          <p:nvPr/>
        </p:nvSpPr>
        <p:spPr>
          <a:xfrm>
            <a:off x="1737360" y="5074920"/>
            <a:ext cx="9537192" cy="1005840"/>
          </a:xfrm>
          <a:prstGeom prst="rect">
            <a:avLst/>
          </a:prstGeom>
          <a:noFill/>
          <a:ln/>
        </p:spPr>
        <p:txBody>
          <a:bodyPr wrap="square" lIns="0" tIns="0" rIns="0" bIns="0" rtlCol="0" anchor="ctr"/>
          <a:lstStyle/>
          <a:p>
            <a:pPr marL="0" indent="0">
              <a:buNone/>
            </a:pPr>
            <a:r>
              <a:rPr lang="en-US" sz="1400" dirty="0">
                <a:solidFill>
                  <a:srgbClr val="173243"/>
                </a:solidFill>
                <a:latin typeface="Calibri" pitchFamily="34" charset="0"/>
                <a:ea typeface="Calibri" pitchFamily="34" charset="-122"/>
                <a:cs typeface="Calibri" pitchFamily="34" charset="-120"/>
              </a:rPr>
              <a:t>Sensitivity period: January 2023–November 2024. Counts unchanged for n ≥ 50, 100 or 200.</a:t>
            </a:r>
            <a:endParaRPr lang="en-US" sz="1400" dirty="0"/>
          </a:p>
          <a:p>
            <a:pPr marL="0" indent="0">
              <a:buNone/>
            </a:pPr>
            <a:r>
              <a:rPr lang="en-US" sz="1400" dirty="0">
                <a:solidFill>
                  <a:srgbClr val="173243"/>
                </a:solidFill>
                <a:latin typeface="Calibri" pitchFamily="34" charset="0"/>
                <a:ea typeface="Calibri" pitchFamily="34" charset="-122"/>
                <a:cs typeface="Calibri" pitchFamily="34" charset="-120"/>
              </a:rPr>
              <a:t>Exploratory rule proposed by the project. No official service threshold.</a:t>
            </a:r>
            <a:endParaRPr lang="en-US" sz="1400" dirty="0"/>
          </a:p>
        </p:txBody>
      </p:sp>
      <p:pic>
        <p:nvPicPr>
          <p:cNvPr id="25" name="Imagen 24">
            <a:extLst>
              <a:ext uri="{FF2B5EF4-FFF2-40B4-BE49-F238E27FC236}">
                <a16:creationId xmlns:a16="http://schemas.microsoft.com/office/drawing/2014/main" id="{491CC61C-7C48-FEE7-8F4F-40B2DE1B3D39}"/>
              </a:ext>
            </a:extLst>
          </p:cNvPr>
          <p:cNvPicPr>
            <a:picLocks noChangeAspect="1"/>
          </p:cNvPicPr>
          <p:nvPr/>
        </p:nvPicPr>
        <p:blipFill>
          <a:blip r:embed="rId5"/>
          <a:stretch>
            <a:fillRect/>
          </a:stretch>
        </p:blipFill>
        <p:spPr>
          <a:xfrm>
            <a:off x="7958" y="0"/>
            <a:ext cx="12176084"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4480560" cy="6858000"/>
          </a:xfrm>
          <a:prstGeom prst="rect">
            <a:avLst/>
          </a:prstGeom>
          <a:solidFill>
            <a:srgbClr val="173243"/>
          </a:solidFill>
          <a:ln w="12700">
            <a:solidFill>
              <a:srgbClr val="173243"/>
            </a:solidFill>
            <a:prstDash val="solid"/>
          </a:ln>
        </p:spPr>
      </p:sp>
      <p:sp>
        <p:nvSpPr>
          <p:cNvPr id="4" name="Shape 1"/>
          <p:cNvSpPr/>
          <p:nvPr/>
        </p:nvSpPr>
        <p:spPr>
          <a:xfrm>
            <a:off x="640080" y="1737360"/>
            <a:ext cx="1188720" cy="1188720"/>
          </a:xfrm>
          <a:prstGeom prst="ellipse">
            <a:avLst/>
          </a:prstGeom>
          <a:solidFill>
            <a:srgbClr val="B85332"/>
          </a:solidFill>
          <a:ln w="12700">
            <a:solidFill>
              <a:srgbClr val="B85332"/>
            </a:solidFill>
            <a:prstDash val="solid"/>
          </a:ln>
        </p:spPr>
      </p:sp>
      <p:pic>
        <p:nvPicPr>
          <p:cNvPr id="5" name="Image 0" descr="preencoded.png"/>
          <p:cNvPicPr>
            <a:picLocks noChangeAspect="1"/>
          </p:cNvPicPr>
          <p:nvPr/>
        </p:nvPicPr>
        <p:blipFill>
          <a:blip r:embed="rId3"/>
          <a:stretch>
            <a:fillRect/>
          </a:stretch>
        </p:blipFill>
        <p:spPr>
          <a:xfrm>
            <a:off x="937260" y="2034540"/>
            <a:ext cx="594360" cy="594360"/>
          </a:xfrm>
          <a:prstGeom prst="rect">
            <a:avLst/>
          </a:prstGeom>
        </p:spPr>
      </p:pic>
      <p:sp>
        <p:nvSpPr>
          <p:cNvPr id="6" name="Text 2"/>
          <p:cNvSpPr txBox="1"/>
          <p:nvPr/>
        </p:nvSpPr>
        <p:spPr>
          <a:xfrm>
            <a:off x="640080" y="3200400"/>
            <a:ext cx="3383280" cy="201168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Limits of the evidence</a:t>
            </a:r>
            <a:endParaRPr lang="en-US" sz="3600" dirty="0"/>
          </a:p>
        </p:txBody>
      </p:sp>
      <p:sp>
        <p:nvSpPr>
          <p:cNvPr id="7" name="Text 3"/>
          <p:cNvSpPr txBox="1"/>
          <p:nvPr/>
        </p:nvSpPr>
        <p:spPr>
          <a:xfrm>
            <a:off x="10881360" y="6355080"/>
            <a:ext cx="667512" cy="274320"/>
          </a:xfrm>
          <a:prstGeom prst="rect">
            <a:avLst/>
          </a:prstGeom>
          <a:noFill/>
          <a:ln/>
        </p:spPr>
        <p:txBody>
          <a:bodyPr wrap="square" lIns="0" tIns="0" rIns="0" bIns="0" rtlCol="0" anchor="ctr"/>
          <a:lstStyle/>
          <a:p>
            <a:pPr marL="0" indent="0" algn="r">
              <a:buNone/>
            </a:pPr>
            <a:r>
              <a:rPr lang="en-US" sz="1200" dirty="0">
                <a:solidFill>
                  <a:srgbClr val="52636D"/>
                </a:solidFill>
                <a:latin typeface="Calibri" pitchFamily="34" charset="0"/>
                <a:ea typeface="Calibri" pitchFamily="34" charset="-122"/>
                <a:cs typeface="Calibri" pitchFamily="34" charset="-120"/>
              </a:rPr>
              <a:t>14</a:t>
            </a:r>
            <a:endParaRPr lang="en-US" sz="1200" dirty="0"/>
          </a:p>
        </p:txBody>
      </p:sp>
      <p:sp>
        <p:nvSpPr>
          <p:cNvPr id="8" name="Shape 4"/>
          <p:cNvSpPr/>
          <p:nvPr/>
        </p:nvSpPr>
        <p:spPr>
          <a:xfrm>
            <a:off x="4937760" y="1051560"/>
            <a:ext cx="6611112" cy="1005840"/>
          </a:xfrm>
          <a:prstGeom prst="roundRect">
            <a:avLst>
              <a:gd name="adj" fmla="val 10909"/>
            </a:avLst>
          </a:prstGeom>
          <a:solidFill>
            <a:srgbClr val="EDF3F4"/>
          </a:solidFill>
          <a:ln w="12700">
            <a:solidFill>
              <a:srgbClr val="EDF3F4"/>
            </a:solidFill>
            <a:prstDash val="solid"/>
          </a:ln>
        </p:spPr>
      </p:sp>
      <p:sp>
        <p:nvSpPr>
          <p:cNvPr id="9" name="Shape 5"/>
          <p:cNvSpPr/>
          <p:nvPr/>
        </p:nvSpPr>
        <p:spPr>
          <a:xfrm>
            <a:off x="5212080" y="1234440"/>
            <a:ext cx="640080" cy="640080"/>
          </a:xfrm>
          <a:prstGeom prst="ellipse">
            <a:avLst/>
          </a:prstGeom>
          <a:solidFill>
            <a:srgbClr val="B85332"/>
          </a:solidFill>
          <a:ln w="12700">
            <a:solidFill>
              <a:srgbClr val="B85332"/>
            </a:solidFill>
            <a:prstDash val="solid"/>
          </a:ln>
        </p:spPr>
      </p:sp>
      <p:pic>
        <p:nvPicPr>
          <p:cNvPr id="10" name="Image 1" descr="preencoded.png"/>
          <p:cNvPicPr>
            <a:picLocks noChangeAspect="1"/>
          </p:cNvPicPr>
          <p:nvPr/>
        </p:nvPicPr>
        <p:blipFill>
          <a:blip r:embed="rId4"/>
          <a:stretch>
            <a:fillRect/>
          </a:stretch>
        </p:blipFill>
        <p:spPr>
          <a:xfrm>
            <a:off x="5372100" y="1394460"/>
            <a:ext cx="320040" cy="320040"/>
          </a:xfrm>
          <a:prstGeom prst="rect">
            <a:avLst/>
          </a:prstGeom>
        </p:spPr>
      </p:pic>
      <p:sp>
        <p:nvSpPr>
          <p:cNvPr id="11" name="Text 6"/>
          <p:cNvSpPr txBox="1"/>
          <p:nvPr/>
        </p:nvSpPr>
        <p:spPr>
          <a:xfrm>
            <a:off x="6126480" y="1051560"/>
            <a:ext cx="5148072" cy="1005840"/>
          </a:xfrm>
          <a:prstGeom prst="rect">
            <a:avLst/>
          </a:prstGeom>
          <a:noFill/>
          <a:ln/>
        </p:spPr>
        <p:txBody>
          <a:bodyPr wrap="square" lIns="0" tIns="0" rIns="0" bIns="0" rtlCol="0" anchor="ctr"/>
          <a:lstStyle/>
          <a:p>
            <a:pPr marL="0" indent="0">
              <a:buNone/>
            </a:pPr>
            <a:r>
              <a:rPr lang="en-US" sz="2000" dirty="0">
                <a:solidFill>
                  <a:srgbClr val="173243"/>
                </a:solidFill>
                <a:latin typeface="Calibri" pitchFamily="34" charset="0"/>
                <a:ea typeface="Calibri" pitchFamily="34" charset="-122"/>
                <a:cs typeface="Calibri" pitchFamily="34" charset="-120"/>
              </a:rPr>
              <a:t>No records for 31 December 2024.</a:t>
            </a:r>
            <a:endParaRPr lang="en-US" sz="2000" dirty="0"/>
          </a:p>
        </p:txBody>
      </p:sp>
      <p:sp>
        <p:nvSpPr>
          <p:cNvPr id="12" name="Shape 7"/>
          <p:cNvSpPr/>
          <p:nvPr/>
        </p:nvSpPr>
        <p:spPr>
          <a:xfrm>
            <a:off x="4937760" y="2258568"/>
            <a:ext cx="6611112" cy="1005840"/>
          </a:xfrm>
          <a:prstGeom prst="roundRect">
            <a:avLst>
              <a:gd name="adj" fmla="val 10909"/>
            </a:avLst>
          </a:prstGeom>
          <a:solidFill>
            <a:srgbClr val="EDF3F4"/>
          </a:solidFill>
          <a:ln w="12700">
            <a:solidFill>
              <a:srgbClr val="EDF3F4"/>
            </a:solidFill>
            <a:prstDash val="solid"/>
          </a:ln>
        </p:spPr>
      </p:sp>
      <p:sp>
        <p:nvSpPr>
          <p:cNvPr id="13" name="Shape 8"/>
          <p:cNvSpPr/>
          <p:nvPr/>
        </p:nvSpPr>
        <p:spPr>
          <a:xfrm>
            <a:off x="5212080" y="2441448"/>
            <a:ext cx="640080" cy="640080"/>
          </a:xfrm>
          <a:prstGeom prst="ellipse">
            <a:avLst/>
          </a:prstGeom>
          <a:solidFill>
            <a:srgbClr val="B85332"/>
          </a:solidFill>
          <a:ln w="12700">
            <a:solidFill>
              <a:srgbClr val="B85332"/>
            </a:solidFill>
            <a:prstDash val="solid"/>
          </a:ln>
        </p:spPr>
      </p:sp>
      <p:pic>
        <p:nvPicPr>
          <p:cNvPr id="14" name="Image 2" descr="preencoded.png"/>
          <p:cNvPicPr>
            <a:picLocks noChangeAspect="1"/>
          </p:cNvPicPr>
          <p:nvPr/>
        </p:nvPicPr>
        <p:blipFill>
          <a:blip r:embed="rId5"/>
          <a:stretch>
            <a:fillRect/>
          </a:stretch>
        </p:blipFill>
        <p:spPr>
          <a:xfrm>
            <a:off x="5372100" y="2601468"/>
            <a:ext cx="320040" cy="320040"/>
          </a:xfrm>
          <a:prstGeom prst="rect">
            <a:avLst/>
          </a:prstGeom>
        </p:spPr>
      </p:pic>
      <p:sp>
        <p:nvSpPr>
          <p:cNvPr id="15" name="Text 9"/>
          <p:cNvSpPr txBox="1"/>
          <p:nvPr/>
        </p:nvSpPr>
        <p:spPr>
          <a:xfrm>
            <a:off x="6126480" y="2258568"/>
            <a:ext cx="5148072" cy="1005840"/>
          </a:xfrm>
          <a:prstGeom prst="rect">
            <a:avLst/>
          </a:prstGeom>
          <a:noFill/>
          <a:ln/>
        </p:spPr>
        <p:txBody>
          <a:bodyPr wrap="square" lIns="0" tIns="0" rIns="0" bIns="0" rtlCol="0" anchor="ctr"/>
          <a:lstStyle/>
          <a:p>
            <a:pPr marL="0" indent="0">
              <a:buNone/>
            </a:pPr>
            <a:r>
              <a:rPr lang="en-US" sz="2000" dirty="0">
                <a:solidFill>
                  <a:srgbClr val="173243"/>
                </a:solidFill>
                <a:latin typeface="Calibri" pitchFamily="34" charset="0"/>
                <a:ea typeface="Calibri" pitchFamily="34" charset="-122"/>
                <a:cs typeface="Calibri" pitchFamily="34" charset="-120"/>
              </a:rPr>
              <a:t>All observed records are Initial. Durations stop at 20 minutes.</a:t>
            </a:r>
            <a:endParaRPr lang="en-US" sz="2000" dirty="0"/>
          </a:p>
        </p:txBody>
      </p:sp>
      <p:sp>
        <p:nvSpPr>
          <p:cNvPr id="16" name="Shape 10"/>
          <p:cNvSpPr/>
          <p:nvPr/>
        </p:nvSpPr>
        <p:spPr>
          <a:xfrm>
            <a:off x="4937760" y="3465576"/>
            <a:ext cx="6611112" cy="1005840"/>
          </a:xfrm>
          <a:prstGeom prst="roundRect">
            <a:avLst>
              <a:gd name="adj" fmla="val 10909"/>
            </a:avLst>
          </a:prstGeom>
          <a:solidFill>
            <a:srgbClr val="EDF3F4"/>
          </a:solidFill>
          <a:ln w="12700">
            <a:solidFill>
              <a:srgbClr val="EDF3F4"/>
            </a:solidFill>
            <a:prstDash val="solid"/>
          </a:ln>
        </p:spPr>
      </p:sp>
      <p:sp>
        <p:nvSpPr>
          <p:cNvPr id="17" name="Shape 11"/>
          <p:cNvSpPr/>
          <p:nvPr/>
        </p:nvSpPr>
        <p:spPr>
          <a:xfrm>
            <a:off x="5212080" y="3648456"/>
            <a:ext cx="640080" cy="640080"/>
          </a:xfrm>
          <a:prstGeom prst="ellipse">
            <a:avLst/>
          </a:prstGeom>
          <a:solidFill>
            <a:srgbClr val="B85332"/>
          </a:solidFill>
          <a:ln w="12700">
            <a:solidFill>
              <a:srgbClr val="B85332"/>
            </a:solidFill>
            <a:prstDash val="solid"/>
          </a:ln>
        </p:spPr>
      </p:sp>
      <p:pic>
        <p:nvPicPr>
          <p:cNvPr id="18" name="Image 3" descr="preencoded.png"/>
          <p:cNvPicPr>
            <a:picLocks noChangeAspect="1"/>
          </p:cNvPicPr>
          <p:nvPr/>
        </p:nvPicPr>
        <p:blipFill>
          <a:blip r:embed="rId6"/>
          <a:stretch>
            <a:fillRect/>
          </a:stretch>
        </p:blipFill>
        <p:spPr>
          <a:xfrm>
            <a:off x="5372100" y="3808476"/>
            <a:ext cx="320040" cy="320040"/>
          </a:xfrm>
          <a:prstGeom prst="rect">
            <a:avLst/>
          </a:prstGeom>
        </p:spPr>
      </p:pic>
      <p:sp>
        <p:nvSpPr>
          <p:cNvPr id="19" name="Text 12"/>
          <p:cNvSpPr txBox="1"/>
          <p:nvPr/>
        </p:nvSpPr>
        <p:spPr>
          <a:xfrm>
            <a:off x="6126480" y="3465576"/>
            <a:ext cx="5148072" cy="1005840"/>
          </a:xfrm>
          <a:prstGeom prst="rect">
            <a:avLst/>
          </a:prstGeom>
          <a:noFill/>
          <a:ln/>
        </p:spPr>
        <p:txBody>
          <a:bodyPr wrap="square" lIns="0" tIns="0" rIns="0" bIns="0" rtlCol="0" anchor="ctr"/>
          <a:lstStyle/>
          <a:p>
            <a:pPr marL="0" indent="0">
              <a:buNone/>
            </a:pPr>
            <a:r>
              <a:rPr lang="en-US" sz="2000" dirty="0">
                <a:solidFill>
                  <a:srgbClr val="173243"/>
                </a:solidFill>
                <a:latin typeface="Calibri" pitchFamily="34" charset="0"/>
                <a:ea typeface="Calibri" pitchFamily="34" charset="-122"/>
                <a:cs typeface="Calibri" pitchFamily="34" charset="-120"/>
              </a:rPr>
              <a:t>The data does not control for distance, incident type or resource availability.</a:t>
            </a:r>
            <a:endParaRPr lang="en-US" sz="2000" dirty="0"/>
          </a:p>
        </p:txBody>
      </p:sp>
      <p:sp>
        <p:nvSpPr>
          <p:cNvPr id="20" name="Shape 13"/>
          <p:cNvSpPr/>
          <p:nvPr/>
        </p:nvSpPr>
        <p:spPr>
          <a:xfrm>
            <a:off x="4937760" y="4672584"/>
            <a:ext cx="6611112" cy="1005840"/>
          </a:xfrm>
          <a:prstGeom prst="roundRect">
            <a:avLst>
              <a:gd name="adj" fmla="val 10909"/>
            </a:avLst>
          </a:prstGeom>
          <a:solidFill>
            <a:srgbClr val="EDF3F4"/>
          </a:solidFill>
          <a:ln w="12700">
            <a:solidFill>
              <a:srgbClr val="EDF3F4"/>
            </a:solidFill>
            <a:prstDash val="solid"/>
          </a:ln>
        </p:spPr>
      </p:sp>
      <p:sp>
        <p:nvSpPr>
          <p:cNvPr id="21" name="Shape 14"/>
          <p:cNvSpPr/>
          <p:nvPr/>
        </p:nvSpPr>
        <p:spPr>
          <a:xfrm>
            <a:off x="5212080" y="4855464"/>
            <a:ext cx="640080" cy="640080"/>
          </a:xfrm>
          <a:prstGeom prst="ellipse">
            <a:avLst/>
          </a:prstGeom>
          <a:solidFill>
            <a:srgbClr val="B85332"/>
          </a:solidFill>
          <a:ln w="12700">
            <a:solidFill>
              <a:srgbClr val="B85332"/>
            </a:solidFill>
            <a:prstDash val="solid"/>
          </a:ln>
        </p:spPr>
      </p:sp>
      <p:pic>
        <p:nvPicPr>
          <p:cNvPr id="22" name="Image 4" descr="preencoded.png"/>
          <p:cNvPicPr>
            <a:picLocks noChangeAspect="1"/>
          </p:cNvPicPr>
          <p:nvPr/>
        </p:nvPicPr>
        <p:blipFill>
          <a:blip r:embed="rId7"/>
          <a:stretch>
            <a:fillRect/>
          </a:stretch>
        </p:blipFill>
        <p:spPr>
          <a:xfrm>
            <a:off x="5372100" y="5015484"/>
            <a:ext cx="320040" cy="320040"/>
          </a:xfrm>
          <a:prstGeom prst="rect">
            <a:avLst/>
          </a:prstGeom>
        </p:spPr>
      </p:pic>
      <p:sp>
        <p:nvSpPr>
          <p:cNvPr id="23" name="Text 15"/>
          <p:cNvSpPr txBox="1"/>
          <p:nvPr/>
        </p:nvSpPr>
        <p:spPr>
          <a:xfrm>
            <a:off x="6126480" y="4672584"/>
            <a:ext cx="5148072" cy="1005840"/>
          </a:xfrm>
          <a:prstGeom prst="rect">
            <a:avLst/>
          </a:prstGeom>
          <a:noFill/>
          <a:ln/>
        </p:spPr>
        <p:txBody>
          <a:bodyPr wrap="square" lIns="0" tIns="0" rIns="0" bIns="0" rtlCol="0" anchor="ctr"/>
          <a:lstStyle/>
          <a:p>
            <a:pPr marL="0" indent="0">
              <a:buNone/>
            </a:pPr>
            <a:r>
              <a:rPr lang="en-US" sz="2000" dirty="0">
                <a:solidFill>
                  <a:srgbClr val="173243"/>
                </a:solidFill>
                <a:latin typeface="Calibri" pitchFamily="34" charset="0"/>
                <a:ea typeface="Calibri" pitchFamily="34" charset="-122"/>
                <a:cs typeface="Calibri" pitchFamily="34" charset="-120"/>
              </a:rPr>
              <a:t>Several vehicle records can belong to one incident.</a:t>
            </a:r>
            <a:endParaRPr lang="en-US" sz="2000" dirty="0"/>
          </a:p>
        </p:txBody>
      </p:sp>
      <p:pic>
        <p:nvPicPr>
          <p:cNvPr id="24" name="Imagen 23">
            <a:extLst>
              <a:ext uri="{FF2B5EF4-FFF2-40B4-BE49-F238E27FC236}">
                <a16:creationId xmlns:a16="http://schemas.microsoft.com/office/drawing/2014/main" id="{E468C320-0A16-DE59-C666-035765F93417}"/>
              </a:ext>
            </a:extLst>
          </p:cNvPr>
          <p:cNvPicPr>
            <a:picLocks noChangeAspect="1"/>
          </p:cNvPicPr>
          <p:nvPr/>
        </p:nvPicPr>
        <p:blipFill>
          <a:blip r:embed="rId8"/>
          <a:stretch>
            <a:fillRect/>
          </a:stretch>
        </p:blipFill>
        <p:spPr>
          <a:xfrm>
            <a:off x="0" y="-1"/>
            <a:ext cx="12372975" cy="70580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173243"/>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908792" cy="86868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Conclusion and next step</a:t>
            </a:r>
            <a:endParaRPr lang="en-US" sz="3600" dirty="0"/>
          </a:p>
        </p:txBody>
      </p:sp>
      <p:sp>
        <p:nvSpPr>
          <p:cNvPr id="4" name="Text 1"/>
          <p:cNvSpPr txBox="1"/>
          <p:nvPr/>
        </p:nvSpPr>
        <p:spPr>
          <a:xfrm>
            <a:off x="10881360" y="6355080"/>
            <a:ext cx="667512" cy="274320"/>
          </a:xfrm>
          <a:prstGeom prst="rect">
            <a:avLst/>
          </a:prstGeom>
          <a:noFill/>
          <a:ln/>
        </p:spPr>
        <p:txBody>
          <a:bodyPr wrap="square" lIns="0" tIns="0" rIns="0" bIns="0" rtlCol="0" anchor="ctr"/>
          <a:lstStyle/>
          <a:p>
            <a:pPr marL="0" indent="0" algn="r">
              <a:buNone/>
            </a:pPr>
            <a:r>
              <a:rPr lang="en-US" sz="1200" dirty="0">
                <a:solidFill>
                  <a:srgbClr val="B8E0DF"/>
                </a:solidFill>
                <a:latin typeface="Calibri" pitchFamily="34" charset="0"/>
                <a:ea typeface="Calibri" pitchFamily="34" charset="-122"/>
                <a:cs typeface="Calibri" pitchFamily="34" charset="-120"/>
              </a:rPr>
              <a:t>15</a:t>
            </a:r>
            <a:endParaRPr lang="en-US" sz="1200" dirty="0"/>
          </a:p>
        </p:txBody>
      </p:sp>
      <p:sp>
        <p:nvSpPr>
          <p:cNvPr id="5" name="Shape 2"/>
          <p:cNvSpPr/>
          <p:nvPr/>
        </p:nvSpPr>
        <p:spPr>
          <a:xfrm>
            <a:off x="640080" y="1600200"/>
            <a:ext cx="5349240" cy="2130552"/>
          </a:xfrm>
          <a:prstGeom prst="roundRect">
            <a:avLst>
              <a:gd name="adj" fmla="val 5150"/>
            </a:avLst>
          </a:prstGeom>
          <a:solidFill>
            <a:srgbClr val="21495D"/>
          </a:solidFill>
          <a:ln w="12700">
            <a:solidFill>
              <a:srgbClr val="21495D"/>
            </a:solidFill>
            <a:prstDash val="solid"/>
          </a:ln>
        </p:spPr>
      </p:sp>
      <p:sp>
        <p:nvSpPr>
          <p:cNvPr id="6" name="Shape 3"/>
          <p:cNvSpPr/>
          <p:nvPr/>
        </p:nvSpPr>
        <p:spPr>
          <a:xfrm>
            <a:off x="914400" y="2299716"/>
            <a:ext cx="731520" cy="731520"/>
          </a:xfrm>
          <a:prstGeom prst="ellipse">
            <a:avLst/>
          </a:prstGeom>
          <a:solidFill>
            <a:srgbClr val="147D85"/>
          </a:solidFill>
          <a:ln w="12700">
            <a:solidFill>
              <a:srgbClr val="147D85"/>
            </a:solidFill>
            <a:prstDash val="solid"/>
          </a:ln>
        </p:spPr>
      </p:sp>
      <p:pic>
        <p:nvPicPr>
          <p:cNvPr id="7" name="Image 0" descr="preencoded.png"/>
          <p:cNvPicPr>
            <a:picLocks noChangeAspect="1"/>
          </p:cNvPicPr>
          <p:nvPr/>
        </p:nvPicPr>
        <p:blipFill>
          <a:blip r:embed="rId3"/>
          <a:stretch>
            <a:fillRect/>
          </a:stretch>
        </p:blipFill>
        <p:spPr>
          <a:xfrm>
            <a:off x="1097280" y="2482596"/>
            <a:ext cx="365760" cy="365760"/>
          </a:xfrm>
          <a:prstGeom prst="rect">
            <a:avLst/>
          </a:prstGeom>
        </p:spPr>
      </p:pic>
      <p:sp>
        <p:nvSpPr>
          <p:cNvPr id="8" name="Text 4"/>
          <p:cNvSpPr txBox="1"/>
          <p:nvPr/>
        </p:nvSpPr>
        <p:spPr>
          <a:xfrm>
            <a:off x="1920240" y="1600200"/>
            <a:ext cx="3794760" cy="2130552"/>
          </a:xfrm>
          <a:prstGeom prst="rect">
            <a:avLst/>
          </a:prstGeom>
          <a:noFill/>
          <a:ln/>
        </p:spPr>
        <p:txBody>
          <a:bodyPr wrap="square" lIns="0" tIns="0" rIns="0" bIns="0" rtlCol="0" anchor="ctr"/>
          <a:lstStyle/>
          <a:p>
            <a:pPr marL="0" indent="0">
              <a:buNone/>
            </a:pPr>
            <a:r>
              <a:rPr lang="en-US" sz="2100" dirty="0">
                <a:solidFill>
                  <a:srgbClr val="FFFFFF"/>
                </a:solidFill>
                <a:latin typeface="Calibri" pitchFamily="34" charset="0"/>
                <a:ea typeface="Calibri" pitchFamily="34" charset="-122"/>
                <a:cs typeface="Calibri" pitchFamily="34" charset="-120"/>
              </a:rPr>
              <a:t>Prioritise districts and hours for investigation.</a:t>
            </a:r>
            <a:endParaRPr lang="en-US" sz="2100" dirty="0"/>
          </a:p>
        </p:txBody>
      </p:sp>
      <p:sp>
        <p:nvSpPr>
          <p:cNvPr id="9" name="Shape 5"/>
          <p:cNvSpPr/>
          <p:nvPr/>
        </p:nvSpPr>
        <p:spPr>
          <a:xfrm>
            <a:off x="6199632" y="1600200"/>
            <a:ext cx="5349240" cy="2130552"/>
          </a:xfrm>
          <a:prstGeom prst="roundRect">
            <a:avLst>
              <a:gd name="adj" fmla="val 5150"/>
            </a:avLst>
          </a:prstGeom>
          <a:solidFill>
            <a:srgbClr val="21495D"/>
          </a:solidFill>
          <a:ln w="12700">
            <a:solidFill>
              <a:srgbClr val="21495D"/>
            </a:solidFill>
            <a:prstDash val="solid"/>
          </a:ln>
        </p:spPr>
      </p:sp>
      <p:sp>
        <p:nvSpPr>
          <p:cNvPr id="10" name="Shape 6"/>
          <p:cNvSpPr/>
          <p:nvPr/>
        </p:nvSpPr>
        <p:spPr>
          <a:xfrm>
            <a:off x="6473952" y="2299716"/>
            <a:ext cx="731520" cy="731520"/>
          </a:xfrm>
          <a:prstGeom prst="ellipse">
            <a:avLst/>
          </a:prstGeom>
          <a:solidFill>
            <a:srgbClr val="147D85"/>
          </a:solidFill>
          <a:ln w="12700">
            <a:solidFill>
              <a:srgbClr val="147D85"/>
            </a:solidFill>
            <a:prstDash val="solid"/>
          </a:ln>
        </p:spPr>
      </p:sp>
      <p:pic>
        <p:nvPicPr>
          <p:cNvPr id="11" name="Image 1" descr="preencoded.png"/>
          <p:cNvPicPr>
            <a:picLocks noChangeAspect="1"/>
          </p:cNvPicPr>
          <p:nvPr/>
        </p:nvPicPr>
        <p:blipFill>
          <a:blip r:embed="rId4"/>
          <a:stretch>
            <a:fillRect/>
          </a:stretch>
        </p:blipFill>
        <p:spPr>
          <a:xfrm>
            <a:off x="6656832" y="2482596"/>
            <a:ext cx="365760" cy="365760"/>
          </a:xfrm>
          <a:prstGeom prst="rect">
            <a:avLst/>
          </a:prstGeom>
        </p:spPr>
      </p:pic>
      <p:sp>
        <p:nvSpPr>
          <p:cNvPr id="12" name="Text 7"/>
          <p:cNvSpPr txBox="1"/>
          <p:nvPr/>
        </p:nvSpPr>
        <p:spPr>
          <a:xfrm>
            <a:off x="7479792" y="1600200"/>
            <a:ext cx="3794760" cy="2130552"/>
          </a:xfrm>
          <a:prstGeom prst="rect">
            <a:avLst/>
          </a:prstGeom>
          <a:noFill/>
          <a:ln/>
        </p:spPr>
        <p:txBody>
          <a:bodyPr wrap="square" lIns="0" tIns="0" rIns="0" bIns="0" rtlCol="0" anchor="ctr"/>
          <a:lstStyle/>
          <a:p>
            <a:pPr marL="0" indent="0">
              <a:buNone/>
            </a:pPr>
            <a:r>
              <a:rPr lang="en-US" sz="2100" dirty="0">
                <a:solidFill>
                  <a:srgbClr val="FFFFFF"/>
                </a:solidFill>
                <a:latin typeface="Calibri" pitchFamily="34" charset="0"/>
                <a:ea typeface="Calibri" pitchFamily="34" charset="-122"/>
                <a:cs typeface="Calibri" pitchFamily="34" charset="-120"/>
              </a:rPr>
              <a:t>Check local context before changing resources.</a:t>
            </a:r>
            <a:endParaRPr lang="en-US" sz="2100" dirty="0"/>
          </a:p>
        </p:txBody>
      </p:sp>
      <p:sp>
        <p:nvSpPr>
          <p:cNvPr id="13" name="Shape 8"/>
          <p:cNvSpPr/>
          <p:nvPr/>
        </p:nvSpPr>
        <p:spPr>
          <a:xfrm>
            <a:off x="640080" y="3950208"/>
            <a:ext cx="5349240" cy="2130552"/>
          </a:xfrm>
          <a:prstGeom prst="roundRect">
            <a:avLst>
              <a:gd name="adj" fmla="val 5150"/>
            </a:avLst>
          </a:prstGeom>
          <a:solidFill>
            <a:srgbClr val="21495D"/>
          </a:solidFill>
          <a:ln w="12700">
            <a:solidFill>
              <a:srgbClr val="21495D"/>
            </a:solidFill>
            <a:prstDash val="solid"/>
          </a:ln>
        </p:spPr>
      </p:sp>
      <p:sp>
        <p:nvSpPr>
          <p:cNvPr id="14" name="Shape 9"/>
          <p:cNvSpPr/>
          <p:nvPr/>
        </p:nvSpPr>
        <p:spPr>
          <a:xfrm>
            <a:off x="914400" y="4649724"/>
            <a:ext cx="731520" cy="731520"/>
          </a:xfrm>
          <a:prstGeom prst="ellipse">
            <a:avLst/>
          </a:prstGeom>
          <a:solidFill>
            <a:srgbClr val="147D85"/>
          </a:solidFill>
          <a:ln w="12700">
            <a:solidFill>
              <a:srgbClr val="147D85"/>
            </a:solidFill>
            <a:prstDash val="solid"/>
          </a:ln>
        </p:spPr>
      </p:sp>
      <p:pic>
        <p:nvPicPr>
          <p:cNvPr id="15" name="Image 2" descr="preencoded.png"/>
          <p:cNvPicPr>
            <a:picLocks noChangeAspect="1"/>
          </p:cNvPicPr>
          <p:nvPr/>
        </p:nvPicPr>
        <p:blipFill>
          <a:blip r:embed="rId5"/>
          <a:stretch>
            <a:fillRect/>
          </a:stretch>
        </p:blipFill>
        <p:spPr>
          <a:xfrm>
            <a:off x="1097280" y="4832604"/>
            <a:ext cx="365760" cy="365760"/>
          </a:xfrm>
          <a:prstGeom prst="rect">
            <a:avLst/>
          </a:prstGeom>
        </p:spPr>
      </p:pic>
      <p:sp>
        <p:nvSpPr>
          <p:cNvPr id="16" name="Text 10"/>
          <p:cNvSpPr txBox="1"/>
          <p:nvPr/>
        </p:nvSpPr>
        <p:spPr>
          <a:xfrm>
            <a:off x="1920240" y="3950208"/>
            <a:ext cx="3794760" cy="2130552"/>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C2:</a:t>
            </a:r>
            <a:r>
              <a:rPr lang="en-US" sz="2100" dirty="0">
                <a:solidFill>
                  <a:srgbClr val="FFFFFF"/>
                </a:solidFill>
                <a:latin typeface="Calibri" pitchFamily="34" charset="0"/>
                <a:ea typeface="Calibri" pitchFamily="34" charset="-122"/>
                <a:cs typeface="Calibri" pitchFamily="34" charset="-120"/>
              </a:rPr>
              <a:t> compare a baseline with models using information available at dispatch.</a:t>
            </a:r>
            <a:endParaRPr lang="en-US" sz="2100" dirty="0"/>
          </a:p>
        </p:txBody>
      </p:sp>
      <p:sp>
        <p:nvSpPr>
          <p:cNvPr id="17" name="Shape 11"/>
          <p:cNvSpPr/>
          <p:nvPr/>
        </p:nvSpPr>
        <p:spPr>
          <a:xfrm>
            <a:off x="6199632" y="3950208"/>
            <a:ext cx="5349240" cy="2130552"/>
          </a:xfrm>
          <a:prstGeom prst="roundRect">
            <a:avLst>
              <a:gd name="adj" fmla="val 5150"/>
            </a:avLst>
          </a:prstGeom>
          <a:solidFill>
            <a:srgbClr val="21495D"/>
          </a:solidFill>
          <a:ln w="12700">
            <a:solidFill>
              <a:srgbClr val="21495D"/>
            </a:solidFill>
            <a:prstDash val="solid"/>
          </a:ln>
        </p:spPr>
      </p:sp>
      <p:sp>
        <p:nvSpPr>
          <p:cNvPr id="18" name="Shape 12"/>
          <p:cNvSpPr/>
          <p:nvPr/>
        </p:nvSpPr>
        <p:spPr>
          <a:xfrm>
            <a:off x="6473952" y="4649724"/>
            <a:ext cx="731520" cy="731520"/>
          </a:xfrm>
          <a:prstGeom prst="ellipse">
            <a:avLst/>
          </a:prstGeom>
          <a:solidFill>
            <a:srgbClr val="147D85"/>
          </a:solidFill>
          <a:ln w="12700">
            <a:solidFill>
              <a:srgbClr val="147D85"/>
            </a:solidFill>
            <a:prstDash val="solid"/>
          </a:ln>
        </p:spPr>
      </p:sp>
      <p:pic>
        <p:nvPicPr>
          <p:cNvPr id="19" name="Image 3" descr="preencoded.png"/>
          <p:cNvPicPr>
            <a:picLocks noChangeAspect="1"/>
          </p:cNvPicPr>
          <p:nvPr/>
        </p:nvPicPr>
        <p:blipFill>
          <a:blip r:embed="rId6"/>
          <a:stretch>
            <a:fillRect/>
          </a:stretch>
        </p:blipFill>
        <p:spPr>
          <a:xfrm>
            <a:off x="6656832" y="4832604"/>
            <a:ext cx="365760" cy="365760"/>
          </a:xfrm>
          <a:prstGeom prst="rect">
            <a:avLst/>
          </a:prstGeom>
        </p:spPr>
      </p:pic>
      <p:sp>
        <p:nvSpPr>
          <p:cNvPr id="20" name="Text 13"/>
          <p:cNvSpPr txBox="1"/>
          <p:nvPr/>
        </p:nvSpPr>
        <p:spPr>
          <a:xfrm>
            <a:off x="7479792" y="3950208"/>
            <a:ext cx="3794760" cy="2130552"/>
          </a:xfrm>
          <a:prstGeom prst="rect">
            <a:avLst/>
          </a:prstGeom>
          <a:noFill/>
          <a:ln/>
        </p:spPr>
        <p:txBody>
          <a:bodyPr wrap="square" lIns="0" tIns="0" rIns="0" bIns="0" rtlCol="0" anchor="ctr"/>
          <a:lstStyle/>
          <a:p>
            <a:pPr marL="0" indent="0">
              <a:buNone/>
            </a:pPr>
            <a:r>
              <a:rPr lang="en-US" sz="2100" dirty="0">
                <a:solidFill>
                  <a:srgbClr val="FFFFFF"/>
                </a:solidFill>
                <a:latin typeface="Calibri" pitchFamily="34" charset="0"/>
                <a:ea typeface="Calibri" pitchFamily="34" charset="-122"/>
                <a:cs typeface="Calibri" pitchFamily="34" charset="-120"/>
              </a:rPr>
              <a:t>Use C1 feedback to improve the next stage.</a:t>
            </a:r>
            <a:endParaRPr lang="en-US" sz="2100" dirty="0"/>
          </a:p>
        </p:txBody>
      </p:sp>
      <p:pic>
        <p:nvPicPr>
          <p:cNvPr id="21" name="Imagen 20">
            <a:extLst>
              <a:ext uri="{FF2B5EF4-FFF2-40B4-BE49-F238E27FC236}">
                <a16:creationId xmlns:a16="http://schemas.microsoft.com/office/drawing/2014/main" id="{9FA9E22E-F3A0-8A2A-7E52-779CC6B12950}"/>
              </a:ext>
            </a:extLst>
          </p:cNvPr>
          <p:cNvPicPr>
            <a:picLocks noChangeAspect="1"/>
          </p:cNvPicPr>
          <p:nvPr/>
        </p:nvPicPr>
        <p:blipFill>
          <a:blip r:embed="rId7"/>
          <a:stretch>
            <a:fillRect/>
          </a:stretch>
        </p:blipFill>
        <p:spPr>
          <a:xfrm>
            <a:off x="0" y="0"/>
            <a:ext cx="12382500" cy="70294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908792" cy="868680"/>
          </a:xfrm>
          <a:prstGeom prst="rect">
            <a:avLst/>
          </a:prstGeom>
          <a:noFill/>
          <a:ln/>
        </p:spPr>
        <p:txBody>
          <a:bodyPr wrap="square" lIns="0" tIns="0" rIns="0" bIns="0" rtlCol="0" anchor="ctr"/>
          <a:lstStyle/>
          <a:p>
            <a:pPr marL="0" indent="0">
              <a:buNone/>
            </a:pPr>
            <a:r>
              <a:rPr lang="en-US" sz="3600" b="1" dirty="0">
                <a:solidFill>
                  <a:srgbClr val="173243"/>
                </a:solidFill>
                <a:latin typeface="Cambria" pitchFamily="34" charset="0"/>
                <a:ea typeface="Cambria" pitchFamily="34" charset="-122"/>
                <a:cs typeface="Cambria" pitchFamily="34" charset="-120"/>
              </a:rPr>
              <a:t>Reproducibility and AI use</a:t>
            </a:r>
            <a:endParaRPr lang="en-US" sz="3600" dirty="0"/>
          </a:p>
        </p:txBody>
      </p:sp>
      <p:sp>
        <p:nvSpPr>
          <p:cNvPr id="4" name="Text 1"/>
          <p:cNvSpPr txBox="1"/>
          <p:nvPr/>
        </p:nvSpPr>
        <p:spPr>
          <a:xfrm>
            <a:off x="10881360" y="6355080"/>
            <a:ext cx="667512" cy="274320"/>
          </a:xfrm>
          <a:prstGeom prst="rect">
            <a:avLst/>
          </a:prstGeom>
          <a:noFill/>
          <a:ln/>
        </p:spPr>
        <p:txBody>
          <a:bodyPr wrap="square" lIns="0" tIns="0" rIns="0" bIns="0" rtlCol="0" anchor="ctr"/>
          <a:lstStyle/>
          <a:p>
            <a:pPr marL="0" indent="0" algn="r">
              <a:buNone/>
            </a:pPr>
            <a:r>
              <a:rPr lang="en-US" sz="1200" dirty="0">
                <a:solidFill>
                  <a:srgbClr val="52636D"/>
                </a:solidFill>
                <a:latin typeface="Calibri" pitchFamily="34" charset="0"/>
                <a:ea typeface="Calibri" pitchFamily="34" charset="-122"/>
                <a:cs typeface="Calibri" pitchFamily="34" charset="-120"/>
              </a:rPr>
              <a:t>16</a:t>
            </a:r>
            <a:endParaRPr lang="en-US" sz="1200" dirty="0"/>
          </a:p>
        </p:txBody>
      </p:sp>
      <p:sp>
        <p:nvSpPr>
          <p:cNvPr id="5" name="Shape 2"/>
          <p:cNvSpPr/>
          <p:nvPr/>
        </p:nvSpPr>
        <p:spPr>
          <a:xfrm>
            <a:off x="640080" y="1600200"/>
            <a:ext cx="5349240" cy="4434840"/>
          </a:xfrm>
          <a:prstGeom prst="roundRect">
            <a:avLst>
              <a:gd name="adj" fmla="val 2474"/>
            </a:avLst>
          </a:prstGeom>
          <a:solidFill>
            <a:srgbClr val="EDF3F4"/>
          </a:solidFill>
          <a:ln w="12700">
            <a:solidFill>
              <a:srgbClr val="EDF3F4"/>
            </a:solidFill>
            <a:prstDash val="solid"/>
          </a:ln>
        </p:spPr>
      </p:sp>
      <p:sp>
        <p:nvSpPr>
          <p:cNvPr id="6" name="Shape 3"/>
          <p:cNvSpPr/>
          <p:nvPr/>
        </p:nvSpPr>
        <p:spPr>
          <a:xfrm>
            <a:off x="960120" y="2331720"/>
            <a:ext cx="822960" cy="822960"/>
          </a:xfrm>
          <a:prstGeom prst="ellipse">
            <a:avLst/>
          </a:prstGeom>
          <a:solidFill>
            <a:srgbClr val="147D85"/>
          </a:solidFill>
          <a:ln w="12700">
            <a:solidFill>
              <a:srgbClr val="147D85"/>
            </a:solidFill>
            <a:prstDash val="solid"/>
          </a:ln>
        </p:spPr>
      </p:sp>
      <p:pic>
        <p:nvPicPr>
          <p:cNvPr id="7" name="Image 0" descr="preencoded.png"/>
          <p:cNvPicPr>
            <a:picLocks noChangeAspect="1"/>
          </p:cNvPicPr>
          <p:nvPr/>
        </p:nvPicPr>
        <p:blipFill>
          <a:blip r:embed="rId3"/>
          <a:stretch>
            <a:fillRect/>
          </a:stretch>
        </p:blipFill>
        <p:spPr>
          <a:xfrm>
            <a:off x="1165860" y="2537460"/>
            <a:ext cx="411480" cy="411480"/>
          </a:xfrm>
          <a:prstGeom prst="rect">
            <a:avLst/>
          </a:prstGeom>
        </p:spPr>
      </p:pic>
      <p:sp>
        <p:nvSpPr>
          <p:cNvPr id="8" name="Text 4"/>
          <p:cNvSpPr txBox="1"/>
          <p:nvPr/>
        </p:nvSpPr>
        <p:spPr>
          <a:xfrm>
            <a:off x="2057400" y="1965960"/>
            <a:ext cx="3657600" cy="1554480"/>
          </a:xfrm>
          <a:prstGeom prst="rect">
            <a:avLst/>
          </a:prstGeom>
          <a:noFill/>
          <a:ln/>
        </p:spPr>
        <p:txBody>
          <a:bodyPr wrap="square" lIns="0" tIns="0" rIns="0" bIns="0" rtlCol="0" anchor="ctr"/>
          <a:lstStyle/>
          <a:p>
            <a:pPr marL="0" indent="0">
              <a:buNone/>
            </a:pPr>
            <a:r>
              <a:rPr lang="en-US" sz="1900" dirty="0">
                <a:solidFill>
                  <a:srgbClr val="173243"/>
                </a:solidFill>
                <a:latin typeface="Calibri" pitchFamily="34" charset="0"/>
                <a:ea typeface="Calibri" pitchFamily="34" charset="-122"/>
                <a:cs typeface="Calibri" pitchFamily="34" charset="-120"/>
              </a:rPr>
              <a:t>GitHub contains the code, notebook, results and documentation.</a:t>
            </a:r>
            <a:endParaRPr lang="en-US" sz="1900" dirty="0"/>
          </a:p>
        </p:txBody>
      </p:sp>
      <p:sp>
        <p:nvSpPr>
          <p:cNvPr id="9" name="Shape 5"/>
          <p:cNvSpPr/>
          <p:nvPr/>
        </p:nvSpPr>
        <p:spPr>
          <a:xfrm>
            <a:off x="960120" y="4343400"/>
            <a:ext cx="822960" cy="822960"/>
          </a:xfrm>
          <a:prstGeom prst="ellipse">
            <a:avLst/>
          </a:prstGeom>
          <a:solidFill>
            <a:srgbClr val="147D85"/>
          </a:solidFill>
          <a:ln w="12700">
            <a:solidFill>
              <a:srgbClr val="147D85"/>
            </a:solidFill>
            <a:prstDash val="solid"/>
          </a:ln>
        </p:spPr>
      </p:sp>
      <p:pic>
        <p:nvPicPr>
          <p:cNvPr id="10" name="Image 1" descr="preencoded.png"/>
          <p:cNvPicPr>
            <a:picLocks noChangeAspect="1"/>
          </p:cNvPicPr>
          <p:nvPr/>
        </p:nvPicPr>
        <p:blipFill>
          <a:blip r:embed="rId4"/>
          <a:stretch>
            <a:fillRect/>
          </a:stretch>
        </p:blipFill>
        <p:spPr>
          <a:xfrm>
            <a:off x="1165860" y="4549140"/>
            <a:ext cx="411480" cy="411480"/>
          </a:xfrm>
          <a:prstGeom prst="rect">
            <a:avLst/>
          </a:prstGeom>
        </p:spPr>
      </p:pic>
      <p:sp>
        <p:nvSpPr>
          <p:cNvPr id="11" name="Text 6"/>
          <p:cNvSpPr txBox="1"/>
          <p:nvPr/>
        </p:nvSpPr>
        <p:spPr>
          <a:xfrm>
            <a:off x="2057400" y="3977640"/>
            <a:ext cx="3657600" cy="1554480"/>
          </a:xfrm>
          <a:prstGeom prst="rect">
            <a:avLst/>
          </a:prstGeom>
          <a:noFill/>
          <a:ln/>
        </p:spPr>
        <p:txBody>
          <a:bodyPr wrap="square" lIns="0" tIns="0" rIns="0" bIns="0" rtlCol="0" anchor="ctr"/>
          <a:lstStyle/>
          <a:p>
            <a:pPr marL="0" indent="0">
              <a:buNone/>
            </a:pPr>
            <a:r>
              <a:rPr lang="en-US" sz="1900" dirty="0">
                <a:solidFill>
                  <a:srgbClr val="173243"/>
                </a:solidFill>
                <a:latin typeface="Calibri" pitchFamily="34" charset="0"/>
                <a:ea typeface="Calibri" pitchFamily="34" charset="-122"/>
                <a:cs typeface="Calibri" pitchFamily="34" charset="-120"/>
              </a:rPr>
              <a:t>The source manifest records download details and file hashes.</a:t>
            </a:r>
            <a:endParaRPr lang="en-US" sz="1900" dirty="0"/>
          </a:p>
        </p:txBody>
      </p:sp>
      <p:sp>
        <p:nvSpPr>
          <p:cNvPr id="12" name="Shape 7"/>
          <p:cNvSpPr/>
          <p:nvPr/>
        </p:nvSpPr>
        <p:spPr>
          <a:xfrm>
            <a:off x="6199632" y="1600200"/>
            <a:ext cx="5349240" cy="4434840"/>
          </a:xfrm>
          <a:prstGeom prst="roundRect">
            <a:avLst>
              <a:gd name="adj" fmla="val 2474"/>
            </a:avLst>
          </a:prstGeom>
          <a:solidFill>
            <a:srgbClr val="EDF3F4"/>
          </a:solidFill>
          <a:ln w="12700">
            <a:solidFill>
              <a:srgbClr val="EDF3F4"/>
            </a:solidFill>
            <a:prstDash val="solid"/>
          </a:ln>
        </p:spPr>
      </p:sp>
      <p:sp>
        <p:nvSpPr>
          <p:cNvPr id="13" name="Shape 8"/>
          <p:cNvSpPr/>
          <p:nvPr/>
        </p:nvSpPr>
        <p:spPr>
          <a:xfrm>
            <a:off x="6519672" y="2331720"/>
            <a:ext cx="822960" cy="822960"/>
          </a:xfrm>
          <a:prstGeom prst="ellipse">
            <a:avLst/>
          </a:prstGeom>
          <a:solidFill>
            <a:srgbClr val="B85332"/>
          </a:solidFill>
          <a:ln w="12700">
            <a:solidFill>
              <a:srgbClr val="B85332"/>
            </a:solidFill>
            <a:prstDash val="solid"/>
          </a:ln>
        </p:spPr>
      </p:sp>
      <p:pic>
        <p:nvPicPr>
          <p:cNvPr id="14" name="Image 2" descr="preencoded.png"/>
          <p:cNvPicPr>
            <a:picLocks noChangeAspect="1"/>
          </p:cNvPicPr>
          <p:nvPr/>
        </p:nvPicPr>
        <p:blipFill>
          <a:blip r:embed="rId5"/>
          <a:stretch>
            <a:fillRect/>
          </a:stretch>
        </p:blipFill>
        <p:spPr>
          <a:xfrm>
            <a:off x="6725412" y="2537460"/>
            <a:ext cx="411480" cy="411480"/>
          </a:xfrm>
          <a:prstGeom prst="rect">
            <a:avLst/>
          </a:prstGeom>
        </p:spPr>
      </p:pic>
      <p:sp>
        <p:nvSpPr>
          <p:cNvPr id="15" name="Text 9"/>
          <p:cNvSpPr txBox="1"/>
          <p:nvPr/>
        </p:nvSpPr>
        <p:spPr>
          <a:xfrm>
            <a:off x="7616952" y="1965960"/>
            <a:ext cx="3657600" cy="1554480"/>
          </a:xfrm>
          <a:prstGeom prst="rect">
            <a:avLst/>
          </a:prstGeom>
          <a:noFill/>
          <a:ln/>
        </p:spPr>
        <p:txBody>
          <a:bodyPr wrap="square" lIns="0" tIns="0" rIns="0" bIns="0" rtlCol="0" anchor="ctr"/>
          <a:lstStyle/>
          <a:p>
            <a:pPr marL="0" indent="0">
              <a:buNone/>
            </a:pPr>
            <a:r>
              <a:rPr lang="en-US" sz="1900" dirty="0">
                <a:solidFill>
                  <a:srgbClr val="173243"/>
                </a:solidFill>
                <a:latin typeface="Calibri" pitchFamily="34" charset="0"/>
                <a:ea typeface="Calibri" pitchFamily="34" charset="-122"/>
                <a:cs typeface="Calibri" pitchFamily="34" charset="-120"/>
              </a:rPr>
              <a:t>AI supported the code and analytical preparation.</a:t>
            </a:r>
            <a:endParaRPr lang="en-US" sz="1900" dirty="0"/>
          </a:p>
        </p:txBody>
      </p:sp>
      <p:sp>
        <p:nvSpPr>
          <p:cNvPr id="16" name="Shape 10"/>
          <p:cNvSpPr/>
          <p:nvPr/>
        </p:nvSpPr>
        <p:spPr>
          <a:xfrm>
            <a:off x="6519672" y="4343400"/>
            <a:ext cx="822960" cy="822960"/>
          </a:xfrm>
          <a:prstGeom prst="ellipse">
            <a:avLst/>
          </a:prstGeom>
          <a:solidFill>
            <a:srgbClr val="B85332"/>
          </a:solidFill>
          <a:ln w="12700">
            <a:solidFill>
              <a:srgbClr val="B85332"/>
            </a:solidFill>
            <a:prstDash val="solid"/>
          </a:ln>
        </p:spPr>
      </p:sp>
      <p:pic>
        <p:nvPicPr>
          <p:cNvPr id="17" name="Image 3" descr="preencoded.png"/>
          <p:cNvPicPr>
            <a:picLocks noChangeAspect="1"/>
          </p:cNvPicPr>
          <p:nvPr/>
        </p:nvPicPr>
        <p:blipFill>
          <a:blip r:embed="rId6"/>
          <a:stretch>
            <a:fillRect/>
          </a:stretch>
        </p:blipFill>
        <p:spPr>
          <a:xfrm>
            <a:off x="6725412" y="4549140"/>
            <a:ext cx="411480" cy="411480"/>
          </a:xfrm>
          <a:prstGeom prst="rect">
            <a:avLst/>
          </a:prstGeom>
        </p:spPr>
      </p:pic>
      <p:sp>
        <p:nvSpPr>
          <p:cNvPr id="18" name="Text 11"/>
          <p:cNvSpPr txBox="1"/>
          <p:nvPr/>
        </p:nvSpPr>
        <p:spPr>
          <a:xfrm>
            <a:off x="7616952" y="3977640"/>
            <a:ext cx="3657600" cy="1554480"/>
          </a:xfrm>
          <a:prstGeom prst="rect">
            <a:avLst/>
          </a:prstGeom>
          <a:noFill/>
          <a:ln/>
        </p:spPr>
        <p:txBody>
          <a:bodyPr wrap="square" lIns="0" tIns="0" rIns="0" bIns="0" rtlCol="0" anchor="ctr"/>
          <a:lstStyle/>
          <a:p>
            <a:pPr marL="0" indent="0">
              <a:buNone/>
            </a:pPr>
            <a:r>
              <a:rPr lang="en-US" sz="1900" dirty="0">
                <a:solidFill>
                  <a:srgbClr val="173243"/>
                </a:solidFill>
                <a:latin typeface="Calibri" pitchFamily="34" charset="0"/>
                <a:ea typeface="Calibri" pitchFamily="34" charset="-122"/>
                <a:cs typeface="Calibri" pitchFamily="34" charset="-120"/>
              </a:rPr>
              <a:t>Each student remains responsible for the submitted decisions and claims.</a:t>
            </a:r>
            <a:endParaRPr lang="en-US" sz="1900" dirty="0"/>
          </a:p>
        </p:txBody>
      </p:sp>
      <p:pic>
        <p:nvPicPr>
          <p:cNvPr id="19" name="Imagen 18">
            <a:extLst>
              <a:ext uri="{FF2B5EF4-FFF2-40B4-BE49-F238E27FC236}">
                <a16:creationId xmlns:a16="http://schemas.microsoft.com/office/drawing/2014/main" id="{6CE3B16E-4D30-2869-E5D2-F26DB224994F}"/>
              </a:ext>
            </a:extLst>
          </p:cNvPr>
          <p:cNvPicPr>
            <a:picLocks noChangeAspect="1"/>
          </p:cNvPicPr>
          <p:nvPr/>
        </p:nvPicPr>
        <p:blipFill>
          <a:blip r:embed="rId7"/>
          <a:stretch>
            <a:fillRect/>
          </a:stretch>
        </p:blipFill>
        <p:spPr>
          <a:xfrm>
            <a:off x="0" y="-1"/>
            <a:ext cx="12382500" cy="70199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908792" cy="868680"/>
          </a:xfrm>
          <a:prstGeom prst="rect">
            <a:avLst/>
          </a:prstGeom>
          <a:noFill/>
          <a:ln/>
        </p:spPr>
        <p:txBody>
          <a:bodyPr wrap="square" lIns="0" tIns="0" rIns="0" bIns="0" rtlCol="0" anchor="ctr"/>
          <a:lstStyle/>
          <a:p>
            <a:pPr marL="0" indent="0">
              <a:buNone/>
            </a:pPr>
            <a:r>
              <a:rPr lang="en-US" sz="3600" b="1" dirty="0">
                <a:solidFill>
                  <a:srgbClr val="173243"/>
                </a:solidFill>
                <a:latin typeface="Cambria" pitchFamily="34" charset="0"/>
                <a:ea typeface="Cambria" pitchFamily="34" charset="-122"/>
                <a:cs typeface="Cambria" pitchFamily="34" charset="-120"/>
              </a:rPr>
              <a:t>Backup: measurement and code</a:t>
            </a:r>
            <a:endParaRPr lang="en-US" sz="3600" dirty="0"/>
          </a:p>
        </p:txBody>
      </p:sp>
      <p:sp>
        <p:nvSpPr>
          <p:cNvPr id="4" name="Text 1"/>
          <p:cNvSpPr txBox="1"/>
          <p:nvPr/>
        </p:nvSpPr>
        <p:spPr>
          <a:xfrm>
            <a:off x="10881360" y="6355080"/>
            <a:ext cx="667512" cy="274320"/>
          </a:xfrm>
          <a:prstGeom prst="rect">
            <a:avLst/>
          </a:prstGeom>
          <a:noFill/>
          <a:ln/>
        </p:spPr>
        <p:txBody>
          <a:bodyPr wrap="square" lIns="0" tIns="0" rIns="0" bIns="0" rtlCol="0" anchor="ctr"/>
          <a:lstStyle/>
          <a:p>
            <a:pPr marL="0" indent="0" algn="r">
              <a:buNone/>
            </a:pPr>
            <a:r>
              <a:rPr lang="en-US" sz="1200" dirty="0">
                <a:solidFill>
                  <a:srgbClr val="52636D"/>
                </a:solidFill>
                <a:latin typeface="Calibri" pitchFamily="34" charset="0"/>
                <a:ea typeface="Calibri" pitchFamily="34" charset="-122"/>
                <a:cs typeface="Calibri" pitchFamily="34" charset="-120"/>
              </a:rPr>
              <a:t>17</a:t>
            </a:r>
            <a:endParaRPr lang="en-US" sz="1200" dirty="0"/>
          </a:p>
        </p:txBody>
      </p:sp>
      <p:sp>
        <p:nvSpPr>
          <p:cNvPr id="5" name="Shape 2"/>
          <p:cNvSpPr/>
          <p:nvPr/>
        </p:nvSpPr>
        <p:spPr>
          <a:xfrm>
            <a:off x="640080" y="1600200"/>
            <a:ext cx="5349240" cy="2130552"/>
          </a:xfrm>
          <a:prstGeom prst="roundRect">
            <a:avLst>
              <a:gd name="adj" fmla="val 5150"/>
            </a:avLst>
          </a:prstGeom>
          <a:solidFill>
            <a:srgbClr val="173243"/>
          </a:solidFill>
          <a:ln w="12700">
            <a:solidFill>
              <a:srgbClr val="173243"/>
            </a:solidFill>
            <a:prstDash val="solid"/>
          </a:ln>
        </p:spPr>
      </p:sp>
      <p:sp>
        <p:nvSpPr>
          <p:cNvPr id="6" name="Text 3"/>
          <p:cNvSpPr txBox="1"/>
          <p:nvPr/>
        </p:nvSpPr>
        <p:spPr>
          <a:xfrm>
            <a:off x="1005840" y="1600200"/>
            <a:ext cx="4617720" cy="2130552"/>
          </a:xfrm>
          <a:prstGeom prst="rect">
            <a:avLst/>
          </a:prstGeom>
          <a:noFill/>
          <a:ln/>
        </p:spPr>
        <p:txBody>
          <a:bodyPr wrap="square" lIns="0" tIns="0" rIns="0" bIns="0" rtlCol="0" anchor="ctr"/>
          <a:lstStyle/>
          <a:p>
            <a:pPr marL="0" indent="0">
              <a:buNone/>
            </a:pPr>
            <a:r>
              <a:rPr lang="en-US" sz="2000" b="1" dirty="0">
                <a:solidFill>
                  <a:srgbClr val="B8E0DF"/>
                </a:solidFill>
                <a:latin typeface="Courier New" pitchFamily="34" charset="0"/>
                <a:ea typeface="Courier New" pitchFamily="34" charset="-122"/>
                <a:cs typeface="Courier New" pitchFamily="34" charset="-120"/>
              </a:rPr>
              <a:t>pd.to_datetime():</a:t>
            </a:r>
            <a:endParaRPr lang="en-US" sz="2000" dirty="0"/>
          </a:p>
          <a:p>
            <a:pPr marL="0" indent="0">
              <a:buNone/>
            </a:pPr>
            <a:r>
              <a:rPr lang="en-US" sz="2000" dirty="0">
                <a:solidFill>
                  <a:srgbClr val="FFFFFF"/>
                </a:solidFill>
                <a:latin typeface="Calibri" pitchFamily="34" charset="0"/>
                <a:ea typeface="Calibri" pitchFamily="34" charset="-122"/>
                <a:cs typeface="Calibri" pitchFamily="34" charset="-120"/>
              </a:rPr>
              <a:t>convert text into dates and times.</a:t>
            </a:r>
            <a:endParaRPr lang="en-US" sz="2000" dirty="0"/>
          </a:p>
        </p:txBody>
      </p:sp>
      <p:sp>
        <p:nvSpPr>
          <p:cNvPr id="7" name="Shape 4"/>
          <p:cNvSpPr/>
          <p:nvPr/>
        </p:nvSpPr>
        <p:spPr>
          <a:xfrm>
            <a:off x="6199632" y="1600200"/>
            <a:ext cx="5349240" cy="2130552"/>
          </a:xfrm>
          <a:prstGeom prst="roundRect">
            <a:avLst>
              <a:gd name="adj" fmla="val 5150"/>
            </a:avLst>
          </a:prstGeom>
          <a:solidFill>
            <a:srgbClr val="173243"/>
          </a:solidFill>
          <a:ln w="12700">
            <a:solidFill>
              <a:srgbClr val="173243"/>
            </a:solidFill>
            <a:prstDash val="solid"/>
          </a:ln>
        </p:spPr>
      </p:sp>
      <p:sp>
        <p:nvSpPr>
          <p:cNvPr id="8" name="Text 5"/>
          <p:cNvSpPr txBox="1"/>
          <p:nvPr/>
        </p:nvSpPr>
        <p:spPr>
          <a:xfrm>
            <a:off x="6565392" y="1600200"/>
            <a:ext cx="4617720" cy="2130552"/>
          </a:xfrm>
          <a:prstGeom prst="rect">
            <a:avLst/>
          </a:prstGeom>
          <a:noFill/>
          <a:ln/>
        </p:spPr>
        <p:txBody>
          <a:bodyPr wrap="square" lIns="0" tIns="0" rIns="0" bIns="0" rtlCol="0" anchor="ctr"/>
          <a:lstStyle/>
          <a:p>
            <a:pPr marL="0" indent="0">
              <a:buNone/>
            </a:pPr>
            <a:r>
              <a:rPr lang="en-US" sz="2000" b="1" dirty="0">
                <a:solidFill>
                  <a:srgbClr val="B8E0DF"/>
                </a:solidFill>
                <a:latin typeface="Courier New" pitchFamily="34" charset="0"/>
                <a:ea typeface="Courier New" pitchFamily="34" charset="-122"/>
                <a:cs typeface="Courier New" pitchFamily="34" charset="-120"/>
              </a:rPr>
              <a:t>drop_duplicates():</a:t>
            </a:r>
            <a:endParaRPr lang="en-US" sz="2000" dirty="0"/>
          </a:p>
          <a:p>
            <a:pPr marL="0" indent="0">
              <a:buNone/>
            </a:pPr>
            <a:r>
              <a:rPr lang="en-US" sz="2000" dirty="0">
                <a:solidFill>
                  <a:srgbClr val="FFFFFF"/>
                </a:solidFill>
                <a:latin typeface="Calibri" pitchFamily="34" charset="0"/>
                <a:ea typeface="Calibri" pitchFamily="34" charset="-122"/>
                <a:cs typeface="Calibri" pitchFamily="34" charset="-120"/>
              </a:rPr>
              <a:t>remove repeated complete rows.</a:t>
            </a:r>
            <a:endParaRPr lang="en-US" sz="2000" dirty="0"/>
          </a:p>
        </p:txBody>
      </p:sp>
      <p:sp>
        <p:nvSpPr>
          <p:cNvPr id="9" name="Shape 6"/>
          <p:cNvSpPr/>
          <p:nvPr/>
        </p:nvSpPr>
        <p:spPr>
          <a:xfrm>
            <a:off x="640080" y="3950208"/>
            <a:ext cx="5349240" cy="2130552"/>
          </a:xfrm>
          <a:prstGeom prst="roundRect">
            <a:avLst>
              <a:gd name="adj" fmla="val 5150"/>
            </a:avLst>
          </a:prstGeom>
          <a:solidFill>
            <a:srgbClr val="173243"/>
          </a:solidFill>
          <a:ln w="12700">
            <a:solidFill>
              <a:srgbClr val="173243"/>
            </a:solidFill>
            <a:prstDash val="solid"/>
          </a:ln>
        </p:spPr>
      </p:sp>
      <p:sp>
        <p:nvSpPr>
          <p:cNvPr id="10" name="Text 7"/>
          <p:cNvSpPr txBox="1"/>
          <p:nvPr/>
        </p:nvSpPr>
        <p:spPr>
          <a:xfrm>
            <a:off x="1005840" y="3950208"/>
            <a:ext cx="4617720" cy="2130552"/>
          </a:xfrm>
          <a:prstGeom prst="rect">
            <a:avLst/>
          </a:prstGeom>
          <a:noFill/>
          <a:ln/>
        </p:spPr>
        <p:txBody>
          <a:bodyPr wrap="square" lIns="0" tIns="0" rIns="0" bIns="0" rtlCol="0" anchor="ctr"/>
          <a:lstStyle/>
          <a:p>
            <a:pPr marL="0" indent="0">
              <a:buNone/>
            </a:pPr>
            <a:r>
              <a:rPr lang="en-US" sz="2000" b="1" dirty="0">
                <a:solidFill>
                  <a:srgbClr val="B8E0DF"/>
                </a:solidFill>
                <a:latin typeface="Courier New" pitchFamily="34" charset="0"/>
                <a:ea typeface="Courier New" pitchFamily="34" charset="-122"/>
                <a:cs typeface="Courier New" pitchFamily="34" charset="-120"/>
              </a:rPr>
              <a:t>groupby():</a:t>
            </a:r>
            <a:endParaRPr lang="en-US" sz="2000" dirty="0"/>
          </a:p>
          <a:p>
            <a:pPr marL="0" indent="0">
              <a:buNone/>
            </a:pPr>
            <a:r>
              <a:rPr lang="en-US" sz="2000" dirty="0">
                <a:solidFill>
                  <a:srgbClr val="FFFFFF"/>
                </a:solidFill>
                <a:latin typeface="Calibri" pitchFamily="34" charset="0"/>
                <a:ea typeface="Calibri" pitchFamily="34" charset="-122"/>
                <a:cs typeface="Calibri" pitchFamily="34" charset="-120"/>
              </a:rPr>
              <a:t>calculate results separately for each group.</a:t>
            </a:r>
            <a:endParaRPr lang="en-US" sz="2000" dirty="0"/>
          </a:p>
        </p:txBody>
      </p:sp>
      <p:sp>
        <p:nvSpPr>
          <p:cNvPr id="11" name="Shape 8"/>
          <p:cNvSpPr/>
          <p:nvPr/>
        </p:nvSpPr>
        <p:spPr>
          <a:xfrm>
            <a:off x="6199632" y="3950208"/>
            <a:ext cx="5349240" cy="2130552"/>
          </a:xfrm>
          <a:prstGeom prst="roundRect">
            <a:avLst>
              <a:gd name="adj" fmla="val 5150"/>
            </a:avLst>
          </a:prstGeom>
          <a:solidFill>
            <a:srgbClr val="173243"/>
          </a:solidFill>
          <a:ln w="12700">
            <a:solidFill>
              <a:srgbClr val="173243"/>
            </a:solidFill>
            <a:prstDash val="solid"/>
          </a:ln>
        </p:spPr>
      </p:sp>
      <p:sp>
        <p:nvSpPr>
          <p:cNvPr id="12" name="Text 9"/>
          <p:cNvSpPr txBox="1"/>
          <p:nvPr/>
        </p:nvSpPr>
        <p:spPr>
          <a:xfrm>
            <a:off x="6565392" y="3950208"/>
            <a:ext cx="4617720" cy="2130552"/>
          </a:xfrm>
          <a:prstGeom prst="rect">
            <a:avLst/>
          </a:prstGeom>
          <a:noFill/>
          <a:ln/>
        </p:spPr>
        <p:txBody>
          <a:bodyPr wrap="square" lIns="0" tIns="0" rIns="0" bIns="0" rtlCol="0" anchor="ctr"/>
          <a:lstStyle/>
          <a:p>
            <a:pPr marL="0" indent="0">
              <a:buNone/>
            </a:pPr>
            <a:r>
              <a:rPr lang="en-US" sz="2000" b="1" dirty="0">
                <a:solidFill>
                  <a:srgbClr val="B8E0DF"/>
                </a:solidFill>
                <a:latin typeface="Courier New" pitchFamily="34" charset="0"/>
                <a:ea typeface="Courier New" pitchFamily="34" charset="-122"/>
                <a:cs typeface="Courier New" pitchFamily="34" charset="-120"/>
              </a:rPr>
              <a:t>quantile(.9):</a:t>
            </a:r>
            <a:endParaRPr lang="en-US" sz="2000" dirty="0"/>
          </a:p>
          <a:p>
            <a:pPr marL="0" indent="0">
              <a:buNone/>
            </a:pPr>
            <a:r>
              <a:rPr lang="en-US" sz="1700" dirty="0">
                <a:solidFill>
                  <a:srgbClr val="FFFFFF"/>
                </a:solidFill>
                <a:latin typeface="Calibri" pitchFamily="34" charset="0"/>
                <a:ea typeface="Calibri" pitchFamily="34" charset="-122"/>
                <a:cs typeface="Calibri" pitchFamily="34" charset="-120"/>
              </a:rPr>
              <a:t>calculate P90.</a:t>
            </a:r>
            <a:endParaRPr lang="en-US" sz="2000" dirty="0"/>
          </a:p>
          <a:p>
            <a:pPr marL="0" indent="0">
              <a:buNone/>
            </a:pPr>
            <a:r>
              <a:rPr lang="en-US" sz="2000" b="1" dirty="0">
                <a:solidFill>
                  <a:srgbClr val="B8E0DF"/>
                </a:solidFill>
                <a:latin typeface="Courier New" pitchFamily="34" charset="0"/>
                <a:ea typeface="Courier New" pitchFamily="34" charset="-122"/>
                <a:cs typeface="Courier New" pitchFamily="34" charset="-120"/>
              </a:rPr>
              <a:t>assert:</a:t>
            </a:r>
            <a:endParaRPr lang="en-US" sz="2000" dirty="0"/>
          </a:p>
          <a:p>
            <a:pPr marL="0" indent="0">
              <a:buNone/>
            </a:pPr>
            <a:r>
              <a:rPr lang="en-US" sz="1700" dirty="0">
                <a:solidFill>
                  <a:srgbClr val="FFFFFF"/>
                </a:solidFill>
                <a:latin typeface="Calibri" pitchFamily="34" charset="0"/>
                <a:ea typeface="Calibri" pitchFamily="34" charset="-122"/>
                <a:cs typeface="Calibri" pitchFamily="34" charset="-120"/>
              </a:rPr>
              <a:t>stop if a required check fails.</a:t>
            </a:r>
            <a:endParaRPr lang="en-US" sz="2000" dirty="0"/>
          </a:p>
        </p:txBody>
      </p:sp>
      <p:pic>
        <p:nvPicPr>
          <p:cNvPr id="13" name="Imagen 12">
            <a:extLst>
              <a:ext uri="{FF2B5EF4-FFF2-40B4-BE49-F238E27FC236}">
                <a16:creationId xmlns:a16="http://schemas.microsoft.com/office/drawing/2014/main" id="{1F34960D-5F90-A3BF-5A0B-19D149B17201}"/>
              </a:ext>
            </a:extLst>
          </p:cNvPr>
          <p:cNvPicPr>
            <a:picLocks noChangeAspect="1"/>
          </p:cNvPicPr>
          <p:nvPr/>
        </p:nvPicPr>
        <p:blipFill>
          <a:blip r:embed="rId3"/>
          <a:stretch>
            <a:fillRect/>
          </a:stretch>
        </p:blipFill>
        <p:spPr>
          <a:xfrm>
            <a:off x="0" y="0"/>
            <a:ext cx="12382500" cy="70294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908792" cy="868680"/>
          </a:xfrm>
          <a:prstGeom prst="rect">
            <a:avLst/>
          </a:prstGeom>
          <a:noFill/>
          <a:ln/>
        </p:spPr>
        <p:txBody>
          <a:bodyPr wrap="square" lIns="0" tIns="0" rIns="0" bIns="0" rtlCol="0" anchor="ctr"/>
          <a:lstStyle/>
          <a:p>
            <a:pPr marL="0" indent="0">
              <a:buNone/>
            </a:pPr>
            <a:r>
              <a:rPr lang="en-US" sz="3600" b="1" dirty="0">
                <a:solidFill>
                  <a:srgbClr val="173243"/>
                </a:solidFill>
                <a:latin typeface="Cambria" pitchFamily="34" charset="0"/>
                <a:ea typeface="Cambria" pitchFamily="34" charset="-122"/>
                <a:cs typeface="Cambria" pitchFamily="34" charset="-120"/>
              </a:rPr>
              <a:t>Backup: yearly summaries</a:t>
            </a:r>
            <a:endParaRPr lang="en-US" sz="3600" dirty="0"/>
          </a:p>
        </p:txBody>
      </p:sp>
      <p:sp>
        <p:nvSpPr>
          <p:cNvPr id="4" name="Text 1"/>
          <p:cNvSpPr txBox="1"/>
          <p:nvPr/>
        </p:nvSpPr>
        <p:spPr>
          <a:xfrm>
            <a:off x="10881360" y="6355080"/>
            <a:ext cx="667512" cy="274320"/>
          </a:xfrm>
          <a:prstGeom prst="rect">
            <a:avLst/>
          </a:prstGeom>
          <a:noFill/>
          <a:ln/>
        </p:spPr>
        <p:txBody>
          <a:bodyPr wrap="square" lIns="0" tIns="0" rIns="0" bIns="0" rtlCol="0" anchor="ctr"/>
          <a:lstStyle/>
          <a:p>
            <a:pPr marL="0" indent="0" algn="r">
              <a:buNone/>
            </a:pPr>
            <a:r>
              <a:rPr lang="en-US" sz="1200" dirty="0">
                <a:solidFill>
                  <a:srgbClr val="52636D"/>
                </a:solidFill>
                <a:latin typeface="Calibri" pitchFamily="34" charset="0"/>
                <a:ea typeface="Calibri" pitchFamily="34" charset="-122"/>
                <a:cs typeface="Calibri" pitchFamily="34" charset="-120"/>
              </a:rPr>
              <a:t>18</a:t>
            </a:r>
            <a:endParaRPr lang="en-US" sz="1200" dirty="0"/>
          </a:p>
        </p:txBody>
      </p:sp>
      <p:sp>
        <p:nvSpPr>
          <p:cNvPr id="5" name="Shape 2"/>
          <p:cNvSpPr/>
          <p:nvPr/>
        </p:nvSpPr>
        <p:spPr>
          <a:xfrm>
            <a:off x="640080" y="1600200"/>
            <a:ext cx="5349240" cy="3383280"/>
          </a:xfrm>
          <a:prstGeom prst="roundRect">
            <a:avLst>
              <a:gd name="adj" fmla="val 3243"/>
            </a:avLst>
          </a:prstGeom>
          <a:solidFill>
            <a:srgbClr val="EDF3F4"/>
          </a:solidFill>
          <a:ln w="12700">
            <a:solidFill>
              <a:srgbClr val="EDF3F4"/>
            </a:solidFill>
            <a:prstDash val="solid"/>
          </a:ln>
        </p:spPr>
      </p:sp>
      <p:sp>
        <p:nvSpPr>
          <p:cNvPr id="6" name="Text 3"/>
          <p:cNvSpPr txBox="1"/>
          <p:nvPr/>
        </p:nvSpPr>
        <p:spPr>
          <a:xfrm>
            <a:off x="1005840" y="1828800"/>
            <a:ext cx="2743200" cy="320040"/>
          </a:xfrm>
          <a:prstGeom prst="rect">
            <a:avLst/>
          </a:prstGeom>
          <a:noFill/>
          <a:ln/>
        </p:spPr>
        <p:txBody>
          <a:bodyPr wrap="square" lIns="0" tIns="0" rIns="0" bIns="0" rtlCol="0" anchor="ctr"/>
          <a:lstStyle/>
          <a:p>
            <a:pPr marL="0" indent="0">
              <a:buNone/>
            </a:pPr>
            <a:r>
              <a:rPr lang="en-US" sz="1300" dirty="0">
                <a:solidFill>
                  <a:srgbClr val="52636D"/>
                </a:solidFill>
                <a:latin typeface="Calibri" pitchFamily="34" charset="0"/>
                <a:ea typeface="Calibri" pitchFamily="34" charset="-122"/>
                <a:cs typeface="Calibri" pitchFamily="34" charset="-120"/>
              </a:rPr>
              <a:t>Year</a:t>
            </a:r>
            <a:endParaRPr lang="en-US" sz="1300" dirty="0"/>
          </a:p>
        </p:txBody>
      </p:sp>
      <p:sp>
        <p:nvSpPr>
          <p:cNvPr id="7" name="Text 4"/>
          <p:cNvSpPr txBox="1"/>
          <p:nvPr/>
        </p:nvSpPr>
        <p:spPr>
          <a:xfrm>
            <a:off x="1005840" y="2194560"/>
            <a:ext cx="3657600" cy="822960"/>
          </a:xfrm>
          <a:prstGeom prst="rect">
            <a:avLst/>
          </a:prstGeom>
          <a:noFill/>
          <a:ln/>
        </p:spPr>
        <p:txBody>
          <a:bodyPr wrap="square" lIns="0" tIns="0" rIns="0" bIns="0" rtlCol="0" anchor="ctr"/>
          <a:lstStyle/>
          <a:p>
            <a:pPr marL="0" indent="0">
              <a:buNone/>
            </a:pPr>
            <a:r>
              <a:rPr lang="en-US" sz="4000" b="1" dirty="0">
                <a:solidFill>
                  <a:srgbClr val="173243"/>
                </a:solidFill>
                <a:latin typeface="Cambria" pitchFamily="34" charset="0"/>
                <a:ea typeface="Cambria" pitchFamily="34" charset="-122"/>
                <a:cs typeface="Cambria" pitchFamily="34" charset="-120"/>
              </a:rPr>
              <a:t>2023</a:t>
            </a:r>
            <a:endParaRPr lang="en-US" sz="4000" dirty="0"/>
          </a:p>
        </p:txBody>
      </p:sp>
      <p:sp>
        <p:nvSpPr>
          <p:cNvPr id="8" name="Text 5"/>
          <p:cNvSpPr txBox="1"/>
          <p:nvPr/>
        </p:nvSpPr>
        <p:spPr>
          <a:xfrm>
            <a:off x="1005840" y="3429000"/>
            <a:ext cx="1463040" cy="365760"/>
          </a:xfrm>
          <a:prstGeom prst="rect">
            <a:avLst/>
          </a:prstGeom>
          <a:noFill/>
          <a:ln/>
        </p:spPr>
        <p:txBody>
          <a:bodyPr wrap="square" lIns="0" tIns="0" rIns="0" bIns="0" rtlCol="0" anchor="ctr"/>
          <a:lstStyle/>
          <a:p>
            <a:pPr marL="0" indent="0">
              <a:buNone/>
            </a:pPr>
            <a:r>
              <a:rPr lang="en-US" sz="1300" dirty="0">
                <a:solidFill>
                  <a:srgbClr val="52636D"/>
                </a:solidFill>
                <a:latin typeface="Calibri" pitchFamily="34" charset="0"/>
                <a:ea typeface="Calibri" pitchFamily="34" charset="-122"/>
                <a:cs typeface="Calibri" pitchFamily="34" charset="-120"/>
              </a:rPr>
              <a:t>Eligible records</a:t>
            </a:r>
            <a:endParaRPr lang="en-US" sz="1300" dirty="0"/>
          </a:p>
        </p:txBody>
      </p:sp>
      <p:sp>
        <p:nvSpPr>
          <p:cNvPr id="9" name="Text 6"/>
          <p:cNvSpPr txBox="1"/>
          <p:nvPr/>
        </p:nvSpPr>
        <p:spPr>
          <a:xfrm>
            <a:off x="1005840" y="3840480"/>
            <a:ext cx="1463040" cy="685800"/>
          </a:xfrm>
          <a:prstGeom prst="rect">
            <a:avLst/>
          </a:prstGeom>
          <a:noFill/>
          <a:ln/>
        </p:spPr>
        <p:txBody>
          <a:bodyPr wrap="square" lIns="0" tIns="0" rIns="0" bIns="0" rtlCol="0" anchor="ctr"/>
          <a:lstStyle/>
          <a:p>
            <a:pPr marL="0" indent="0">
              <a:buNone/>
            </a:pPr>
            <a:r>
              <a:rPr lang="en-US" sz="2600" b="1" dirty="0">
                <a:solidFill>
                  <a:srgbClr val="173243"/>
                </a:solidFill>
                <a:latin typeface="Cambria" pitchFamily="34" charset="0"/>
                <a:ea typeface="Cambria" pitchFamily="34" charset="-122"/>
                <a:cs typeface="Cambria" pitchFamily="34" charset="-120"/>
              </a:rPr>
              <a:t>186,339</a:t>
            </a:r>
            <a:endParaRPr lang="en-US" sz="2600" dirty="0"/>
          </a:p>
        </p:txBody>
      </p:sp>
      <p:sp>
        <p:nvSpPr>
          <p:cNvPr id="10" name="Text 7"/>
          <p:cNvSpPr txBox="1"/>
          <p:nvPr/>
        </p:nvSpPr>
        <p:spPr>
          <a:xfrm>
            <a:off x="2542032" y="3429000"/>
            <a:ext cx="1463040" cy="365760"/>
          </a:xfrm>
          <a:prstGeom prst="rect">
            <a:avLst/>
          </a:prstGeom>
          <a:noFill/>
          <a:ln/>
        </p:spPr>
        <p:txBody>
          <a:bodyPr wrap="square" lIns="0" tIns="0" rIns="0" bIns="0" rtlCol="0" anchor="ctr"/>
          <a:lstStyle/>
          <a:p>
            <a:pPr marL="0" indent="0">
              <a:buNone/>
            </a:pPr>
            <a:r>
              <a:rPr lang="en-US" sz="1300" dirty="0">
                <a:solidFill>
                  <a:srgbClr val="52636D"/>
                </a:solidFill>
                <a:latin typeface="Calibri" pitchFamily="34" charset="0"/>
                <a:ea typeface="Calibri" pitchFamily="34" charset="-122"/>
                <a:cs typeface="Calibri" pitchFamily="34" charset="-120"/>
              </a:rPr>
              <a:t>Median (min)</a:t>
            </a:r>
            <a:endParaRPr lang="en-US" sz="1300" dirty="0"/>
          </a:p>
        </p:txBody>
      </p:sp>
      <p:sp>
        <p:nvSpPr>
          <p:cNvPr id="11" name="Text 8"/>
          <p:cNvSpPr txBox="1"/>
          <p:nvPr/>
        </p:nvSpPr>
        <p:spPr>
          <a:xfrm>
            <a:off x="2542032" y="3840480"/>
            <a:ext cx="1463040" cy="685800"/>
          </a:xfrm>
          <a:prstGeom prst="rect">
            <a:avLst/>
          </a:prstGeom>
          <a:noFill/>
          <a:ln/>
        </p:spPr>
        <p:txBody>
          <a:bodyPr wrap="square" lIns="0" tIns="0" rIns="0" bIns="0" rtlCol="0" anchor="ctr"/>
          <a:lstStyle/>
          <a:p>
            <a:pPr marL="0" indent="0">
              <a:buNone/>
            </a:pPr>
            <a:r>
              <a:rPr lang="en-US" sz="2600" b="1" dirty="0">
                <a:solidFill>
                  <a:srgbClr val="147D85"/>
                </a:solidFill>
                <a:latin typeface="Cambria" pitchFamily="34" charset="0"/>
                <a:ea typeface="Cambria" pitchFamily="34" charset="-122"/>
                <a:cs typeface="Cambria" pitchFamily="34" charset="-120"/>
              </a:rPr>
              <a:t>5.62</a:t>
            </a:r>
            <a:endParaRPr lang="en-US" sz="2600" dirty="0"/>
          </a:p>
        </p:txBody>
      </p:sp>
      <p:sp>
        <p:nvSpPr>
          <p:cNvPr id="12" name="Text 9"/>
          <p:cNvSpPr txBox="1"/>
          <p:nvPr/>
        </p:nvSpPr>
        <p:spPr>
          <a:xfrm>
            <a:off x="4078224" y="3429000"/>
            <a:ext cx="1463040" cy="365760"/>
          </a:xfrm>
          <a:prstGeom prst="rect">
            <a:avLst/>
          </a:prstGeom>
          <a:noFill/>
          <a:ln/>
        </p:spPr>
        <p:txBody>
          <a:bodyPr wrap="square" lIns="0" tIns="0" rIns="0" bIns="0" rtlCol="0" anchor="ctr"/>
          <a:lstStyle/>
          <a:p>
            <a:pPr marL="0" indent="0">
              <a:buNone/>
            </a:pPr>
            <a:r>
              <a:rPr lang="en-US" sz="1300" dirty="0">
                <a:solidFill>
                  <a:srgbClr val="52636D"/>
                </a:solidFill>
                <a:latin typeface="Calibri" pitchFamily="34" charset="0"/>
                <a:ea typeface="Calibri" pitchFamily="34" charset="-122"/>
                <a:cs typeface="Calibri" pitchFamily="34" charset="-120"/>
              </a:rPr>
              <a:t>P90 (min)</a:t>
            </a:r>
            <a:endParaRPr lang="en-US" sz="1300" dirty="0"/>
          </a:p>
        </p:txBody>
      </p:sp>
      <p:sp>
        <p:nvSpPr>
          <p:cNvPr id="13" name="Text 10"/>
          <p:cNvSpPr txBox="1"/>
          <p:nvPr/>
        </p:nvSpPr>
        <p:spPr>
          <a:xfrm>
            <a:off x="4078224" y="3840480"/>
            <a:ext cx="1463040" cy="685800"/>
          </a:xfrm>
          <a:prstGeom prst="rect">
            <a:avLst/>
          </a:prstGeom>
          <a:noFill/>
          <a:ln/>
        </p:spPr>
        <p:txBody>
          <a:bodyPr wrap="square" lIns="0" tIns="0" rIns="0" bIns="0" rtlCol="0" anchor="ctr"/>
          <a:lstStyle/>
          <a:p>
            <a:pPr marL="0" indent="0">
              <a:buNone/>
            </a:pPr>
            <a:r>
              <a:rPr lang="en-US" sz="2600" b="1" dirty="0">
                <a:solidFill>
                  <a:srgbClr val="B85332"/>
                </a:solidFill>
                <a:latin typeface="Cambria" pitchFamily="34" charset="0"/>
                <a:ea typeface="Cambria" pitchFamily="34" charset="-122"/>
                <a:cs typeface="Cambria" pitchFamily="34" charset="-120"/>
              </a:rPr>
              <a:t>9.17</a:t>
            </a:r>
            <a:endParaRPr lang="en-US" sz="2600" dirty="0"/>
          </a:p>
        </p:txBody>
      </p:sp>
      <p:sp>
        <p:nvSpPr>
          <p:cNvPr id="14" name="Shape 11"/>
          <p:cNvSpPr/>
          <p:nvPr/>
        </p:nvSpPr>
        <p:spPr>
          <a:xfrm>
            <a:off x="6199632" y="1600200"/>
            <a:ext cx="5349240" cy="3383280"/>
          </a:xfrm>
          <a:prstGeom prst="roundRect">
            <a:avLst>
              <a:gd name="adj" fmla="val 3243"/>
            </a:avLst>
          </a:prstGeom>
          <a:solidFill>
            <a:srgbClr val="EDF3F4"/>
          </a:solidFill>
          <a:ln w="12700">
            <a:solidFill>
              <a:srgbClr val="EDF3F4"/>
            </a:solidFill>
            <a:prstDash val="solid"/>
          </a:ln>
        </p:spPr>
      </p:sp>
      <p:sp>
        <p:nvSpPr>
          <p:cNvPr id="15" name="Text 12"/>
          <p:cNvSpPr txBox="1"/>
          <p:nvPr/>
        </p:nvSpPr>
        <p:spPr>
          <a:xfrm>
            <a:off x="6565392" y="1828800"/>
            <a:ext cx="2743200" cy="320040"/>
          </a:xfrm>
          <a:prstGeom prst="rect">
            <a:avLst/>
          </a:prstGeom>
          <a:noFill/>
          <a:ln/>
        </p:spPr>
        <p:txBody>
          <a:bodyPr wrap="square" lIns="0" tIns="0" rIns="0" bIns="0" rtlCol="0" anchor="ctr"/>
          <a:lstStyle/>
          <a:p>
            <a:pPr marL="0" indent="0">
              <a:buNone/>
            </a:pPr>
            <a:r>
              <a:rPr lang="en-US" sz="1300" dirty="0">
                <a:solidFill>
                  <a:srgbClr val="52636D"/>
                </a:solidFill>
                <a:latin typeface="Calibri" pitchFamily="34" charset="0"/>
                <a:ea typeface="Calibri" pitchFamily="34" charset="-122"/>
                <a:cs typeface="Calibri" pitchFamily="34" charset="-120"/>
              </a:rPr>
              <a:t>Year</a:t>
            </a:r>
            <a:endParaRPr lang="en-US" sz="1300" dirty="0"/>
          </a:p>
        </p:txBody>
      </p:sp>
      <p:sp>
        <p:nvSpPr>
          <p:cNvPr id="16" name="Text 13"/>
          <p:cNvSpPr txBox="1"/>
          <p:nvPr/>
        </p:nvSpPr>
        <p:spPr>
          <a:xfrm>
            <a:off x="6565392" y="2194560"/>
            <a:ext cx="3657600" cy="822960"/>
          </a:xfrm>
          <a:prstGeom prst="rect">
            <a:avLst/>
          </a:prstGeom>
          <a:noFill/>
          <a:ln/>
        </p:spPr>
        <p:txBody>
          <a:bodyPr wrap="square" lIns="0" tIns="0" rIns="0" bIns="0" rtlCol="0" anchor="ctr"/>
          <a:lstStyle/>
          <a:p>
            <a:pPr marL="0" indent="0">
              <a:buNone/>
            </a:pPr>
            <a:r>
              <a:rPr lang="en-US" sz="4000" b="1" dirty="0">
                <a:solidFill>
                  <a:srgbClr val="173243"/>
                </a:solidFill>
                <a:latin typeface="Cambria" pitchFamily="34" charset="0"/>
                <a:ea typeface="Cambria" pitchFamily="34" charset="-122"/>
                <a:cs typeface="Cambria" pitchFamily="34" charset="-120"/>
              </a:rPr>
              <a:t>2024</a:t>
            </a:r>
            <a:endParaRPr lang="en-US" sz="4000" dirty="0"/>
          </a:p>
        </p:txBody>
      </p:sp>
      <p:sp>
        <p:nvSpPr>
          <p:cNvPr id="17" name="Text 14"/>
          <p:cNvSpPr txBox="1"/>
          <p:nvPr/>
        </p:nvSpPr>
        <p:spPr>
          <a:xfrm>
            <a:off x="6565392" y="3429000"/>
            <a:ext cx="1463040" cy="365760"/>
          </a:xfrm>
          <a:prstGeom prst="rect">
            <a:avLst/>
          </a:prstGeom>
          <a:noFill/>
          <a:ln/>
        </p:spPr>
        <p:txBody>
          <a:bodyPr wrap="square" lIns="0" tIns="0" rIns="0" bIns="0" rtlCol="0" anchor="ctr"/>
          <a:lstStyle/>
          <a:p>
            <a:pPr marL="0" indent="0">
              <a:buNone/>
            </a:pPr>
            <a:r>
              <a:rPr lang="en-US" sz="1300" dirty="0">
                <a:solidFill>
                  <a:srgbClr val="52636D"/>
                </a:solidFill>
                <a:latin typeface="Calibri" pitchFamily="34" charset="0"/>
                <a:ea typeface="Calibri" pitchFamily="34" charset="-122"/>
                <a:cs typeface="Calibri" pitchFamily="34" charset="-120"/>
              </a:rPr>
              <a:t>Eligible records</a:t>
            </a:r>
            <a:endParaRPr lang="en-US" sz="1300" dirty="0"/>
          </a:p>
        </p:txBody>
      </p:sp>
      <p:sp>
        <p:nvSpPr>
          <p:cNvPr id="18" name="Text 15"/>
          <p:cNvSpPr txBox="1"/>
          <p:nvPr/>
        </p:nvSpPr>
        <p:spPr>
          <a:xfrm>
            <a:off x="6565392" y="3840480"/>
            <a:ext cx="1463040" cy="685800"/>
          </a:xfrm>
          <a:prstGeom prst="rect">
            <a:avLst/>
          </a:prstGeom>
          <a:noFill/>
          <a:ln/>
        </p:spPr>
        <p:txBody>
          <a:bodyPr wrap="square" lIns="0" tIns="0" rIns="0" bIns="0" rtlCol="0" anchor="ctr"/>
          <a:lstStyle/>
          <a:p>
            <a:pPr marL="0" indent="0">
              <a:buNone/>
            </a:pPr>
            <a:r>
              <a:rPr lang="en-US" sz="2600" b="1" dirty="0">
                <a:solidFill>
                  <a:srgbClr val="173243"/>
                </a:solidFill>
                <a:latin typeface="Cambria" pitchFamily="34" charset="0"/>
                <a:ea typeface="Cambria" pitchFamily="34" charset="-122"/>
                <a:cs typeface="Cambria" pitchFamily="34" charset="-120"/>
              </a:rPr>
              <a:t>198,288</a:t>
            </a:r>
            <a:endParaRPr lang="en-US" sz="2600" dirty="0"/>
          </a:p>
        </p:txBody>
      </p:sp>
      <p:sp>
        <p:nvSpPr>
          <p:cNvPr id="19" name="Text 16"/>
          <p:cNvSpPr txBox="1"/>
          <p:nvPr/>
        </p:nvSpPr>
        <p:spPr>
          <a:xfrm>
            <a:off x="8101584" y="3429000"/>
            <a:ext cx="1463040" cy="365760"/>
          </a:xfrm>
          <a:prstGeom prst="rect">
            <a:avLst/>
          </a:prstGeom>
          <a:noFill/>
          <a:ln/>
        </p:spPr>
        <p:txBody>
          <a:bodyPr wrap="square" lIns="0" tIns="0" rIns="0" bIns="0" rtlCol="0" anchor="ctr"/>
          <a:lstStyle/>
          <a:p>
            <a:pPr marL="0" indent="0">
              <a:buNone/>
            </a:pPr>
            <a:r>
              <a:rPr lang="en-US" sz="1300" dirty="0">
                <a:solidFill>
                  <a:srgbClr val="52636D"/>
                </a:solidFill>
                <a:latin typeface="Calibri" pitchFamily="34" charset="0"/>
                <a:ea typeface="Calibri" pitchFamily="34" charset="-122"/>
                <a:cs typeface="Calibri" pitchFamily="34" charset="-120"/>
              </a:rPr>
              <a:t>Median (min)</a:t>
            </a:r>
            <a:endParaRPr lang="en-US" sz="1300" dirty="0"/>
          </a:p>
        </p:txBody>
      </p:sp>
      <p:sp>
        <p:nvSpPr>
          <p:cNvPr id="20" name="Text 17"/>
          <p:cNvSpPr txBox="1"/>
          <p:nvPr/>
        </p:nvSpPr>
        <p:spPr>
          <a:xfrm>
            <a:off x="8101584" y="3840480"/>
            <a:ext cx="1463040" cy="685800"/>
          </a:xfrm>
          <a:prstGeom prst="rect">
            <a:avLst/>
          </a:prstGeom>
          <a:noFill/>
          <a:ln/>
        </p:spPr>
        <p:txBody>
          <a:bodyPr wrap="square" lIns="0" tIns="0" rIns="0" bIns="0" rtlCol="0" anchor="ctr"/>
          <a:lstStyle/>
          <a:p>
            <a:pPr marL="0" indent="0">
              <a:buNone/>
            </a:pPr>
            <a:r>
              <a:rPr lang="en-US" sz="2600" b="1" dirty="0">
                <a:solidFill>
                  <a:srgbClr val="147D85"/>
                </a:solidFill>
                <a:latin typeface="Cambria" pitchFamily="34" charset="0"/>
                <a:ea typeface="Cambria" pitchFamily="34" charset="-122"/>
                <a:cs typeface="Cambria" pitchFamily="34" charset="-120"/>
              </a:rPr>
              <a:t>5.68</a:t>
            </a:r>
            <a:endParaRPr lang="en-US" sz="2600" dirty="0"/>
          </a:p>
        </p:txBody>
      </p:sp>
      <p:sp>
        <p:nvSpPr>
          <p:cNvPr id="21" name="Text 18"/>
          <p:cNvSpPr txBox="1"/>
          <p:nvPr/>
        </p:nvSpPr>
        <p:spPr>
          <a:xfrm>
            <a:off x="9637776" y="3429000"/>
            <a:ext cx="1463040" cy="365760"/>
          </a:xfrm>
          <a:prstGeom prst="rect">
            <a:avLst/>
          </a:prstGeom>
          <a:noFill/>
          <a:ln/>
        </p:spPr>
        <p:txBody>
          <a:bodyPr wrap="square" lIns="0" tIns="0" rIns="0" bIns="0" rtlCol="0" anchor="ctr"/>
          <a:lstStyle/>
          <a:p>
            <a:pPr marL="0" indent="0">
              <a:buNone/>
            </a:pPr>
            <a:r>
              <a:rPr lang="en-US" sz="1300" dirty="0">
                <a:solidFill>
                  <a:srgbClr val="52636D"/>
                </a:solidFill>
                <a:latin typeface="Calibri" pitchFamily="34" charset="0"/>
                <a:ea typeface="Calibri" pitchFamily="34" charset="-122"/>
                <a:cs typeface="Calibri" pitchFamily="34" charset="-120"/>
              </a:rPr>
              <a:t>P90 (min)</a:t>
            </a:r>
            <a:endParaRPr lang="en-US" sz="1300" dirty="0"/>
          </a:p>
        </p:txBody>
      </p:sp>
      <p:sp>
        <p:nvSpPr>
          <p:cNvPr id="22" name="Text 19"/>
          <p:cNvSpPr txBox="1"/>
          <p:nvPr/>
        </p:nvSpPr>
        <p:spPr>
          <a:xfrm>
            <a:off x="9637776" y="3840480"/>
            <a:ext cx="1463040" cy="685800"/>
          </a:xfrm>
          <a:prstGeom prst="rect">
            <a:avLst/>
          </a:prstGeom>
          <a:noFill/>
          <a:ln/>
        </p:spPr>
        <p:txBody>
          <a:bodyPr wrap="square" lIns="0" tIns="0" rIns="0" bIns="0" rtlCol="0" anchor="ctr"/>
          <a:lstStyle/>
          <a:p>
            <a:pPr marL="0" indent="0">
              <a:buNone/>
            </a:pPr>
            <a:r>
              <a:rPr lang="en-US" sz="2600" b="1" dirty="0">
                <a:solidFill>
                  <a:srgbClr val="B85332"/>
                </a:solidFill>
                <a:latin typeface="Cambria" pitchFamily="34" charset="0"/>
                <a:ea typeface="Cambria" pitchFamily="34" charset="-122"/>
                <a:cs typeface="Cambria" pitchFamily="34" charset="-120"/>
              </a:rPr>
              <a:t>9.25</a:t>
            </a:r>
            <a:endParaRPr lang="en-US" sz="2600" dirty="0"/>
          </a:p>
        </p:txBody>
      </p:sp>
      <p:sp>
        <p:nvSpPr>
          <p:cNvPr id="23" name="Shape 20"/>
          <p:cNvSpPr/>
          <p:nvPr/>
        </p:nvSpPr>
        <p:spPr>
          <a:xfrm>
            <a:off x="640080" y="5257800"/>
            <a:ext cx="10908792" cy="822960"/>
          </a:xfrm>
          <a:prstGeom prst="roundRect">
            <a:avLst>
              <a:gd name="adj" fmla="val 13333"/>
            </a:avLst>
          </a:prstGeom>
          <a:solidFill>
            <a:srgbClr val="EDF3F4"/>
          </a:solidFill>
          <a:ln w="12700">
            <a:solidFill>
              <a:srgbClr val="EDF3F4"/>
            </a:solidFill>
            <a:prstDash val="solid"/>
          </a:ln>
        </p:spPr>
      </p:sp>
      <p:sp>
        <p:nvSpPr>
          <p:cNvPr id="24" name="Shape 21"/>
          <p:cNvSpPr/>
          <p:nvPr/>
        </p:nvSpPr>
        <p:spPr>
          <a:xfrm>
            <a:off x="914400" y="5417820"/>
            <a:ext cx="502920" cy="502920"/>
          </a:xfrm>
          <a:prstGeom prst="ellipse">
            <a:avLst/>
          </a:prstGeom>
          <a:solidFill>
            <a:srgbClr val="147D85"/>
          </a:solidFill>
          <a:ln w="12700">
            <a:solidFill>
              <a:srgbClr val="147D85"/>
            </a:solidFill>
            <a:prstDash val="solid"/>
          </a:ln>
        </p:spPr>
      </p:sp>
      <p:pic>
        <p:nvPicPr>
          <p:cNvPr id="25" name="Image 0" descr="preencoded.png"/>
          <p:cNvPicPr>
            <a:picLocks noChangeAspect="1"/>
          </p:cNvPicPr>
          <p:nvPr/>
        </p:nvPicPr>
        <p:blipFill>
          <a:blip r:embed="rId3"/>
          <a:stretch>
            <a:fillRect/>
          </a:stretch>
        </p:blipFill>
        <p:spPr>
          <a:xfrm>
            <a:off x="1040130" y="5543550"/>
            <a:ext cx="251460" cy="251460"/>
          </a:xfrm>
          <a:prstGeom prst="rect">
            <a:avLst/>
          </a:prstGeom>
        </p:spPr>
      </p:pic>
      <p:sp>
        <p:nvSpPr>
          <p:cNvPr id="26" name="Text 22"/>
          <p:cNvSpPr txBox="1"/>
          <p:nvPr/>
        </p:nvSpPr>
        <p:spPr>
          <a:xfrm>
            <a:off x="1691640" y="5257800"/>
            <a:ext cx="9582912" cy="822960"/>
          </a:xfrm>
          <a:prstGeom prst="rect">
            <a:avLst/>
          </a:prstGeom>
          <a:noFill/>
          <a:ln/>
        </p:spPr>
        <p:txBody>
          <a:bodyPr wrap="square" lIns="0" tIns="0" rIns="0" bIns="0" rtlCol="0" anchor="ctr"/>
          <a:lstStyle/>
          <a:p>
            <a:pPr marL="0" indent="0">
              <a:buNone/>
            </a:pPr>
            <a:r>
              <a:rPr lang="en-US" sz="1500" dirty="0">
                <a:solidFill>
                  <a:srgbClr val="173243"/>
                </a:solidFill>
                <a:latin typeface="Calibri" pitchFamily="34" charset="0"/>
                <a:ea typeface="Calibri" pitchFamily="34" charset="-122"/>
                <a:cs typeface="Calibri" pitchFamily="34" charset="-120"/>
              </a:rPr>
              <a:t>2024 lacks 31 December. Small descriptive differences do not establish causes.</a:t>
            </a:r>
            <a:endParaRPr lang="en-US" sz="1500" dirty="0"/>
          </a:p>
        </p:txBody>
      </p:sp>
      <p:pic>
        <p:nvPicPr>
          <p:cNvPr id="27" name="Imagen 26">
            <a:extLst>
              <a:ext uri="{FF2B5EF4-FFF2-40B4-BE49-F238E27FC236}">
                <a16:creationId xmlns:a16="http://schemas.microsoft.com/office/drawing/2014/main" id="{7793B7A0-86E0-3BE8-0862-8C66E3B2F35B}"/>
              </a:ext>
            </a:extLst>
          </p:cNvPr>
          <p:cNvPicPr>
            <a:picLocks noChangeAspect="1"/>
          </p:cNvPicPr>
          <p:nvPr/>
        </p:nvPicPr>
        <p:blipFill>
          <a:blip r:embed="rId4"/>
          <a:stretch>
            <a:fillRect/>
          </a:stretch>
        </p:blipFill>
        <p:spPr>
          <a:xfrm>
            <a:off x="0" y="0"/>
            <a:ext cx="12372975" cy="7048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640080" y="411480"/>
            <a:ext cx="10908792" cy="868680"/>
          </a:xfrm>
          <a:prstGeom prst="rect">
            <a:avLst/>
          </a:prstGeom>
          <a:noFill/>
          <a:ln/>
        </p:spPr>
        <p:txBody>
          <a:bodyPr wrap="square" lIns="0" tIns="0" rIns="0" bIns="0" rtlCol="0" anchor="ctr"/>
          <a:lstStyle/>
          <a:p>
            <a:pPr marL="0" indent="0">
              <a:buNone/>
            </a:pPr>
            <a:r>
              <a:rPr lang="en-US" sz="3600" b="1" dirty="0">
                <a:solidFill>
                  <a:srgbClr val="173243"/>
                </a:solidFill>
                <a:latin typeface="Cambria" pitchFamily="34" charset="0"/>
                <a:ea typeface="Cambria" pitchFamily="34" charset="-122"/>
                <a:cs typeface="Cambria" pitchFamily="34" charset="-120"/>
              </a:rPr>
              <a:t>Backup: sources and project files</a:t>
            </a:r>
            <a:endParaRPr lang="en-US" sz="3600" dirty="0"/>
          </a:p>
        </p:txBody>
      </p:sp>
      <p:sp>
        <p:nvSpPr>
          <p:cNvPr id="4" name="Text 1"/>
          <p:cNvSpPr txBox="1"/>
          <p:nvPr/>
        </p:nvSpPr>
        <p:spPr>
          <a:xfrm>
            <a:off x="10881360" y="6355080"/>
            <a:ext cx="667512" cy="274320"/>
          </a:xfrm>
          <a:prstGeom prst="rect">
            <a:avLst/>
          </a:prstGeom>
          <a:noFill/>
          <a:ln/>
        </p:spPr>
        <p:txBody>
          <a:bodyPr wrap="square" lIns="0" tIns="0" rIns="0" bIns="0" rtlCol="0" anchor="ctr"/>
          <a:lstStyle/>
          <a:p>
            <a:pPr marL="0" indent="0" algn="r">
              <a:buNone/>
            </a:pPr>
            <a:r>
              <a:rPr lang="en-US" sz="1200" dirty="0">
                <a:solidFill>
                  <a:srgbClr val="52636D"/>
                </a:solidFill>
                <a:latin typeface="Calibri" pitchFamily="34" charset="0"/>
                <a:ea typeface="Calibri" pitchFamily="34" charset="-122"/>
                <a:cs typeface="Calibri" pitchFamily="34" charset="-120"/>
              </a:rPr>
              <a:t>19</a:t>
            </a:r>
            <a:endParaRPr lang="en-US" sz="1200" dirty="0"/>
          </a:p>
        </p:txBody>
      </p:sp>
      <p:sp>
        <p:nvSpPr>
          <p:cNvPr id="5" name="Shape 2"/>
          <p:cNvSpPr/>
          <p:nvPr/>
        </p:nvSpPr>
        <p:spPr>
          <a:xfrm>
            <a:off x="640080" y="1645920"/>
            <a:ext cx="10908792" cy="960120"/>
          </a:xfrm>
          <a:prstGeom prst="roundRect">
            <a:avLst>
              <a:gd name="adj" fmla="val 11429"/>
            </a:avLst>
          </a:prstGeom>
          <a:solidFill>
            <a:srgbClr val="EDF3F4"/>
          </a:solidFill>
          <a:ln w="12700">
            <a:solidFill>
              <a:srgbClr val="EDF3F4"/>
            </a:solidFill>
            <a:prstDash val="solid"/>
          </a:ln>
        </p:spPr>
      </p:sp>
      <p:sp>
        <p:nvSpPr>
          <p:cNvPr id="6" name="Shape 3"/>
          <p:cNvSpPr/>
          <p:nvPr/>
        </p:nvSpPr>
        <p:spPr>
          <a:xfrm>
            <a:off x="914400" y="1828800"/>
            <a:ext cx="594360" cy="594360"/>
          </a:xfrm>
          <a:prstGeom prst="ellipse">
            <a:avLst/>
          </a:prstGeom>
          <a:solidFill>
            <a:srgbClr val="147D85"/>
          </a:solidFill>
          <a:ln w="12700">
            <a:solidFill>
              <a:srgbClr val="147D85"/>
            </a:solidFill>
            <a:prstDash val="solid"/>
          </a:ln>
        </p:spPr>
      </p:sp>
      <p:pic>
        <p:nvPicPr>
          <p:cNvPr id="7" name="Image 0" descr="preencoded.png"/>
          <p:cNvPicPr>
            <a:picLocks noChangeAspect="1"/>
          </p:cNvPicPr>
          <p:nvPr/>
        </p:nvPicPr>
        <p:blipFill>
          <a:blip r:embed="rId3"/>
          <a:stretch>
            <a:fillRect/>
          </a:stretch>
        </p:blipFill>
        <p:spPr>
          <a:xfrm>
            <a:off x="1062990" y="1977390"/>
            <a:ext cx="297180" cy="297180"/>
          </a:xfrm>
          <a:prstGeom prst="rect">
            <a:avLst/>
          </a:prstGeom>
        </p:spPr>
      </p:pic>
      <p:sp>
        <p:nvSpPr>
          <p:cNvPr id="8" name="Text 4"/>
          <p:cNvSpPr txBox="1"/>
          <p:nvPr/>
        </p:nvSpPr>
        <p:spPr>
          <a:xfrm>
            <a:off x="1783080" y="1645920"/>
            <a:ext cx="9491472" cy="960120"/>
          </a:xfrm>
          <a:prstGeom prst="rect">
            <a:avLst/>
          </a:prstGeom>
          <a:noFill/>
          <a:ln/>
        </p:spPr>
        <p:txBody>
          <a:bodyPr wrap="square" lIns="0" tIns="0" rIns="0" bIns="0" rtlCol="0" anchor="ctr"/>
          <a:lstStyle/>
          <a:p>
            <a:pPr marL="0" indent="0">
              <a:buNone/>
            </a:pPr>
            <a:r>
              <a:rPr lang="en-US" sz="2000" dirty="0">
                <a:solidFill>
                  <a:srgbClr val="173243"/>
                </a:solidFill>
                <a:latin typeface="Calibri" pitchFamily="34" charset="0"/>
                <a:ea typeface="Calibri" pitchFamily="34" charset="-122"/>
                <a:cs typeface="Calibri" pitchFamily="34" charset="-120"/>
              </a:rPr>
              <a:t>London Fire Brigade Mobilisation Records, London Datastore.</a:t>
            </a:r>
            <a:endParaRPr lang="en-US" sz="2000" dirty="0"/>
          </a:p>
        </p:txBody>
      </p:sp>
      <p:sp>
        <p:nvSpPr>
          <p:cNvPr id="9" name="Shape 5"/>
          <p:cNvSpPr/>
          <p:nvPr/>
        </p:nvSpPr>
        <p:spPr>
          <a:xfrm>
            <a:off x="640080" y="2788920"/>
            <a:ext cx="10908792" cy="960120"/>
          </a:xfrm>
          <a:prstGeom prst="roundRect">
            <a:avLst>
              <a:gd name="adj" fmla="val 11429"/>
            </a:avLst>
          </a:prstGeom>
          <a:solidFill>
            <a:srgbClr val="EDF3F4"/>
          </a:solidFill>
          <a:ln w="12700">
            <a:solidFill>
              <a:srgbClr val="EDF3F4"/>
            </a:solidFill>
            <a:prstDash val="solid"/>
          </a:ln>
        </p:spPr>
      </p:sp>
      <p:sp>
        <p:nvSpPr>
          <p:cNvPr id="10" name="Shape 6"/>
          <p:cNvSpPr/>
          <p:nvPr/>
        </p:nvSpPr>
        <p:spPr>
          <a:xfrm>
            <a:off x="914400" y="2971800"/>
            <a:ext cx="594360" cy="594360"/>
          </a:xfrm>
          <a:prstGeom prst="ellipse">
            <a:avLst/>
          </a:prstGeom>
          <a:solidFill>
            <a:srgbClr val="147D85"/>
          </a:solidFill>
          <a:ln w="12700">
            <a:solidFill>
              <a:srgbClr val="147D85"/>
            </a:solidFill>
            <a:prstDash val="solid"/>
          </a:ln>
        </p:spPr>
      </p:sp>
      <p:pic>
        <p:nvPicPr>
          <p:cNvPr id="11" name="Image 1" descr="preencoded.png"/>
          <p:cNvPicPr>
            <a:picLocks noChangeAspect="1"/>
          </p:cNvPicPr>
          <p:nvPr/>
        </p:nvPicPr>
        <p:blipFill>
          <a:blip r:embed="rId4"/>
          <a:stretch>
            <a:fillRect/>
          </a:stretch>
        </p:blipFill>
        <p:spPr>
          <a:xfrm>
            <a:off x="1062990" y="3120390"/>
            <a:ext cx="297180" cy="297180"/>
          </a:xfrm>
          <a:prstGeom prst="rect">
            <a:avLst/>
          </a:prstGeom>
        </p:spPr>
      </p:pic>
      <p:sp>
        <p:nvSpPr>
          <p:cNvPr id="12" name="Text 7"/>
          <p:cNvSpPr txBox="1"/>
          <p:nvPr/>
        </p:nvSpPr>
        <p:spPr>
          <a:xfrm>
            <a:off x="1783080" y="2788920"/>
            <a:ext cx="9491472" cy="960120"/>
          </a:xfrm>
          <a:prstGeom prst="rect">
            <a:avLst/>
          </a:prstGeom>
          <a:noFill/>
          <a:ln/>
        </p:spPr>
        <p:txBody>
          <a:bodyPr wrap="square" lIns="0" tIns="0" rIns="0" bIns="0" rtlCol="0" anchor="ctr"/>
          <a:lstStyle/>
          <a:p>
            <a:pPr marL="0" indent="0">
              <a:buNone/>
            </a:pPr>
            <a:r>
              <a:rPr lang="en-US" sz="2000" b="1" dirty="0">
                <a:solidFill>
                  <a:srgbClr val="173243"/>
                </a:solidFill>
                <a:latin typeface="Calibri" pitchFamily="34" charset="0"/>
                <a:ea typeface="Calibri" pitchFamily="34" charset="-122"/>
                <a:cs typeface="Calibri" pitchFamily="34" charset="-120"/>
              </a:rPr>
              <a:t>Source metadata and SHA256:</a:t>
            </a:r>
            <a:r>
              <a:rPr lang="en-US" sz="2000" dirty="0">
                <a:solidFill>
                  <a:srgbClr val="173243"/>
                </a:solidFill>
                <a:latin typeface="Calibri" pitchFamily="34" charset="0"/>
                <a:ea typeface="Calibri" pitchFamily="34" charset="-122"/>
                <a:cs typeface="Calibri" pitchFamily="34" charset="-120"/>
              </a:rPr>
              <a:t> data/source_manifest.json.</a:t>
            </a:r>
            <a:endParaRPr lang="en-US" sz="2000" dirty="0"/>
          </a:p>
        </p:txBody>
      </p:sp>
      <p:sp>
        <p:nvSpPr>
          <p:cNvPr id="13" name="Shape 8"/>
          <p:cNvSpPr/>
          <p:nvPr/>
        </p:nvSpPr>
        <p:spPr>
          <a:xfrm>
            <a:off x="640080" y="3931920"/>
            <a:ext cx="10908792" cy="960120"/>
          </a:xfrm>
          <a:prstGeom prst="roundRect">
            <a:avLst>
              <a:gd name="adj" fmla="val 11429"/>
            </a:avLst>
          </a:prstGeom>
          <a:solidFill>
            <a:srgbClr val="EDF3F4"/>
          </a:solidFill>
          <a:ln w="12700">
            <a:solidFill>
              <a:srgbClr val="EDF3F4"/>
            </a:solidFill>
            <a:prstDash val="solid"/>
          </a:ln>
        </p:spPr>
      </p:sp>
      <p:sp>
        <p:nvSpPr>
          <p:cNvPr id="14" name="Shape 9"/>
          <p:cNvSpPr/>
          <p:nvPr/>
        </p:nvSpPr>
        <p:spPr>
          <a:xfrm>
            <a:off x="914400" y="4114800"/>
            <a:ext cx="594360" cy="594360"/>
          </a:xfrm>
          <a:prstGeom prst="ellipse">
            <a:avLst/>
          </a:prstGeom>
          <a:solidFill>
            <a:srgbClr val="147D85"/>
          </a:solidFill>
          <a:ln w="12700">
            <a:solidFill>
              <a:srgbClr val="147D85"/>
            </a:solidFill>
            <a:prstDash val="solid"/>
          </a:ln>
        </p:spPr>
      </p:sp>
      <p:pic>
        <p:nvPicPr>
          <p:cNvPr id="15" name="Image 2" descr="preencoded.png"/>
          <p:cNvPicPr>
            <a:picLocks noChangeAspect="1"/>
          </p:cNvPicPr>
          <p:nvPr/>
        </p:nvPicPr>
        <p:blipFill>
          <a:blip r:embed="rId5"/>
          <a:stretch>
            <a:fillRect/>
          </a:stretch>
        </p:blipFill>
        <p:spPr>
          <a:xfrm>
            <a:off x="1062990" y="4263390"/>
            <a:ext cx="297180" cy="297180"/>
          </a:xfrm>
          <a:prstGeom prst="rect">
            <a:avLst/>
          </a:prstGeom>
        </p:spPr>
      </p:pic>
      <p:sp>
        <p:nvSpPr>
          <p:cNvPr id="16" name="Text 10"/>
          <p:cNvSpPr txBox="1"/>
          <p:nvPr/>
        </p:nvSpPr>
        <p:spPr>
          <a:xfrm>
            <a:off x="1783080" y="3931920"/>
            <a:ext cx="9491472" cy="960120"/>
          </a:xfrm>
          <a:prstGeom prst="rect">
            <a:avLst/>
          </a:prstGeom>
          <a:noFill/>
          <a:ln/>
        </p:spPr>
        <p:txBody>
          <a:bodyPr wrap="square" lIns="0" tIns="0" rIns="0" bIns="0" rtlCol="0" anchor="ctr"/>
          <a:lstStyle/>
          <a:p>
            <a:pPr marL="0" indent="0">
              <a:buNone/>
            </a:pPr>
            <a:r>
              <a:rPr lang="en-US" sz="2000" b="1" dirty="0">
                <a:solidFill>
                  <a:srgbClr val="173243"/>
                </a:solidFill>
                <a:latin typeface="Calibri" pitchFamily="34" charset="0"/>
                <a:ea typeface="Calibri" pitchFamily="34" charset="-122"/>
                <a:cs typeface="Calibri" pitchFamily="34" charset="-120"/>
              </a:rPr>
              <a:t>Methods:</a:t>
            </a:r>
            <a:r>
              <a:rPr lang="en-US" sz="2000" dirty="0">
                <a:solidFill>
                  <a:srgbClr val="173243"/>
                </a:solidFill>
                <a:latin typeface="Calibri" pitchFamily="34" charset="0"/>
                <a:ea typeface="Calibri" pitchFamily="34" charset="-122"/>
                <a:cs typeface="Calibri" pitchFamily="34" charset="-120"/>
              </a:rPr>
              <a:t> scripts/analysis.py and docs/KPI.md.</a:t>
            </a:r>
            <a:endParaRPr lang="en-US" sz="2000" dirty="0"/>
          </a:p>
        </p:txBody>
      </p:sp>
      <p:sp>
        <p:nvSpPr>
          <p:cNvPr id="17" name="Shape 11"/>
          <p:cNvSpPr/>
          <p:nvPr/>
        </p:nvSpPr>
        <p:spPr>
          <a:xfrm>
            <a:off x="640080" y="5074920"/>
            <a:ext cx="10908792" cy="960120"/>
          </a:xfrm>
          <a:prstGeom prst="roundRect">
            <a:avLst>
              <a:gd name="adj" fmla="val 11429"/>
            </a:avLst>
          </a:prstGeom>
          <a:solidFill>
            <a:srgbClr val="EDF3F4"/>
          </a:solidFill>
          <a:ln w="12700">
            <a:solidFill>
              <a:srgbClr val="EDF3F4"/>
            </a:solidFill>
            <a:prstDash val="solid"/>
          </a:ln>
        </p:spPr>
      </p:sp>
      <p:sp>
        <p:nvSpPr>
          <p:cNvPr id="18" name="Shape 12"/>
          <p:cNvSpPr/>
          <p:nvPr/>
        </p:nvSpPr>
        <p:spPr>
          <a:xfrm>
            <a:off x="914400" y="5257800"/>
            <a:ext cx="594360" cy="594360"/>
          </a:xfrm>
          <a:prstGeom prst="ellipse">
            <a:avLst/>
          </a:prstGeom>
          <a:solidFill>
            <a:srgbClr val="147D85"/>
          </a:solidFill>
          <a:ln w="12700">
            <a:solidFill>
              <a:srgbClr val="147D85"/>
            </a:solidFill>
            <a:prstDash val="solid"/>
          </a:ln>
        </p:spPr>
      </p:sp>
      <p:pic>
        <p:nvPicPr>
          <p:cNvPr id="19" name="Image 3" descr="preencoded.png"/>
          <p:cNvPicPr>
            <a:picLocks noChangeAspect="1"/>
          </p:cNvPicPr>
          <p:nvPr/>
        </p:nvPicPr>
        <p:blipFill>
          <a:blip r:embed="rId6"/>
          <a:stretch>
            <a:fillRect/>
          </a:stretch>
        </p:blipFill>
        <p:spPr>
          <a:xfrm>
            <a:off x="1062990" y="5406390"/>
            <a:ext cx="297180" cy="297180"/>
          </a:xfrm>
          <a:prstGeom prst="rect">
            <a:avLst/>
          </a:prstGeom>
        </p:spPr>
      </p:pic>
      <p:sp>
        <p:nvSpPr>
          <p:cNvPr id="20" name="Text 13"/>
          <p:cNvSpPr txBox="1"/>
          <p:nvPr/>
        </p:nvSpPr>
        <p:spPr>
          <a:xfrm>
            <a:off x="1783080" y="5074920"/>
            <a:ext cx="9491472" cy="960120"/>
          </a:xfrm>
          <a:prstGeom prst="rect">
            <a:avLst/>
          </a:prstGeom>
          <a:noFill/>
          <a:ln/>
        </p:spPr>
        <p:txBody>
          <a:bodyPr wrap="square" lIns="0" tIns="0" rIns="0" bIns="0" rtlCol="0" anchor="ctr"/>
          <a:lstStyle/>
          <a:p>
            <a:pPr marL="0" indent="0">
              <a:buNone/>
            </a:pPr>
            <a:r>
              <a:rPr lang="en-US" sz="2000" b="1" dirty="0">
                <a:solidFill>
                  <a:srgbClr val="173243"/>
                </a:solidFill>
                <a:latin typeface="Calibri" pitchFamily="34" charset="0"/>
                <a:ea typeface="Calibri" pitchFamily="34" charset="-122"/>
                <a:cs typeface="Calibri" pitchFamily="34" charset="-120"/>
              </a:rPr>
              <a:t>Evidence:</a:t>
            </a:r>
            <a:r>
              <a:rPr lang="en-US" sz="2000" dirty="0">
                <a:solidFill>
                  <a:srgbClr val="173243"/>
                </a:solidFill>
                <a:latin typeface="Calibri" pitchFamily="34" charset="0"/>
                <a:ea typeface="Calibri" pitchFamily="34" charset="-122"/>
                <a:cs typeface="Calibri" pitchFamily="34" charset="-120"/>
              </a:rPr>
              <a:t> outputs/*_metrics.csv, audit.json and summary.json.</a:t>
            </a:r>
            <a:endParaRPr lang="en-US" sz="2000" dirty="0"/>
          </a:p>
        </p:txBody>
      </p:sp>
      <p:pic>
        <p:nvPicPr>
          <p:cNvPr id="21" name="Imagen 20">
            <a:extLst>
              <a:ext uri="{FF2B5EF4-FFF2-40B4-BE49-F238E27FC236}">
                <a16:creationId xmlns:a16="http://schemas.microsoft.com/office/drawing/2014/main" id="{2BE099A4-0C7D-D8E3-130E-2A5AADB3BAE9}"/>
              </a:ext>
            </a:extLst>
          </p:cNvPr>
          <p:cNvPicPr>
            <a:picLocks noChangeAspect="1"/>
          </p:cNvPicPr>
          <p:nvPr/>
        </p:nvPicPr>
        <p:blipFill>
          <a:blip r:embed="rId7"/>
          <a:stretch>
            <a:fillRect/>
          </a:stretch>
        </p:blipFill>
        <p:spPr>
          <a:xfrm>
            <a:off x="0" y="-1"/>
            <a:ext cx="12353925" cy="70389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8418</TotalTime>
  <Words>4029</Words>
  <Application>Microsoft Office PowerPoint</Application>
  <PresentationFormat>Panorámica</PresentationFormat>
  <Paragraphs>191</Paragraphs>
  <Slides>18</Slides>
  <Notes>18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London Fire Brigade</dc:title>
  <dc:subject>PptxGenJS Presentation</dc:subject>
  <dc:creator>PptxGenJS</dc:creator>
  <cp:lastModifiedBy>matias muñoz hoffmann</cp:lastModifiedBy>
  <cp:revision>5</cp:revision>
  <dcterms:created xsi:type="dcterms:W3CDTF">2026-09-23T18:41:34Z</dcterms:created>
  <dcterms:modified xsi:type="dcterms:W3CDTF">2026-09-29T15:03:46Z</dcterms:modified>
</cp:coreProperties>
</file>