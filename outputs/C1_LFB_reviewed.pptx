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e7e7ab5294ca7" /><Relationship Type="http://schemas.openxmlformats.org/officeDocument/2006/relationships/extended-properties" Target="/docProps/app.xml" Id="R5e11fa91e2a940e1" /><Relationship Type="http://schemas.openxmlformats.org/officeDocument/2006/relationships/officeDocument" Target="/ppt/presentation.xml" Id="R310c991258ec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8a3e712c043b7"/>
  </p:sldMasterIdLst>
  <p:notesMasterIdLst>
    <p:notesMasterId xmlns:r="http://schemas.openxmlformats.org/officeDocument/2006/relationships" r:id="Rb83e838821b748f6"/>
  </p:notesMasterIdLst>
  <p:sldIdLst>
    <p:sldId xmlns:r="http://schemas.openxmlformats.org/officeDocument/2006/relationships" id="256" r:id="Rd9245cdfbdfc4f6f"/>
    <p:sldId xmlns:r="http://schemas.openxmlformats.org/officeDocument/2006/relationships" id="257" r:id="R35a92273c7684f0c"/>
    <p:sldId xmlns:r="http://schemas.openxmlformats.org/officeDocument/2006/relationships" id="258" r:id="R59bb56503af9421b"/>
    <p:sldId xmlns:r="http://schemas.openxmlformats.org/officeDocument/2006/relationships" id="259" r:id="Rc33fd460c75c4f1e"/>
    <p:sldId xmlns:r="http://schemas.openxmlformats.org/officeDocument/2006/relationships" id="260" r:id="R3db241947f0a49dc"/>
    <p:sldId xmlns:r="http://schemas.openxmlformats.org/officeDocument/2006/relationships" id="261" r:id="R144e66066aef4926"/>
    <p:sldId xmlns:r="http://schemas.openxmlformats.org/officeDocument/2006/relationships" id="262" r:id="R72b8ef52958f4737"/>
    <p:sldId xmlns:r="http://schemas.openxmlformats.org/officeDocument/2006/relationships" id="263" r:id="Rc7cf059668b14aa3"/>
    <p:sldId xmlns:r="http://schemas.openxmlformats.org/officeDocument/2006/relationships" id="264" r:id="R6b3f73fcb8ec4baf"/>
    <p:sldId xmlns:r="http://schemas.openxmlformats.org/officeDocument/2006/relationships" id="265" r:id="Rb0bd04f52fda4b29"/>
    <p:sldId xmlns:r="http://schemas.openxmlformats.org/officeDocument/2006/relationships" id="266" r:id="R20b59623fcfd4089"/>
    <p:sldId xmlns:r="http://schemas.openxmlformats.org/officeDocument/2006/relationships" id="267" r:id="R1b5f2c88e3884614"/>
    <p:sldId xmlns:r="http://schemas.openxmlformats.org/officeDocument/2006/relationships" id="268" r:id="Rdbdc684d80134f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bb3b072d294423" /><Relationship Type="http://schemas.openxmlformats.org/officeDocument/2006/relationships/slideMaster" Target="/ppt/slideMasters/slideMaster1.xml" Id="Re4b8a3e712c043b7" /><Relationship Type="http://schemas.openxmlformats.org/officeDocument/2006/relationships/notesMaster" Target="/ppt/notesMasters/notesMaster1.xml" Id="Rb83e838821b748f6" /><Relationship Type="http://schemas.openxmlformats.org/officeDocument/2006/relationships/presProps" Target="/ppt/presProps.xml" Id="R5d541a7e428a4a2e" /><Relationship Type="http://schemas.openxmlformats.org/officeDocument/2006/relationships/tableStyles" Target="/ppt/tableStyles.xml" Id="Redb6b92eb5ac4f71" /><Relationship Type="http://schemas.openxmlformats.org/officeDocument/2006/relationships/slide" Target="/ppt/slides/slide1.xml" Id="Rd9245cdfbdfc4f6f" /><Relationship Type="http://schemas.openxmlformats.org/officeDocument/2006/relationships/slide" Target="/ppt/slides/slide2.xml" Id="R35a92273c7684f0c" /><Relationship Type="http://schemas.openxmlformats.org/officeDocument/2006/relationships/slide" Target="/ppt/slides/slide3.xml" Id="R59bb56503af9421b" /><Relationship Type="http://schemas.openxmlformats.org/officeDocument/2006/relationships/slide" Target="/ppt/slides/slide4.xml" Id="Rc33fd460c75c4f1e" /><Relationship Type="http://schemas.openxmlformats.org/officeDocument/2006/relationships/slide" Target="/ppt/slides/slide5.xml" Id="R3db241947f0a49dc" /><Relationship Type="http://schemas.openxmlformats.org/officeDocument/2006/relationships/slide" Target="/ppt/slides/slide6.xml" Id="R144e66066aef4926" /><Relationship Type="http://schemas.openxmlformats.org/officeDocument/2006/relationships/slide" Target="/ppt/slides/slide7.xml" Id="R72b8ef52958f4737" /><Relationship Type="http://schemas.openxmlformats.org/officeDocument/2006/relationships/slide" Target="/ppt/slides/slide8.xml" Id="Rc7cf059668b14aa3" /><Relationship Type="http://schemas.openxmlformats.org/officeDocument/2006/relationships/slide" Target="/ppt/slides/slide9.xml" Id="R6b3f73fcb8ec4baf" /><Relationship Type="http://schemas.openxmlformats.org/officeDocument/2006/relationships/slide" Target="/ppt/slides/slide10.xml" Id="Rb0bd04f52fda4b29" /><Relationship Type="http://schemas.openxmlformats.org/officeDocument/2006/relationships/slide" Target="/ppt/slides/slide11.xml" Id="R20b59623fcfd4089" /><Relationship Type="http://schemas.openxmlformats.org/officeDocument/2006/relationships/slide" Target="/ppt/slides/slide12.xml" Id="R1b5f2c88e3884614" /><Relationship Type="http://schemas.openxmlformats.org/officeDocument/2006/relationships/slide" Target="/ppt/slides/slide13.xml" Id="Rdbdc684d80134f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bff086e23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eebec23fc47bc" /><Relationship Type="http://schemas.openxmlformats.org/officeDocument/2006/relationships/notesMaster" Target="/ppt/notesMasters/notesMaster1.xml" Id="Re0762619160f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3a2d7e1144db5" /><Relationship Type="http://schemas.openxmlformats.org/officeDocument/2006/relationships/notesMaster" Target="/ppt/notesMasters/notesMaster1.xml" Id="R654d5df83877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5b70cb741745f8" /><Relationship Type="http://schemas.openxmlformats.org/officeDocument/2006/relationships/notesMaster" Target="/ppt/notesMasters/notesMaster1.xml" Id="R41d7a021bc7c4e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275cd6083a4b63" /><Relationship Type="http://schemas.openxmlformats.org/officeDocument/2006/relationships/notesMaster" Target="/ppt/notesMasters/notesMaster1.xml" Id="R837ae1ae55d7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6acb7ccab34a1d" /><Relationship Type="http://schemas.openxmlformats.org/officeDocument/2006/relationships/notesMaster" Target="/ppt/notesMasters/notesMaster1.xml" Id="R11e130d27695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d9079cd084af0" /><Relationship Type="http://schemas.openxmlformats.org/officeDocument/2006/relationships/notesMaster" Target="/ppt/notesMasters/notesMaster1.xml" Id="Rf61079b6bd85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afee7b6a73401f" /><Relationship Type="http://schemas.openxmlformats.org/officeDocument/2006/relationships/notesMaster" Target="/ppt/notesMasters/notesMaster1.xml" Id="R97a2264328d3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ec0b1ccf94a3f" /><Relationship Type="http://schemas.openxmlformats.org/officeDocument/2006/relationships/notesMaster" Target="/ppt/notesMasters/notesMaster1.xml" Id="R5daf59c62ae04b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8ff858ae454203" /><Relationship Type="http://schemas.openxmlformats.org/officeDocument/2006/relationships/notesMaster" Target="/ppt/notesMasters/notesMaster1.xml" Id="R6671e0bc609044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122861a56a4cb4" /><Relationship Type="http://schemas.openxmlformats.org/officeDocument/2006/relationships/notesMaster" Target="/ppt/notesMasters/notesMaster1.xml" Id="R62a1433630e7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bca703c37e4156" /><Relationship Type="http://schemas.openxmlformats.org/officeDocument/2006/relationships/notesMaster" Target="/ppt/notesMasters/notesMaster1.xml" Id="Re438cc9636cb49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6de3ed87884cbf" /><Relationship Type="http://schemas.openxmlformats.org/officeDocument/2006/relationships/notesMaster" Target="/ppt/notesMasters/notesMaster1.xml" Id="Rb074a66bab8947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331a997afe417f" /><Relationship Type="http://schemas.openxmlformats.org/officeDocument/2006/relationships/notesMaster" Target="/ppt/notesMasters/notesMaster1.xml" Id="Rf373e93fa497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>Team review remains required. AI assistance is disclosed in PROCESS_LOG.md.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>LFB FOI 8420.1 dated 5 February 2024: https://www.london-fire.gov.uk/media/8863/foia84201-response-times-of-fire-brigades-and-data-collation-response.pdf . Its &gt;20-minute counting exclusion is consistent with the extract ceiling, but exact CSV filters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London Fire Brigade Mobilisation Records; snapshot SHA256 in data/source_manifest.json. Computations: scripts/analysis.py; outputs/*_metrics.csv. https://data.london.gov.uk/dataset/london-fire-brigade-mobilisation-records-24r65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e55efebb04e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08cfe0cd248e5" /><Relationship Type="http://schemas.openxmlformats.org/officeDocument/2006/relationships/slideLayout" Target="/ppt/slideLayouts/slideLayout1.xml" Id="Rab4bfb893803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bfb893803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f6d03962d4226" /><Relationship Type="http://schemas.openxmlformats.org/officeDocument/2006/relationships/notesSlide" Target="/ppt/notesSlides/notesSlide1.xml" Id="R3cfc319dba8f4b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160baad9c4e9b" /><Relationship Type="http://schemas.openxmlformats.org/officeDocument/2006/relationships/notesSlide" Target="/ppt/notesSlides/notesSlide2.xml" Id="R119a20fd9c9845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77b01b1104888" /><Relationship Type="http://schemas.openxmlformats.org/officeDocument/2006/relationships/notesSlide" Target="/ppt/notesSlides/notesSlide3.xml" Id="R3fae64c8acff42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40fed8c5a4a7f" /><Relationship Type="http://schemas.openxmlformats.org/officeDocument/2006/relationships/notesSlide" Target="/ppt/notesSlides/notesSlide4.xml" Id="Reeddaef94692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2d9ff0a074fad" /><Relationship Type="http://schemas.openxmlformats.org/officeDocument/2006/relationships/notesSlide" Target="/ppt/notesSlides/notesSlide5.xml" Id="R91373d48930e45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827c6fa64940" /><Relationship Type="http://schemas.openxmlformats.org/officeDocument/2006/relationships/chart" Target="/ppt/slides/charts/chart1.xml" Id="R1e7bd60dd94e40e5" /><Relationship Type="http://schemas.openxmlformats.org/officeDocument/2006/relationships/notesSlide" Target="/ppt/notesSlides/notesSlide6.xml" Id="R321e76d44b2a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dd41fa4084ada" /><Relationship Type="http://schemas.openxmlformats.org/officeDocument/2006/relationships/chart" Target="/ppt/slides/charts/chart2.xml" Id="R27b3ba395b1f4a93" /><Relationship Type="http://schemas.openxmlformats.org/officeDocument/2006/relationships/notesSlide" Target="/ppt/notesSlides/notesSlide7.xml" Id="R0503aad6ead44c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05d3fe264b57" /><Relationship Type="http://schemas.openxmlformats.org/officeDocument/2006/relationships/chart" Target="/ppt/slides/charts/chart3.xml" Id="Rea7a960491a04587" /><Relationship Type="http://schemas.openxmlformats.org/officeDocument/2006/relationships/notesSlide" Target="/ppt/notesSlides/notesSlide8.xml" Id="R6a3f19ade1e04a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a62ede30f416f" /><Relationship Type="http://schemas.openxmlformats.org/officeDocument/2006/relationships/chart" Target="/ppt/slides/charts/chart4.xml" Id="R760ba5dcb5d84169" /><Relationship Type="http://schemas.openxmlformats.org/officeDocument/2006/relationships/notesSlide" Target="/ppt/notesSlides/notesSlide9.xml" Id="R64a707c3472047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dd2e592e42b2" /><Relationship Type="http://schemas.openxmlformats.org/officeDocument/2006/relationships/chart" Target="/ppt/slides/charts/chart5.xml" Id="R88563e8e9fe34e15" /><Relationship Type="http://schemas.openxmlformats.org/officeDocument/2006/relationships/notesSlide" Target="/ppt/notesSlides/notesSlide10.xml" Id="R6b48b337e69842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24fafcd44461" /><Relationship Type="http://schemas.openxmlformats.org/officeDocument/2006/relationships/notesSlide" Target="/ppt/notesSlides/notesSlide11.xml" Id="Rff07e84d87794b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0505b2a14420" /><Relationship Type="http://schemas.openxmlformats.org/officeDocument/2006/relationships/notesSlide" Target="/ppt/notesSlides/notesSlide12.xml" Id="Ra2fd359bdabb44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2fa44955541fa" /><Relationship Type="http://schemas.openxmlformats.org/officeDocument/2006/relationships/notesSlide" Target="/ppt/notesSlides/notesSlide13.xml" Id="R92bfcd0ad29647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Mobilisations</c:v>
          </c:tx>
          <c:spPr>
            <a:solidFill xmlns:a="http://schemas.openxmlformats.org/drawingml/2006/main">
              <a:srgbClr val="287C8E"/>
            </a:solidFill>
          </c:spPr>
          <c:cat>
            <c:strRef>
              <c:f>'Chart Data'!$A$2:$A$21</c:f>
              <c:strCache>
                <c:ptCount val="20"/>
                <c:pt idx="0">
                  <c:v>0-1</c:v>
                </c:pt>
                <c:pt idx="1">
                  <c:v>1-2</c:v>
                </c:pt>
                <c:pt idx="2">
                  <c:v>2-3</c:v>
                </c:pt>
                <c:pt idx="3">
                  <c:v>3-4</c:v>
                </c:pt>
                <c:pt idx="4">
                  <c:v>4-5</c:v>
                </c:pt>
                <c:pt idx="5">
                  <c:v>5-6</c:v>
                </c:pt>
                <c:pt idx="6">
                  <c:v>6-7</c:v>
                </c:pt>
                <c:pt idx="7">
                  <c:v>7-8</c:v>
                </c:pt>
                <c:pt idx="8">
                  <c:v>8-9</c:v>
                </c:pt>
                <c:pt idx="9">
                  <c:v>9-10</c:v>
                </c:pt>
                <c:pt idx="10">
                  <c:v>10-11</c:v>
                </c:pt>
                <c:pt idx="11">
                  <c:v>11-12</c:v>
                </c:pt>
                <c:pt idx="12">
                  <c:v>12-13</c:v>
                </c:pt>
                <c:pt idx="13">
                  <c:v>13-14</c:v>
                </c:pt>
                <c:pt idx="14">
                  <c:v>14-15</c:v>
                </c:pt>
                <c:pt idx="15">
                  <c:v>15-16</c:v>
                </c:pt>
                <c:pt idx="16">
                  <c:v>16-17</c:v>
                </c:pt>
                <c:pt idx="17">
                  <c:v>17-18</c:v>
                </c:pt>
                <c:pt idx="18">
                  <c:v>18-19</c:v>
                </c:pt>
                <c:pt idx="19">
                  <c:v>19-20</c:v>
                </c:pt>
              </c:strCache>
            </c:strRef>
          </c:cat>
          <c:val>
            <c:numRef>
              <c:f>'Chart Data'!$B$2:$B$21</c:f>
              <c:numCache>
                <c:formatCode>0.00</c:formatCode>
                <c:ptCount val="20"/>
                <c:pt idx="0">
                  <c:v>3957</c:v>
                </c:pt>
                <c:pt idx="1">
                  <c:v>4355</c:v>
                </c:pt>
                <c:pt idx="2">
                  <c:v>19285</c:v>
                </c:pt>
                <c:pt idx="3">
                  <c:v>46262</c:v>
                </c:pt>
                <c:pt idx="4">
                  <c:v>69725</c:v>
                </c:pt>
                <c:pt idx="5">
                  <c:v>71918</c:v>
                </c:pt>
                <c:pt idx="6">
                  <c:v>58536</c:v>
                </c:pt>
                <c:pt idx="7">
                  <c:v>41420</c:v>
                </c:pt>
                <c:pt idx="8">
                  <c:v>26560</c:v>
                </c:pt>
                <c:pt idx="9">
                  <c:v>16242</c:v>
                </c:pt>
                <c:pt idx="10">
                  <c:v>9723</c:v>
                </c:pt>
                <c:pt idx="11">
                  <c:v>5962</c:v>
                </c:pt>
                <c:pt idx="12">
                  <c:v>3608</c:v>
                </c:pt>
                <c:pt idx="13">
                  <c:v>2413</c:v>
                </c:pt>
                <c:pt idx="14">
                  <c:v>1582</c:v>
                </c:pt>
                <c:pt idx="15">
                  <c:v>1061</c:v>
                </c:pt>
                <c:pt idx="16">
                  <c:v>769</c:v>
                </c:pt>
                <c:pt idx="17">
                  <c:v>527</c:v>
                </c:pt>
                <c:pt idx="18">
                  <c:v>421</c:v>
                </c:pt>
                <c:pt idx="19">
                  <c:v>301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Minutes, 1-minute bins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Mobilisations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Density</c:v>
          </c:tx>
          <c:spPr>
            <a:ln xmlns:a="http://schemas.openxmlformats.org/drawingml/2006/main" w="28575">
              <a:solidFill>
                <a:srgbClr val="287C8E"/>
              </a:solidFill>
            </a:ln>
          </c:spPr>
          <c:marker>
            <c:symbol val="none"/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0.016892</c:v>
                </c:pt>
                <c:pt idx="1">
                  <c:v>0.007447</c:v>
                </c:pt>
                <c:pt idx="2">
                  <c:v>0.027559</c:v>
                </c:pt>
                <c:pt idx="3">
                  <c:v>0.084436</c:v>
                </c:pt>
                <c:pt idx="4">
                  <c:v>0.153329</c:v>
                </c:pt>
                <c:pt idx="5">
                  <c:v>0.191439</c:v>
                </c:pt>
                <c:pt idx="6">
                  <c:v>0.170013</c:v>
                </c:pt>
                <c:pt idx="7">
                  <c:v>0.127647</c:v>
                </c:pt>
                <c:pt idx="8">
                  <c:v>0.086475</c:v>
                </c:pt>
                <c:pt idx="9">
                  <c:v>0.053505</c:v>
                </c:pt>
                <c:pt idx="10">
                  <c:v>0.033615</c:v>
                </c:pt>
                <c:pt idx="11">
                  <c:v>0.020985</c:v>
                </c:pt>
                <c:pt idx="12">
                  <c:v>0.011637</c:v>
                </c:pt>
                <c:pt idx="13">
                  <c:v>0.006875</c:v>
                </c:pt>
                <c:pt idx="14">
                  <c:v>0.00502</c:v>
                </c:pt>
                <c:pt idx="15">
                  <c:v>0.002748</c:v>
                </c:pt>
                <c:pt idx="16">
                  <c:v>0.00274</c:v>
                </c:pt>
                <c:pt idx="17">
                  <c:v>0.001873</c:v>
                </c:pt>
                <c:pt idx="18">
                  <c:v>0.001261</c:v>
                </c:pt>
                <c:pt idx="19">
                  <c:v>0.000826</c:v>
                </c:pt>
                <c:pt idx="20">
                  <c:v>0.000526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P90</c:v>
          </c:tx>
          <c:spPr>
            <a:ln xmlns:a="http://schemas.openxmlformats.org/drawingml/2006/main" w="28575">
              <a:solidFill>
                <a:srgbClr val="AD493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</c:strCache>
            </c:strRef>
          </c:cat>
          <c:val>
            <c:numRef>
              <c:f>'Chart Data'!$B$2:$B$25</c:f>
              <c:numCache>
                <c:formatCode>0.00</c:formatCode>
                <c:ptCount val="24"/>
                <c:pt idx="0">
                  <c:v>8.783333</c:v>
                </c:pt>
                <c:pt idx="1">
                  <c:v>8.9</c:v>
                </c:pt>
                <c:pt idx="2">
                  <c:v>9.066667</c:v>
                </c:pt>
                <c:pt idx="3">
                  <c:v>8.7</c:v>
                </c:pt>
                <c:pt idx="4">
                  <c:v>8.916667</c:v>
                </c:pt>
                <c:pt idx="5">
                  <c:v>9.366667</c:v>
                </c:pt>
                <c:pt idx="6">
                  <c:v>9.133333</c:v>
                </c:pt>
                <c:pt idx="7">
                  <c:v>9.05</c:v>
                </c:pt>
                <c:pt idx="8">
                  <c:v>9.5</c:v>
                </c:pt>
                <c:pt idx="9">
                  <c:v>9.4</c:v>
                </c:pt>
                <c:pt idx="10">
                  <c:v>9.55</c:v>
                </c:pt>
                <c:pt idx="11">
                  <c:v>9.275</c:v>
                </c:pt>
                <c:pt idx="12">
                  <c:v>9.233333</c:v>
                </c:pt>
                <c:pt idx="13">
                  <c:v>8.916667</c:v>
                </c:pt>
                <c:pt idx="14">
                  <c:v>9</c:v>
                </c:pt>
                <c:pt idx="15">
                  <c:v>8.933333</c:v>
                </c:pt>
                <c:pt idx="16">
                  <c:v>9.34</c:v>
                </c:pt>
                <c:pt idx="17">
                  <c:v>9.5</c:v>
                </c:pt>
                <c:pt idx="18">
                  <c:v>9.283333</c:v>
                </c:pt>
                <c:pt idx="19">
                  <c:v>9.2</c:v>
                </c:pt>
                <c:pt idx="20">
                  <c:v>9.383333</c:v>
                </c:pt>
                <c:pt idx="21">
                  <c:v>9.3</c:v>
                </c:pt>
                <c:pt idx="22">
                  <c:v>9.416667</c:v>
                </c:pt>
                <c:pt idx="23">
                  <c:v>9.333333</c:v>
                </c:pt>
              </c:numCache>
            </c:numRef>
          </c:val>
          <c:smooth val="0"/>
        </c:ser>
        <c:ser>
          <c:idx val="1"/>
          <c:order val="1"/>
          <c:tx>
            <c:v>Median</c:v>
          </c:tx>
          <c:spPr>
            <a:ln xmlns:a="http://schemas.openxmlformats.org/drawingml/2006/main" w="28575">
              <a:solidFill>
                <a:srgbClr val="287C8E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</c:strCache>
            </c:strRef>
          </c:cat>
          <c:val>
            <c:numRef>
              <c:f>'Chart Data'!$D$2:$D$25</c:f>
              <c:numCache>
                <c:formatCode>0.00</c:formatCode>
                <c:ptCount val="24"/>
                <c:pt idx="0">
                  <c:v>5.466667</c:v>
                </c:pt>
                <c:pt idx="1">
                  <c:v>5.516667</c:v>
                </c:pt>
                <c:pt idx="2">
                  <c:v>5.566667</c:v>
                </c:pt>
                <c:pt idx="3">
                  <c:v>5.466667</c:v>
                </c:pt>
                <c:pt idx="4">
                  <c:v>5.466667</c:v>
                </c:pt>
                <c:pt idx="5">
                  <c:v>5.683333</c:v>
                </c:pt>
                <c:pt idx="6">
                  <c:v>5.6</c:v>
                </c:pt>
                <c:pt idx="7">
                  <c:v>5.583333</c:v>
                </c:pt>
                <c:pt idx="8">
                  <c:v>5.8</c:v>
                </c:pt>
                <c:pt idx="9">
                  <c:v>5.75</c:v>
                </c:pt>
                <c:pt idx="10">
                  <c:v>5.766667</c:v>
                </c:pt>
                <c:pt idx="11">
                  <c:v>5.733333</c:v>
                </c:pt>
                <c:pt idx="12">
                  <c:v>5.65</c:v>
                </c:pt>
                <c:pt idx="13">
                  <c:v>5.55</c:v>
                </c:pt>
                <c:pt idx="14">
                  <c:v>5.633333</c:v>
                </c:pt>
                <c:pt idx="15">
                  <c:v>5.583333</c:v>
                </c:pt>
                <c:pt idx="16">
                  <c:v>5.683333</c:v>
                </c:pt>
                <c:pt idx="17">
                  <c:v>5.716667</c:v>
                </c:pt>
                <c:pt idx="18">
                  <c:v>5.666667</c:v>
                </c:pt>
                <c:pt idx="19">
                  <c:v>5.666667</c:v>
                </c:pt>
                <c:pt idx="20">
                  <c:v>5.8</c:v>
                </c:pt>
                <c:pt idx="21">
                  <c:v>5.75</c:v>
                </c:pt>
                <c:pt idx="22">
                  <c:v>5.8</c:v>
                </c:pt>
                <c:pt idx="23">
                  <c:v>5.75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P90 minutes</c:v>
          </c:tx>
          <c:spPr>
            <a:solidFill xmlns:a="http://schemas.openxmlformats.org/drawingml/2006/main">
              <a:srgbClr val="287C8E"/>
            </a:solidFill>
          </c:spPr>
          <c:cat>
            <c:strRef>
              <c:f>'Chart Data'!$A$2:$A$6</c:f>
              <c:strCache>
                <c:ptCount val="5"/>
                <c:pt idx="0">
                  <c:v>HILLINGDON (n=12,195)</c:v>
                </c:pt>
                <c:pt idx="1">
                  <c:v>HAVERING (n=7,033)</c:v>
                </c:pt>
                <c:pt idx="2">
                  <c:v>ENFIELD (n=10,178)</c:v>
                </c:pt>
                <c:pt idx="3">
                  <c:v>BROMLEY (n=9,848)</c:v>
                </c:pt>
                <c:pt idx="4">
                  <c:v>REDBRIDGE (n=7,824)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10.666667</c:v>
                </c:pt>
                <c:pt idx="1">
                  <c:v>10.216667</c:v>
                </c:pt>
                <c:pt idx="2">
                  <c:v>10.15</c:v>
                </c:pt>
                <c:pt idx="3">
                  <c:v>10.1</c:v>
                </c:pt>
                <c:pt idx="4">
                  <c:v>9.95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P90</c:v>
          </c:tx>
          <c:spPr>
            <a:ln xmlns:a="http://schemas.openxmlformats.org/drawingml/2006/main" w="28575">
              <a:solidFill>
                <a:srgbClr val="AD4932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0.00</c:formatCode>
                <c:ptCount val="24"/>
                <c:pt idx="0">
                  <c:v>8.45</c:v>
                </c:pt>
                <c:pt idx="1">
                  <c:v>8.666667</c:v>
                </c:pt>
                <c:pt idx="2">
                  <c:v>8.733333</c:v>
                </c:pt>
                <c:pt idx="3">
                  <c:v>8.7</c:v>
                </c:pt>
                <c:pt idx="4">
                  <c:v>8.616667</c:v>
                </c:pt>
                <c:pt idx="5">
                  <c:v>8.763333</c:v>
                </c:pt>
                <c:pt idx="6">
                  <c:v>8.783333</c:v>
                </c:pt>
                <c:pt idx="7">
                  <c:v>8.683333</c:v>
                </c:pt>
                <c:pt idx="8">
                  <c:v>8.65</c:v>
                </c:pt>
                <c:pt idx="9">
                  <c:v>8.933333</c:v>
                </c:pt>
                <c:pt idx="10">
                  <c:v>9.583333</c:v>
                </c:pt>
                <c:pt idx="11">
                  <c:v>10.026667</c:v>
                </c:pt>
                <c:pt idx="12">
                  <c:v>9.833333</c:v>
                </c:pt>
                <c:pt idx="13">
                  <c:v>9.866667</c:v>
                </c:pt>
                <c:pt idx="14">
                  <c:v>9.816667</c:v>
                </c:pt>
                <c:pt idx="15">
                  <c:v>9.735</c:v>
                </c:pt>
                <c:pt idx="16">
                  <c:v>9.8</c:v>
                </c:pt>
                <c:pt idx="17">
                  <c:v>9.566667</c:v>
                </c:pt>
                <c:pt idx="18">
                  <c:v>9.283333</c:v>
                </c:pt>
                <c:pt idx="19">
                  <c:v>8.883333</c:v>
                </c:pt>
                <c:pt idx="20">
                  <c:v>8.683333</c:v>
                </c:pt>
                <c:pt idx="21">
                  <c:v>8.533333</c:v>
                </c:pt>
                <c:pt idx="22">
                  <c:v>8.266667</c:v>
                </c:pt>
                <c:pt idx="23">
                  <c:v>8.438333</c:v>
                </c:pt>
              </c:numCache>
            </c:numRef>
          </c:val>
          <c:smooth val="0"/>
        </c:ser>
        <c:ser>
          <c:idx val="1"/>
          <c:order val="1"/>
          <c:tx>
            <c:v>Median</c:v>
          </c:tx>
          <c:spPr>
            <a:ln xmlns:a="http://schemas.openxmlformats.org/drawingml/2006/main" w="28575">
              <a:solidFill>
                <a:srgbClr val="287C8E"/>
              </a:solidFill>
            </a:ln>
          </c:spPr>
          <c:marker>
            <c:symbol val="none"/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0.00</c:formatCode>
                <c:ptCount val="24"/>
                <c:pt idx="0">
                  <c:v>5.55</c:v>
                </c:pt>
                <c:pt idx="1">
                  <c:v>5.65</c:v>
                </c:pt>
                <c:pt idx="2">
                  <c:v>5.733333</c:v>
                </c:pt>
                <c:pt idx="3">
                  <c:v>5.75</c:v>
                </c:pt>
                <c:pt idx="4">
                  <c:v>5.716667</c:v>
                </c:pt>
                <c:pt idx="5">
                  <c:v>5.766667</c:v>
                </c:pt>
                <c:pt idx="6">
                  <c:v>5.683333</c:v>
                </c:pt>
                <c:pt idx="7">
                  <c:v>5.466667</c:v>
                </c:pt>
                <c:pt idx="8">
                  <c:v>5.383333</c:v>
                </c:pt>
                <c:pt idx="9">
                  <c:v>5.483333</c:v>
                </c:pt>
                <c:pt idx="10">
                  <c:v>5.816667</c:v>
                </c:pt>
                <c:pt idx="11">
                  <c:v>6</c:v>
                </c:pt>
                <c:pt idx="12">
                  <c:v>5.966667</c:v>
                </c:pt>
                <c:pt idx="13">
                  <c:v>5.933333</c:v>
                </c:pt>
                <c:pt idx="14">
                  <c:v>5.883333</c:v>
                </c:pt>
                <c:pt idx="15">
                  <c:v>5.9</c:v>
                </c:pt>
                <c:pt idx="16">
                  <c:v>5.883333</c:v>
                </c:pt>
                <c:pt idx="17">
                  <c:v>5.816667</c:v>
                </c:pt>
                <c:pt idx="18">
                  <c:v>5.666667</c:v>
                </c:pt>
                <c:pt idx="19">
                  <c:v>5.483333</c:v>
                </c:pt>
                <c:pt idx="20">
                  <c:v>5.383333</c:v>
                </c:pt>
                <c:pt idx="21">
                  <c:v>5.333333</c:v>
                </c:pt>
                <c:pt idx="22">
                  <c:v>5.3</c:v>
                </c:pt>
                <c:pt idx="23">
                  <c:v>5.433333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Dispatch hour GMT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0D57E-B894-4202-B75C-906F80F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London Fire Brigade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74149-2234-45E3-A54B-01BDB68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7C8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7C8E"/>
                </a:solidFill>
                <a:latin typeface="Arial"/>
                <a:ea typeface="Arial"/>
                <a:cs typeface="Arial"/>
              </a:rPr>
              <a:t>Mobilisation-to-arrival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82264-B413-47E7-ACFF-5EB1EB9E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C1 | Business Intelligence</a:t>
            </a:r>
          </a:p>
          <a:p xmlns:a="http://schemas.openxmlformats.org/drawingml/2006/main">
            <a:pPr>
              <a:defRPr sz="2250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Matias Muñoz Hoffmann and Clemente Ibarra</a:t>
            </a:r>
          </a:p>
          <a:p xmlns:a="http://schemas.openxmlformats.org/drawingml/2006/main">
            <a:pPr>
              <a:defRPr sz="2250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16026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39A56-8A33-4644-9221-8A3E009C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Decision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FFE4B-EE01-4FBF-9A79-A8291A75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Prioritise boroughs and dispatch hours for operational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110DF-2CF6-4EF7-8E65-EFCD5E2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One row represents one vehicle mobilisation, not one emergency.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01908-4BB6-4CF7-AAEE-AED4561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Published records in 2023-2024; 31 December 2024 is absent.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14297-86F1-463D-B9D7-A8F2086F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Results support investigation, not automatic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2005812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04135-37FC-4C84-910D-E644526C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KPI: P90 mobilisation-to-arrival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515B2-469F-4EAF-91FD-F0CCB950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P90 of AttendanceTimeSeconds / 60 among eligible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15F21-B706-4181-B5F7-B2C0059D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Approximately 90% of observed durations fall at or below P90.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629F-739D-4135-8218-6BED22C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Report monthly by borough, with median, eligible volume and exclusions.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312D7-6443-4CBE-A997-9BF88E24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The clock starts at mobilisation; call handling is outside this measure.</a:t>
            </a:r>
          </a:p>
        </p:txBody>
      </p:sp>
    </p:spTree>
    <p:extLst>
      <p:ext uri="{BB962C8B-B14F-4D97-AF65-F5344CB8AC3E}">
        <p14:creationId xmlns:p14="http://schemas.microsoft.com/office/powerpoint/2010/main" val="1930123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12C1C-2F4F-4151-A37F-003BF43B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Data quality and cleaning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911CD-8834-4051-945B-8C9ABF4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727,857 original rows; 3,922 exact duplicates removed across 2021-2024.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B5111-A09B-44DE-9A17-EFB9501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384,643 selected-period rows; 16 conflicting-ID rows excluded.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54EB8-6F86-4D08-AD2E-97DABEC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384,627 eligible mobilisations across 248,225 incident 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BF104-21AD-4599-9A4C-0F06BF50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No target imputation; no additional outlier trimming. Timestamp totals reconciled.</a:t>
            </a:r>
          </a:p>
        </p:txBody>
      </p:sp>
    </p:spTree>
    <p:extLst>
      <p:ext uri="{BB962C8B-B14F-4D97-AF65-F5344CB8AC3E}">
        <p14:creationId xmlns:p14="http://schemas.microsoft.com/office/powerpoint/2010/main" val="1642820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3012B-F49A-4545-9314-4D7B152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Coverage and selection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7685-54FC-45D5-8B03-50DA307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All observed records are Initial mobilisations; durations stop at 20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93E9B-145A-4E9F-AFD9-6DEEFAC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LFB documents &gt;20-minute exclusions in published performance calculations.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CAD51-FE8F-4450-9C9C-3D78F4AB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The extract cannot describe the unobserved extreme 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C3A27-56DC-4129-AB99-8DEB0A7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Unknown borough: 1,288 eligible records. Missing day: 31 December 2024.</a:t>
            </a:r>
          </a:p>
        </p:txBody>
      </p:sp>
    </p:spTree>
    <p:extLst>
      <p:ext uri="{BB962C8B-B14F-4D97-AF65-F5344CB8AC3E}">
        <p14:creationId xmlns:p14="http://schemas.microsoft.com/office/powerpoint/2010/main" val="1505334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E23C1-E278-4CA8-8FB1-FE0B8516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Attendance-time distribution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7bd60dd94e40e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5E691-3795-4ECA-9AD2-2AA12E6A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Median 5.65 min | P90 9.20 min | Full observed range included.</a:t>
            </a:r>
          </a:p>
        </p:txBody>
      </p:sp>
    </p:spTree>
    <p:extLst>
      <p:ext uri="{BB962C8B-B14F-4D97-AF65-F5344CB8AC3E}">
        <p14:creationId xmlns:p14="http://schemas.microsoft.com/office/powerpoint/2010/main" val="1389111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2AFDB-6E48-46B3-B320-6DDE71F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Smoothed attendance-time density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b3ba395b1f4a9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5AF4-625A-41ED-81EA-B2671DD2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Deterministic 20,000-record sample; KDE reflected at zero. Display only, not a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1362944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CA40-95B9-4D60-B1E1-D2B533E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Monthly median and P90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a960491a0458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1FF76-5A23-4D58-83AA-F017CBB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December 2024 lacks its final day. Changes are descriptive; case mix is not controlled.</a:t>
            </a:r>
          </a:p>
        </p:txBody>
      </p:sp>
    </p:spTree>
    <p:extLst>
      <p:ext uri="{BB962C8B-B14F-4D97-AF65-F5344CB8AC3E}">
        <p14:creationId xmlns:p14="http://schemas.microsoft.com/office/powerpoint/2010/main" val="693099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BFAA-8194-400C-8868-49A5E6C5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Highest observed borough P90 values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0ba5dcb5d8416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C008C-E094-409E-93BA-EC6A488C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Unadjusted published mobilisation times; differences do not establish crew performance or causes.</a:t>
            </a:r>
          </a:p>
        </p:txBody>
      </p:sp>
    </p:spTree>
    <p:extLst>
      <p:ext uri="{BB962C8B-B14F-4D97-AF65-F5344CB8AC3E}">
        <p14:creationId xmlns:p14="http://schemas.microsoft.com/office/powerpoint/2010/main" val="1396646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9AF5-7A85-42B2-A31B-4155C26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Dispatch-hour profile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563e8e9fe34e1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395A9-8333-490D-BF59-7A466B8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Highest pooled P90: 11:00 GMT, 10.03 min. This association does not isolate traffic effects.</a:t>
            </a:r>
          </a:p>
        </p:txBody>
      </p:sp>
    </p:spTree>
    <p:extLst>
      <p:ext uri="{BB962C8B-B14F-4D97-AF65-F5344CB8AC3E}">
        <p14:creationId xmlns:p14="http://schemas.microsoft.com/office/powerpoint/2010/main" val="1067825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0BCE-C37D-46D6-9783-59CCA016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Correlation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A492A-55E4-429C-ADCB-F4ECB9A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Spearman total versus travel: 0.952.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03ED-D9FC-42D2-96B4-7B2B7FD2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Spearman total versus turnout: 0.169.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7C12-1639-4167-94AE-8E20FF1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Total attendance contains both components, so correlation is partly arithmetic.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A21E-BB0A-4272-965F-29EE4F9B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Realised component times must not be used as dispatch-time predictors in C2.</a:t>
            </a:r>
          </a:p>
        </p:txBody>
      </p:sp>
    </p:spTree>
    <p:extLst>
      <p:ext uri="{BB962C8B-B14F-4D97-AF65-F5344CB8AC3E}">
        <p14:creationId xmlns:p14="http://schemas.microsoft.com/office/powerpoint/2010/main" val="1785095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8E976-BCE4-4EE7-BFE1-6706596B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Operational review and 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33BD7-A6E4-4511-9370-F93CF28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Proposed review rule: borough P90 above monthly global P90 for 3 consecutive months, with n &gt;= 100 each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619C7-346A-4CFB-974D-A8A304B2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The rule is an academic heuristic; sensitivity results are in the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C9B63-33A7-41BF-AA82-DB6BE4F2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First investigate case mix, missing geography and source eligibility.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98E4D-FD4C-41EB-9C65-76D9E5BF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C2: compare a baseline and models with temporal validation; incorporate C1 feedback.</a:t>
            </a:r>
          </a:p>
        </p:txBody>
      </p:sp>
    </p:spTree>
    <p:extLst>
      <p:ext uri="{BB962C8B-B14F-4D97-AF65-F5344CB8AC3E}">
        <p14:creationId xmlns:p14="http://schemas.microsoft.com/office/powerpoint/2010/main" val="383243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38FD7-AB24-4D3B-BF71-BEB38F62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92E"/>
                </a:solidFill>
                <a:latin typeface="Arial"/>
                <a:ea typeface="Arial"/>
                <a:cs typeface="Arial"/>
              </a:rPr>
              <a:t>Reproducibility and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1A327-FDEF-42D4-87F9-1FAAADC2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Original CSV and dictionary: official source URLs and SHA256 manifest.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31CAD-5593-4D12-953F-54F44E7A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Notebook: executable pipeline, quality checks, tables and nine visual analyses.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10119-EFE9-4EBF-9F3A-0C265B3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AI assistance disclosed; both students must verify and explain every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B1F6B-0E1B-45EF-BD69-BB3EEDD1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2E"/>
                </a:solidFill>
                <a:latin typeface="Arial"/>
                <a:ea typeface="Arial"/>
                <a:cs typeface="Arial"/>
              </a:rPr>
              <a:t>Submit the private GitHub URL and full commit SHA; verify instructor access.</a:t>
            </a:r>
          </a:p>
        </p:txBody>
      </p:sp>
    </p:spTree>
    <p:extLst>
      <p:ext uri="{BB962C8B-B14F-4D97-AF65-F5344CB8AC3E}">
        <p14:creationId xmlns:p14="http://schemas.microsoft.com/office/powerpoint/2010/main" val="1063069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2026-09-23T12:41:52.3230000Z</dcterms:created>
  <dcterms:modified xsi:type="dcterms:W3CDTF">2026-09-23T12:41:52.3230000Z</dcterms:modified>
</coreProperties>
</file>