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51c43c7504a9b" /><Relationship Type="http://schemas.openxmlformats.org/officeDocument/2006/relationships/extended-properties" Target="/docProps/app.xml" Id="R201039d1c8524c89" /><Relationship Type="http://schemas.openxmlformats.org/officeDocument/2006/relationships/officeDocument" Target="/ppt/presentation.xml" Id="Rd68cd0e36c3e46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b79585d3284e8f"/>
  </p:sldMasterIdLst>
  <p:notesMasterIdLst>
    <p:notesMasterId xmlns:r="http://schemas.openxmlformats.org/officeDocument/2006/relationships" r:id="Rab68884390cf43fb"/>
  </p:notesMasterIdLst>
  <p:sldIdLst>
    <p:sldId xmlns:r="http://schemas.openxmlformats.org/officeDocument/2006/relationships" id="256" r:id="Rb0e283dc9c714bb5"/>
    <p:sldId xmlns:r="http://schemas.openxmlformats.org/officeDocument/2006/relationships" id="257" r:id="Rc68dfa5b90b741c6"/>
    <p:sldId xmlns:r="http://schemas.openxmlformats.org/officeDocument/2006/relationships" id="258" r:id="R82ab1a7c6d094e84"/>
    <p:sldId xmlns:r="http://schemas.openxmlformats.org/officeDocument/2006/relationships" id="259" r:id="R0257d2ad7d504e5b"/>
    <p:sldId xmlns:r="http://schemas.openxmlformats.org/officeDocument/2006/relationships" id="260" r:id="R9d85ba091a554007"/>
    <p:sldId xmlns:r="http://schemas.openxmlformats.org/officeDocument/2006/relationships" id="261" r:id="R0d4d4cef6e234a28"/>
    <p:sldId xmlns:r="http://schemas.openxmlformats.org/officeDocument/2006/relationships" id="262" r:id="R4e9ddc935b934194"/>
    <p:sldId xmlns:r="http://schemas.openxmlformats.org/officeDocument/2006/relationships" id="263" r:id="R0f8872a89c844537"/>
    <p:sldId xmlns:r="http://schemas.openxmlformats.org/officeDocument/2006/relationships" id="264" r:id="R18952a3de10f4d53"/>
    <p:sldId xmlns:r="http://schemas.openxmlformats.org/officeDocument/2006/relationships" id="265" r:id="R7de18bca8cb94499"/>
    <p:sldId xmlns:r="http://schemas.openxmlformats.org/officeDocument/2006/relationships" id="266" r:id="R13046f0bd57d4edd"/>
    <p:sldId xmlns:r="http://schemas.openxmlformats.org/officeDocument/2006/relationships" id="267" r:id="R228892bf0a6b44e2"/>
    <p:sldId xmlns:r="http://schemas.openxmlformats.org/officeDocument/2006/relationships" id="268" r:id="R5fe49fdd91e2431b"/>
    <p:sldId xmlns:r="http://schemas.openxmlformats.org/officeDocument/2006/relationships" id="269" r:id="Rfb2b1badb31c46d3"/>
    <p:sldId xmlns:r="http://schemas.openxmlformats.org/officeDocument/2006/relationships" id="270" r:id="Rb65bdead54db4ffb"/>
    <p:sldId xmlns:r="http://schemas.openxmlformats.org/officeDocument/2006/relationships" id="271" r:id="R328a63e280724e9a"/>
    <p:sldId xmlns:r="http://schemas.openxmlformats.org/officeDocument/2006/relationships" id="272" r:id="R22c1172153584b42"/>
    <p:sldId xmlns:r="http://schemas.openxmlformats.org/officeDocument/2006/relationships" id="273" r:id="R72889c144ba64015"/>
    <p:sldId xmlns:r="http://schemas.openxmlformats.org/officeDocument/2006/relationships" id="274" r:id="R17e806814da74a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f7f8cfac34a0f" /><Relationship Type="http://schemas.openxmlformats.org/officeDocument/2006/relationships/slideMaster" Target="/ppt/slideMasters/slideMaster1.xml" Id="R02b79585d3284e8f" /><Relationship Type="http://schemas.openxmlformats.org/officeDocument/2006/relationships/notesMaster" Target="/ppt/notesMasters/notesMaster1.xml" Id="Rab68884390cf43fb" /><Relationship Type="http://schemas.openxmlformats.org/officeDocument/2006/relationships/presProps" Target="/ppt/presProps.xml" Id="R70d417af294b47e1" /><Relationship Type="http://schemas.openxmlformats.org/officeDocument/2006/relationships/viewProps" Target="/ppt/viewProps.xml" Id="R449483ca726b4389" /><Relationship Type="http://schemas.openxmlformats.org/officeDocument/2006/relationships/tableStyles" Target="/ppt/tableStyles.xml" Id="R32997c48a82e483e" /><Relationship Type="http://schemas.openxmlformats.org/officeDocument/2006/relationships/slide" Target="/ppt/slides/slide1.xml" Id="Rb0e283dc9c714bb5" /><Relationship Type="http://schemas.openxmlformats.org/officeDocument/2006/relationships/slide" Target="/ppt/slides/slide2.xml" Id="Rc68dfa5b90b741c6" /><Relationship Type="http://schemas.openxmlformats.org/officeDocument/2006/relationships/slide" Target="/ppt/slides/slide3.xml" Id="R82ab1a7c6d094e84" /><Relationship Type="http://schemas.openxmlformats.org/officeDocument/2006/relationships/slide" Target="/ppt/slides/slide4.xml" Id="R0257d2ad7d504e5b" /><Relationship Type="http://schemas.openxmlformats.org/officeDocument/2006/relationships/slide" Target="/ppt/slides/slide5.xml" Id="R9d85ba091a554007" /><Relationship Type="http://schemas.openxmlformats.org/officeDocument/2006/relationships/slide" Target="/ppt/slides/slide6.xml" Id="R0d4d4cef6e234a28" /><Relationship Type="http://schemas.openxmlformats.org/officeDocument/2006/relationships/slide" Target="/ppt/slides/slide7.xml" Id="R4e9ddc935b934194" /><Relationship Type="http://schemas.openxmlformats.org/officeDocument/2006/relationships/slide" Target="/ppt/slides/slide8.xml" Id="R0f8872a89c844537" /><Relationship Type="http://schemas.openxmlformats.org/officeDocument/2006/relationships/slide" Target="/ppt/slides/slide9.xml" Id="R18952a3de10f4d53" /><Relationship Type="http://schemas.openxmlformats.org/officeDocument/2006/relationships/slide" Target="/ppt/slides/slide10.xml" Id="R7de18bca8cb94499" /><Relationship Type="http://schemas.openxmlformats.org/officeDocument/2006/relationships/slide" Target="/ppt/slides/slide11.xml" Id="R13046f0bd57d4edd" /><Relationship Type="http://schemas.openxmlformats.org/officeDocument/2006/relationships/slide" Target="/ppt/slides/slide12.xml" Id="R228892bf0a6b44e2" /><Relationship Type="http://schemas.openxmlformats.org/officeDocument/2006/relationships/slide" Target="/ppt/slides/slide13.xml" Id="R5fe49fdd91e2431b" /><Relationship Type="http://schemas.openxmlformats.org/officeDocument/2006/relationships/slide" Target="/ppt/slides/slide14.xml" Id="Rfb2b1badb31c46d3" /><Relationship Type="http://schemas.openxmlformats.org/officeDocument/2006/relationships/slide" Target="/ppt/slides/slide15.xml" Id="Rb65bdead54db4ffb" /><Relationship Type="http://schemas.openxmlformats.org/officeDocument/2006/relationships/slide" Target="/ppt/slides/slide16.xml" Id="R328a63e280724e9a" /><Relationship Type="http://schemas.openxmlformats.org/officeDocument/2006/relationships/slide" Target="/ppt/slides/slide17.xml" Id="R22c1172153584b42" /><Relationship Type="http://schemas.openxmlformats.org/officeDocument/2006/relationships/slide" Target="/ppt/slides/slide18.xml" Id="R72889c144ba64015" /><Relationship Type="http://schemas.openxmlformats.org/officeDocument/2006/relationships/slide" Target="/ppt/slides/slide19.xml" Id="R17e806814da7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07ec777404e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7bdaca48043d7" /><Relationship Type="http://schemas.openxmlformats.org/officeDocument/2006/relationships/notesMaster" Target="/ppt/notesMasters/notesMaster1.xml" Id="Rfeff4a5fbcd44f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16c8e0db542ce" /><Relationship Type="http://schemas.openxmlformats.org/officeDocument/2006/relationships/notesMaster" Target="/ppt/notesMasters/notesMaster1.xml" Id="R78964d81d69f48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f7b460e604ab1" /><Relationship Type="http://schemas.openxmlformats.org/officeDocument/2006/relationships/notesMaster" Target="/ppt/notesMasters/notesMaster1.xml" Id="Rf25929880f2a47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8e72aaac04967" /><Relationship Type="http://schemas.openxmlformats.org/officeDocument/2006/relationships/notesMaster" Target="/ppt/notesMasters/notesMaster1.xml" Id="R2a8a46a310f747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2f4cf2c53d4d86" /><Relationship Type="http://schemas.openxmlformats.org/officeDocument/2006/relationships/notesMaster" Target="/ppt/notesMasters/notesMaster1.xml" Id="R495ebf05b8c344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1c8a970984cb3" /><Relationship Type="http://schemas.openxmlformats.org/officeDocument/2006/relationships/notesMaster" Target="/ppt/notesMasters/notesMaster1.xml" Id="Rf774e4847470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0cfb039d3e485d" /><Relationship Type="http://schemas.openxmlformats.org/officeDocument/2006/relationships/notesMaster" Target="/ppt/notesMasters/notesMaster1.xml" Id="R19b199b906a44a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cf4c99af644191" /><Relationship Type="http://schemas.openxmlformats.org/officeDocument/2006/relationships/notesMaster" Target="/ppt/notesMasters/notesMaster1.xml" Id="R569e8edc53014d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2538f3c31c44f3" /><Relationship Type="http://schemas.openxmlformats.org/officeDocument/2006/relationships/notesMaster" Target="/ppt/notesMasters/notesMaster1.xml" Id="R3f0d72a013584c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11b1de6cdd4fe5" /><Relationship Type="http://schemas.openxmlformats.org/officeDocument/2006/relationships/notesMaster" Target="/ppt/notesMasters/notesMaster1.xml" Id="R037b3d13c9b04b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683236b35e4eb2" /><Relationship Type="http://schemas.openxmlformats.org/officeDocument/2006/relationships/notesMaster" Target="/ppt/notesMasters/notesMaster1.xml" Id="R56e9470d1edd49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a3ad5cafed4192" /><Relationship Type="http://schemas.openxmlformats.org/officeDocument/2006/relationships/notesMaster" Target="/ppt/notesMasters/notesMaster1.xml" Id="R7911cccae3af44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87a2fccc8a4b53" /><Relationship Type="http://schemas.openxmlformats.org/officeDocument/2006/relationships/notesMaster" Target="/ppt/notesMasters/notesMaster1.xml" Id="Rc012d3462d7f4c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549ff2f0624f08" /><Relationship Type="http://schemas.openxmlformats.org/officeDocument/2006/relationships/notesMaster" Target="/ppt/notesMasters/notesMaster1.xml" Id="R2720abbe6a2743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fc542eccbb47c9" /><Relationship Type="http://schemas.openxmlformats.org/officeDocument/2006/relationships/notesMaster" Target="/ppt/notesMasters/notesMaster1.xml" Id="R53ed75720c0a44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1d11cda6a74000" /><Relationship Type="http://schemas.openxmlformats.org/officeDocument/2006/relationships/notesMaster" Target="/ppt/notesMasters/notesMaster1.xml" Id="R822e38879e5e4c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92c6d7fcd44b22" /><Relationship Type="http://schemas.openxmlformats.org/officeDocument/2006/relationships/notesMaster" Target="/ppt/notesMasters/notesMaster1.xml" Id="R522a715cdf854a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e95668cf9a47a6" /><Relationship Type="http://schemas.openxmlformats.org/officeDocument/2006/relationships/notesMaster" Target="/ppt/notesMasters/notesMaster1.xml" Id="R3a6f46c30d454f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143b6d36514fcb" /><Relationship Type="http://schemas.openxmlformats.org/officeDocument/2006/relationships/notesMaster" Target="/ppt/notesMasters/notesMaster1.xml" Id="Re7f705bf90f2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docs/CASE_BRIEF.md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docs/CASE_BRIEF.md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docs/CASE_BRIEF.md; outputs/source_dictionary.csv; data/source_manifest.json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docs/KPI.md; scripts/analysis.py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outputs/row_flow.csv; outputs/audit.json; scripts/analysis.py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outputs/audit.json; scripts/analysis.py; docs/KPI.md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outputs/deck_data.json histogram; outputs/summary.json; scripts/prepare_deck_data.py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outputs/deck_data.json density; scripts/prepare_deck_data.py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outputs/monthly_metrics.csv; outputs/audit.json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outputs/borough_metrics.csv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outputs/hour_metrics.csv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outputs/spearman_components.csv; outputs/audit.json; scripts/analysis.py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outputs/review_sensitivity.csv; docs/KPI.md; scripts/analysis.py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  <a:p xmlns:a="http://schemas.openxmlformats.org/drawingml/2006/main">
            <a:r>
              <a:t>Review period: January 2023 to November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docs/SOURCES.md; docs/CASE_BRIEF.md; outputs/audit.json; outputs/summary.json; LFB FOI 8420.1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docs/CASE_BRIEF.md; outputs/borough_metrics.csv; outputs/hour_metrics.csv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PROCESS_LOG.md; data/source_manifest.json; notebooks/C1_LFB.ipynb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scripts/analysis.py; notebooks/C1_LFB.ipynb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outputs/year_metrics.csv; outputs/audit.json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https://data.london.gov.uk/dataset/london-fire-brigade-mobilisation-records-24r65; https://www.london-fire.gov.uk/media/8863/foia84201-response-times-of-fire-brigades-and-data-collation-response.pdf; docs/SOURCES.md</a:t>
            </a:r>
          </a:p>
          <a:p xmlns:a="http://schemas.openxmlformats.org/drawingml/2006/main">
            <a:r>
              <a:t>Official catalogue: https://data.london.gov.uk/dataset/london-fire-brigade-mobilisation-records-24r65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a73eb491a4d8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4bf65bc154430" /><Relationship Type="http://schemas.openxmlformats.org/officeDocument/2006/relationships/slideLayout" Target="/ppt/slideLayouts/slideLayout1.xml" Id="Ra8f6beb74ba447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6beb74ba4471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680d357e1436c" /><Relationship Type="http://schemas.openxmlformats.org/officeDocument/2006/relationships/image" Target="/ppt/media/image.png" Id="Rb0802cf55b054331" /><Relationship Type="http://schemas.openxmlformats.org/officeDocument/2006/relationships/notesSlide" Target="/ppt/notesSlides/notesSlide1.xml" Id="Re010be0ef2c4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a9a9f06d64441" /><Relationship Type="http://schemas.openxmlformats.org/officeDocument/2006/relationships/image" Target="/ppt/media/image2.png" Id="R481109f59fcc46d8" /><Relationship Type="http://schemas.openxmlformats.org/officeDocument/2006/relationships/image" Target="/ppt/media/image3.png" Id="R2f21abc5708c449c" /><Relationship Type="http://schemas.openxmlformats.org/officeDocument/2006/relationships/image" Target="/ppt/media/image4.png" Id="R80124b0baef84e42" /><Relationship Type="http://schemas.openxmlformats.org/officeDocument/2006/relationships/notesSlide" Target="/ppt/notesSlides/notesSlide2.xml" Id="R9a8a28ca0a76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d0a3ddd2c4ee6" /><Relationship Type="http://schemas.openxmlformats.org/officeDocument/2006/relationships/image" Target="/ppt/media/image4.png" Id="R579b6bf8b5d14807" /><Relationship Type="http://schemas.openxmlformats.org/officeDocument/2006/relationships/image" Target="/ppt/media/image5.png" Id="Rf1db073fc6f84502" /><Relationship Type="http://schemas.openxmlformats.org/officeDocument/2006/relationships/image" Target="/ppt/media/image6.png" Id="R42af5cea13744e6f" /><Relationship Type="http://schemas.openxmlformats.org/officeDocument/2006/relationships/image" Target="/ppt/media/image7.png" Id="Rc8ef61ed493d4e44" /><Relationship Type="http://schemas.openxmlformats.org/officeDocument/2006/relationships/notesSlide" Target="/ppt/notesSlides/notesSlide3.xml" Id="R0e06b4e949ca48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64b916b6a410a" /><Relationship Type="http://schemas.openxmlformats.org/officeDocument/2006/relationships/image" Target="/ppt/media/image8.png" Id="R4ecb963243734cb9" /><Relationship Type="http://schemas.openxmlformats.org/officeDocument/2006/relationships/image" Target="/ppt/media/image9.png" Id="R2a71ac99c7b44437" /><Relationship Type="http://schemas.openxmlformats.org/officeDocument/2006/relationships/image" Target="/ppt/media/image10.png" Id="Rd33c2d9661a3408e" /><Relationship Type="http://schemas.openxmlformats.org/officeDocument/2006/relationships/image" Target="/ppt/media/image11.png" Id="R568d5f63f4794019" /><Relationship Type="http://schemas.openxmlformats.org/officeDocument/2006/relationships/notesSlide" Target="/ppt/notesSlides/notesSlide4.xml" Id="R3dddd9265a8542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5f03d631e4ec1" /><Relationship Type="http://schemas.openxmlformats.org/officeDocument/2006/relationships/image" Target="/ppt/media/image12.png" Id="R6e46e4a8614f407b" /><Relationship Type="http://schemas.openxmlformats.org/officeDocument/2006/relationships/image" Target="/ppt/media/image13.png" Id="R5ea65fa0fb05468e" /><Relationship Type="http://schemas.openxmlformats.org/officeDocument/2006/relationships/notesSlide" Target="/ppt/notesSlides/notesSlide5.xml" Id="Re6054018403e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0e24687dd45ee" /><Relationship Type="http://schemas.openxmlformats.org/officeDocument/2006/relationships/image" Target="/ppt/media/image14.png" Id="R7b9ada8a416b4bee" /><Relationship Type="http://schemas.openxmlformats.org/officeDocument/2006/relationships/image" Target="/ppt/media/image15.png" Id="Rfa531bea03e24c95" /><Relationship Type="http://schemas.openxmlformats.org/officeDocument/2006/relationships/image" Target="/ppt/media/image16.png" Id="Re3ed63d215d84572" /><Relationship Type="http://schemas.openxmlformats.org/officeDocument/2006/relationships/image" Target="/ppt/media/image17.png" Id="R4d796cf3f02a49f5" /><Relationship Type="http://schemas.openxmlformats.org/officeDocument/2006/relationships/notesSlide" Target="/ppt/notesSlides/notesSlide6.xml" Id="R09746d195a0d4f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56cf106a64bcd" /><Relationship Type="http://schemas.openxmlformats.org/officeDocument/2006/relationships/chart" Target="/ppt/slides/charts/chart1.xml" Id="R3da8b4ab423e4e94" /><Relationship Type="http://schemas.openxmlformats.org/officeDocument/2006/relationships/notesSlide" Target="/ppt/notesSlides/notesSlide7.xml" Id="R58d93cf1b66d41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1676383554d97" /><Relationship Type="http://schemas.openxmlformats.org/officeDocument/2006/relationships/chart" Target="/ppt/slides/charts/chart2.xml" Id="R397ebfea277c40ff" /><Relationship Type="http://schemas.openxmlformats.org/officeDocument/2006/relationships/image" Target="/ppt/media/image18.png" Id="Ra5d011053fb74496" /><Relationship Type="http://schemas.openxmlformats.org/officeDocument/2006/relationships/notesSlide" Target="/ppt/notesSlides/notesSlide8.xml" Id="Ra6441d1dd0714b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ecbe2151640ec" /><Relationship Type="http://schemas.openxmlformats.org/officeDocument/2006/relationships/chart" Target="/ppt/slides/charts/chart3.xml" Id="R935ccc15fb804b56" /><Relationship Type="http://schemas.openxmlformats.org/officeDocument/2006/relationships/image" Target="/ppt/media/image19.png" Id="R012a6a778fa34be8" /><Relationship Type="http://schemas.openxmlformats.org/officeDocument/2006/relationships/image" Target="/ppt/media/image18.png" Id="R800364d33cb84b89" /><Relationship Type="http://schemas.openxmlformats.org/officeDocument/2006/relationships/notesSlide" Target="/ppt/notesSlides/notesSlide9.xml" Id="R18c31419628647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55751f2dd4126" /><Relationship Type="http://schemas.openxmlformats.org/officeDocument/2006/relationships/chart" Target="/ppt/slides/charts/chart4.xml" Id="R84fd100a0d85400e" /><Relationship Type="http://schemas.openxmlformats.org/officeDocument/2006/relationships/image" Target="/ppt/media/image19.png" Id="Rf6754b1e6ee74191" /><Relationship Type="http://schemas.openxmlformats.org/officeDocument/2006/relationships/notesSlide" Target="/ppt/notesSlides/notesSlide10.xml" Id="R6193bf0324d84c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4c206796748fd" /><Relationship Type="http://schemas.openxmlformats.org/officeDocument/2006/relationships/chart" Target="/ppt/slides/charts/chart5.xml" Id="R40a5816b8ef54764" /><Relationship Type="http://schemas.openxmlformats.org/officeDocument/2006/relationships/notesSlide" Target="/ppt/notesSlides/notesSlide11.xml" Id="Rd1caafb08ba84f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91d9cf4934d7c" /><Relationship Type="http://schemas.openxmlformats.org/officeDocument/2006/relationships/image" Target="/ppt/media/image18.png" Id="Re4fb13035d0d4226" /><Relationship Type="http://schemas.openxmlformats.org/officeDocument/2006/relationships/notesSlide" Target="/ppt/notesSlides/notesSlide12.xml" Id="R488f7c41dd1845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940b648e14cc5" /><Relationship Type="http://schemas.openxmlformats.org/officeDocument/2006/relationships/image" Target="/ppt/media/image20.png" Id="R942ebbac11304770" /><Relationship Type="http://schemas.openxmlformats.org/officeDocument/2006/relationships/image" Target="/ppt/media/image18.png" Id="R514964bcecef4ce1" /><Relationship Type="http://schemas.openxmlformats.org/officeDocument/2006/relationships/notesSlide" Target="/ppt/notesSlides/notesSlide13.xml" Id="Rc9ac43a1bb6d4d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a5186a7544a75" /><Relationship Type="http://schemas.openxmlformats.org/officeDocument/2006/relationships/image" Target="/ppt/media/image19.png" Id="R58e4d0fd6f6d431c" /><Relationship Type="http://schemas.openxmlformats.org/officeDocument/2006/relationships/image" Target="/ppt/media/image21.png" Id="Ra722c1b3428d4c5e" /><Relationship Type="http://schemas.openxmlformats.org/officeDocument/2006/relationships/image" Target="/ppt/media/image22.png" Id="R81ddc656909a469a" /><Relationship Type="http://schemas.openxmlformats.org/officeDocument/2006/relationships/image" Target="/ppt/media/image15.png" Id="R099281b34dc940ac" /><Relationship Type="http://schemas.openxmlformats.org/officeDocument/2006/relationships/image" Target="/ppt/media/image23.png" Id="R6a630dfd80674d38" /><Relationship Type="http://schemas.openxmlformats.org/officeDocument/2006/relationships/notesSlide" Target="/ppt/notesSlides/notesSlide14.xml" Id="R9a2e506c169840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7d9621fff44ff" /><Relationship Type="http://schemas.openxmlformats.org/officeDocument/2006/relationships/image" Target="/ppt/media/image3.png" Id="Re8277ce2bd1b4e3b" /><Relationship Type="http://schemas.openxmlformats.org/officeDocument/2006/relationships/image" Target="/ppt/media/image24.png" Id="R60c4f9fda3dc43ca" /><Relationship Type="http://schemas.openxmlformats.org/officeDocument/2006/relationships/image" Target="/ppt/media/image25.png" Id="R070b205e2dce45a0" /><Relationship Type="http://schemas.openxmlformats.org/officeDocument/2006/relationships/image" Target="/ppt/media/image26.png" Id="R75e8b6a3b975494c" /><Relationship Type="http://schemas.openxmlformats.org/officeDocument/2006/relationships/notesSlide" Target="/ppt/notesSlides/notesSlide15.xml" Id="R354e991bd21448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a582b8614e67" /><Relationship Type="http://schemas.openxmlformats.org/officeDocument/2006/relationships/image" Target="/ppt/media/image27.png" Id="R170ff31aa058486c" /><Relationship Type="http://schemas.openxmlformats.org/officeDocument/2006/relationships/image" Target="/ppt/media/image28.png" Id="R93fec384d8d944e0" /><Relationship Type="http://schemas.openxmlformats.org/officeDocument/2006/relationships/image" Target="/ppt/media/image29.png" Id="Rd5b0e6d97bc646b1" /><Relationship Type="http://schemas.openxmlformats.org/officeDocument/2006/relationships/image" Target="/ppt/media/image30.png" Id="R9e0f4c37c7d747c8" /><Relationship Type="http://schemas.openxmlformats.org/officeDocument/2006/relationships/notesSlide" Target="/ppt/notesSlides/notesSlide16.xml" Id="R19295609a8824a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687663dd6478b" /><Relationship Type="http://schemas.openxmlformats.org/officeDocument/2006/relationships/notesSlide" Target="/ppt/notesSlides/notesSlide17.xml" Id="R5dde140ac56d4e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2f91325b948e5" /><Relationship Type="http://schemas.openxmlformats.org/officeDocument/2006/relationships/image" Target="/ppt/media/image18.png" Id="R6d41e2e7b9354b43" /><Relationship Type="http://schemas.openxmlformats.org/officeDocument/2006/relationships/notesSlide" Target="/ppt/notesSlides/notesSlide18.xml" Id="R92d62d5adb0847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1f622e1ed4c3d" /><Relationship Type="http://schemas.openxmlformats.org/officeDocument/2006/relationships/image" Target="/ppt/media/image4.png" Id="R16522ab8ee874a59" /><Relationship Type="http://schemas.openxmlformats.org/officeDocument/2006/relationships/image" Target="/ppt/media/image31.png" Id="Rd0df28d1946b40b0" /><Relationship Type="http://schemas.openxmlformats.org/officeDocument/2006/relationships/image" Target="/ppt/media/image32.png" Id="R9c0d7f793c3e4cd3" /><Relationship Type="http://schemas.openxmlformats.org/officeDocument/2006/relationships/image" Target="/ppt/media/image33.png" Id="Rd21be6eb326b4a21" /><Relationship Type="http://schemas.openxmlformats.org/officeDocument/2006/relationships/notesSlide" Target="/ppt/notesSlides/notesSlide19.xml" Id="Ra7defff3a20b440f" /></Relationships>
</file>

<file path=ppt/slides/charts/_rels/chart1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.xlsx" /></Relationships>
</file>

<file path=ppt/slides/charts/_rels/chart2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1.xlsx" /></Relationships>
</file>

<file path=ppt/slides/charts/_rels/chart3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2.xlsx" /></Relationships>
</file>

<file path=ppt/slides/charts/_rels/chart4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3.xlsx" /></Relationships>
</file>

<file path=ppt/slides/charts/_rels/chart5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4.xlsx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Mobilisations</c:v>
                </c:pt>
              </c:strCache>
            </c:strRef>
          </c:tx>
          <c:spPr>
            <a:solidFill>
              <a:srgbClr val="147D85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0-1</c:v>
                </c:pt>
                <c:pt idx="1">
                  <c:v>1-2</c:v>
                </c:pt>
                <c:pt idx="2">
                  <c:v>2-3</c:v>
                </c:pt>
                <c:pt idx="3">
                  <c:v>3-4</c:v>
                </c:pt>
                <c:pt idx="4">
                  <c:v>4-5</c:v>
                </c:pt>
                <c:pt idx="5">
                  <c:v>5-6</c:v>
                </c:pt>
                <c:pt idx="6">
                  <c:v>6-7</c:v>
                </c:pt>
                <c:pt idx="7">
                  <c:v>7-8</c:v>
                </c:pt>
                <c:pt idx="8">
                  <c:v>8-9</c:v>
                </c:pt>
                <c:pt idx="9">
                  <c:v>9-10</c:v>
                </c:pt>
                <c:pt idx="10">
                  <c:v>10-11</c:v>
                </c:pt>
                <c:pt idx="11">
                  <c:v>11-12</c:v>
                </c:pt>
                <c:pt idx="12">
                  <c:v>12-13</c:v>
                </c:pt>
                <c:pt idx="13">
                  <c:v>13-14</c:v>
                </c:pt>
                <c:pt idx="14">
                  <c:v>14-15</c:v>
                </c:pt>
                <c:pt idx="15">
                  <c:v>15-16</c:v>
                </c:pt>
                <c:pt idx="16">
                  <c:v>16-17</c:v>
                </c:pt>
                <c:pt idx="17">
                  <c:v>17-18</c:v>
                </c:pt>
                <c:pt idx="18">
                  <c:v>18-19</c:v>
                </c:pt>
                <c:pt idx="19">
                  <c:v>19-20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3957</c:v>
                </c:pt>
                <c:pt idx="1">
                  <c:v>4355</c:v>
                </c:pt>
                <c:pt idx="2">
                  <c:v>19285</c:v>
                </c:pt>
                <c:pt idx="3">
                  <c:v>46262</c:v>
                </c:pt>
                <c:pt idx="4">
                  <c:v>69725</c:v>
                </c:pt>
                <c:pt idx="5">
                  <c:v>71918</c:v>
                </c:pt>
                <c:pt idx="6">
                  <c:v>58536</c:v>
                </c:pt>
                <c:pt idx="7">
                  <c:v>41420</c:v>
                </c:pt>
                <c:pt idx="8">
                  <c:v>26560</c:v>
                </c:pt>
                <c:pt idx="9">
                  <c:v>16242</c:v>
                </c:pt>
                <c:pt idx="10">
                  <c:v>9723</c:v>
                </c:pt>
                <c:pt idx="11">
                  <c:v>5962</c:v>
                </c:pt>
                <c:pt idx="12">
                  <c:v>3608</c:v>
                </c:pt>
                <c:pt idx="13">
                  <c:v>2413</c:v>
                </c:pt>
                <c:pt idx="14">
                  <c:v>1582</c:v>
                </c:pt>
                <c:pt idx="15">
                  <c:v>1061</c:v>
                </c:pt>
                <c:pt idx="16">
                  <c:v>769</c:v>
                </c:pt>
                <c:pt idx="17">
                  <c:v>527</c:v>
                </c:pt>
                <c:pt idx="18">
                  <c:v>421</c:v>
                </c:pt>
                <c:pt idx="19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41-4F3B-B70B-56887CB68A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Attendance time in minutes, 1-minute intervals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Mobilisations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</c:v>
                </c:pt>
              </c:strCache>
            </c:strRef>
          </c:tx>
          <c:spPr>
            <a:solidFill>
              <a:srgbClr val="147D85">
                <a:alpha val="40000"/>
              </a:srgbClr>
            </a:solidFill>
            <a:effectLst/>
          </c:spPr>
          <c:cat>
            <c:strRef>
              <c:f>Sheet1!$A$2:$A$42</c:f>
              <c:strCache>
                <c:ptCount val="4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  <c:pt idx="19">
                  <c:v>9.5</c:v>
                </c:pt>
                <c:pt idx="20">
                  <c:v>10</c:v>
                </c:pt>
                <c:pt idx="21">
                  <c:v>10.5</c:v>
                </c:pt>
                <c:pt idx="22">
                  <c:v>11</c:v>
                </c:pt>
                <c:pt idx="23">
                  <c:v>11.5</c:v>
                </c:pt>
                <c:pt idx="24">
                  <c:v>12</c:v>
                </c:pt>
                <c:pt idx="25">
                  <c:v>12.5</c:v>
                </c:pt>
                <c:pt idx="26">
                  <c:v>13</c:v>
                </c:pt>
                <c:pt idx="27">
                  <c:v>13.5</c:v>
                </c:pt>
                <c:pt idx="28">
                  <c:v>14</c:v>
                </c:pt>
                <c:pt idx="29">
                  <c:v>14.5</c:v>
                </c:pt>
                <c:pt idx="30">
                  <c:v>15</c:v>
                </c:pt>
                <c:pt idx="31">
                  <c:v>15.5</c:v>
                </c:pt>
                <c:pt idx="32">
                  <c:v>16</c:v>
                </c:pt>
                <c:pt idx="33">
                  <c:v>16.5</c:v>
                </c:pt>
                <c:pt idx="34">
                  <c:v>17</c:v>
                </c:pt>
                <c:pt idx="35">
                  <c:v>17.5</c:v>
                </c:pt>
                <c:pt idx="36">
                  <c:v>18</c:v>
                </c:pt>
                <c:pt idx="37">
                  <c:v>18.5</c:v>
                </c:pt>
                <c:pt idx="38">
                  <c:v>19</c:v>
                </c:pt>
                <c:pt idx="39">
                  <c:v>19.5</c:v>
                </c:pt>
                <c:pt idx="40">
                  <c:v>20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0.01689</c:v>
                </c:pt>
                <c:pt idx="1">
                  <c:v>0.01054</c:v>
                </c:pt>
                <c:pt idx="2">
                  <c:v>0.00745</c:v>
                </c:pt>
                <c:pt idx="3">
                  <c:v>0.01296</c:v>
                </c:pt>
                <c:pt idx="4">
                  <c:v>0.02756</c:v>
                </c:pt>
                <c:pt idx="5">
                  <c:v>0.05274</c:v>
                </c:pt>
                <c:pt idx="6">
                  <c:v>0.08444</c:v>
                </c:pt>
                <c:pt idx="7">
                  <c:v>0.11762</c:v>
                </c:pt>
                <c:pt idx="8">
                  <c:v>0.15333</c:v>
                </c:pt>
                <c:pt idx="9">
                  <c:v>0.18195</c:v>
                </c:pt>
                <c:pt idx="10">
                  <c:v>0.19144</c:v>
                </c:pt>
                <c:pt idx="11">
                  <c:v>0.18635</c:v>
                </c:pt>
                <c:pt idx="12">
                  <c:v>0.17001</c:v>
                </c:pt>
                <c:pt idx="13">
                  <c:v>0.15133</c:v>
                </c:pt>
                <c:pt idx="14">
                  <c:v>0.12765</c:v>
                </c:pt>
                <c:pt idx="15">
                  <c:v>0.10614</c:v>
                </c:pt>
                <c:pt idx="16">
                  <c:v>0.08648</c:v>
                </c:pt>
                <c:pt idx="17">
                  <c:v>0.07086</c:v>
                </c:pt>
                <c:pt idx="18">
                  <c:v>0.05351</c:v>
                </c:pt>
                <c:pt idx="19">
                  <c:v>0.04141</c:v>
                </c:pt>
                <c:pt idx="20">
                  <c:v>0.03361</c:v>
                </c:pt>
                <c:pt idx="21">
                  <c:v>0.02633</c:v>
                </c:pt>
                <c:pt idx="22">
                  <c:v>0.02099</c:v>
                </c:pt>
                <c:pt idx="23">
                  <c:v>0.01575</c:v>
                </c:pt>
                <c:pt idx="24">
                  <c:v>0.01164</c:v>
                </c:pt>
                <c:pt idx="25">
                  <c:v>0.00909</c:v>
                </c:pt>
                <c:pt idx="26">
                  <c:v>0.00687</c:v>
                </c:pt>
                <c:pt idx="27">
                  <c:v>0.00601</c:v>
                </c:pt>
                <c:pt idx="28">
                  <c:v>0.00502</c:v>
                </c:pt>
                <c:pt idx="29">
                  <c:v>0.00392</c:v>
                </c:pt>
                <c:pt idx="30">
                  <c:v>0.00275</c:v>
                </c:pt>
                <c:pt idx="31">
                  <c:v>0.00276</c:v>
                </c:pt>
                <c:pt idx="32">
                  <c:v>0.00274</c:v>
                </c:pt>
                <c:pt idx="33">
                  <c:v>0.00248</c:v>
                </c:pt>
                <c:pt idx="34">
                  <c:v>0.00187</c:v>
                </c:pt>
                <c:pt idx="35">
                  <c:v>0.00155</c:v>
                </c:pt>
                <c:pt idx="36">
                  <c:v>0.00126</c:v>
                </c:pt>
                <c:pt idx="37">
                  <c:v>0.00081</c:v>
                </c:pt>
                <c:pt idx="38">
                  <c:v>0.00083</c:v>
                </c:pt>
                <c:pt idx="39">
                  <c:v>0.0009</c:v>
                </c:pt>
                <c:pt idx="40">
                  <c:v>0.00053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D7-4C69-9C70-0BD7013FAD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Attendance time in minutes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Density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ln w="38100" cap="flat">
              <a:solidFill>
                <a:srgbClr val="B8533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8.78333</c:v>
                </c:pt>
                <c:pt idx="1">
                  <c:v>8.9</c:v>
                </c:pt>
                <c:pt idx="2">
                  <c:v>9.06667</c:v>
                </c:pt>
                <c:pt idx="3">
                  <c:v>8.7</c:v>
                </c:pt>
                <c:pt idx="4">
                  <c:v>8.91667</c:v>
                </c:pt>
                <c:pt idx="5">
                  <c:v>9.36667</c:v>
                </c:pt>
                <c:pt idx="6">
                  <c:v>9.13333</c:v>
                </c:pt>
                <c:pt idx="7">
                  <c:v>9.05</c:v>
                </c:pt>
                <c:pt idx="8">
                  <c:v>9.5</c:v>
                </c:pt>
                <c:pt idx="9">
                  <c:v>9.4</c:v>
                </c:pt>
                <c:pt idx="10">
                  <c:v>9.55</c:v>
                </c:pt>
                <c:pt idx="11">
                  <c:v>9.275</c:v>
                </c:pt>
                <c:pt idx="12">
                  <c:v>9.23333</c:v>
                </c:pt>
                <c:pt idx="13">
                  <c:v>8.91667</c:v>
                </c:pt>
                <c:pt idx="14">
                  <c:v>9</c:v>
                </c:pt>
                <c:pt idx="15">
                  <c:v>8.93333</c:v>
                </c:pt>
                <c:pt idx="16">
                  <c:v>9.34</c:v>
                </c:pt>
                <c:pt idx="17">
                  <c:v>9.5</c:v>
                </c:pt>
                <c:pt idx="18">
                  <c:v>9.28333</c:v>
                </c:pt>
                <c:pt idx="19">
                  <c:v>9.2</c:v>
                </c:pt>
                <c:pt idx="20">
                  <c:v>9.38333</c:v>
                </c:pt>
                <c:pt idx="21">
                  <c:v>9.3</c:v>
                </c:pt>
                <c:pt idx="22">
                  <c:v>9.41667</c:v>
                </c:pt>
                <c:pt idx="23">
                  <c:v>9.33333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AE-49E7-BDC2-97D67A72CF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38100" cap="flat">
              <a:solidFill>
                <a:srgbClr val="147D8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5.46667</c:v>
                </c:pt>
                <c:pt idx="1">
                  <c:v>5.51667</c:v>
                </c:pt>
                <c:pt idx="2">
                  <c:v>5.56667</c:v>
                </c:pt>
                <c:pt idx="3">
                  <c:v>5.46667</c:v>
                </c:pt>
                <c:pt idx="4">
                  <c:v>5.46667</c:v>
                </c:pt>
                <c:pt idx="5">
                  <c:v>5.68333</c:v>
                </c:pt>
                <c:pt idx="6">
                  <c:v>5.6</c:v>
                </c:pt>
                <c:pt idx="7">
                  <c:v>5.58333</c:v>
                </c:pt>
                <c:pt idx="8">
                  <c:v>5.8</c:v>
                </c:pt>
                <c:pt idx="9">
                  <c:v>5.75</c:v>
                </c:pt>
                <c:pt idx="10">
                  <c:v>5.76667</c:v>
                </c:pt>
                <c:pt idx="11">
                  <c:v>5.73333</c:v>
                </c:pt>
                <c:pt idx="12">
                  <c:v>5.65</c:v>
                </c:pt>
                <c:pt idx="13">
                  <c:v>5.55</c:v>
                </c:pt>
                <c:pt idx="14">
                  <c:v>5.63333</c:v>
                </c:pt>
                <c:pt idx="15">
                  <c:v>5.58333</c:v>
                </c:pt>
                <c:pt idx="16">
                  <c:v>5.68333</c:v>
                </c:pt>
                <c:pt idx="17">
                  <c:v>5.71667</c:v>
                </c:pt>
                <c:pt idx="18">
                  <c:v>5.66667</c:v>
                </c:pt>
                <c:pt idx="19">
                  <c:v>5.66667</c:v>
                </c:pt>
                <c:pt idx="20">
                  <c:v>5.8</c:v>
                </c:pt>
                <c:pt idx="21">
                  <c:v>5.75</c:v>
                </c:pt>
                <c:pt idx="22">
                  <c:v>5.8</c:v>
                </c:pt>
                <c:pt idx="23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AE-49E7-BDC2-97D67A72CF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5400000"/>
          <a:lstStyle/>
          <a:p>
            <a:pPr>
              <a:defRPr sz="10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DC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Minutes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7324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s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rgbClr val="147D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27-442E-99FE-B2C619CC4A0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E27-442E-99FE-B2C619CC4A0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E27-442E-99FE-B2C619CC4A0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E27-442E-99FE-B2C619CC4A06}"/>
              </c:ext>
            </c:extLst>
          </c:dPt>
          <c:dPt>
            <c:idx val="4"/>
            <c:invertIfNegative val="0"/>
            <c:bubble3D val="0"/>
            <c:spPr>
              <a:solidFill>
                <a:srgbClr val="B85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27-442E-99FE-B2C619CC4A0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73243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REDBRIDGE (n=7,824)</c:v>
                </c:pt>
                <c:pt idx="1">
                  <c:v>BROMLEY (n=9,848)</c:v>
                </c:pt>
                <c:pt idx="2">
                  <c:v>ENFIELD (n=10,178)</c:v>
                </c:pt>
                <c:pt idx="3">
                  <c:v>HAVERING (n=7,033)</c:v>
                </c:pt>
                <c:pt idx="4">
                  <c:v>HILLINGDON (n=12,195)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9.95</c:v>
                </c:pt>
                <c:pt idx="1">
                  <c:v>10.1</c:v>
                </c:pt>
                <c:pt idx="2">
                  <c:v>10.15</c:v>
                </c:pt>
                <c:pt idx="3">
                  <c:v>10.21667</c:v>
                </c:pt>
                <c:pt idx="4">
                  <c:v>10.66667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27-442E-99FE-B2C619CC4A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9525" cap="flat">
              <a:solidFill>
                <a:srgbClr val="DC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Minutes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s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ln w="38100" cap="flat">
              <a:solidFill>
                <a:srgbClr val="B85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332"/>
              </a:solidFill>
              <a:ln w="9525" cap="flat">
                <a:solidFill>
                  <a:srgbClr val="B85332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8.45</c:v>
                </c:pt>
                <c:pt idx="1">
                  <c:v>8.66667</c:v>
                </c:pt>
                <c:pt idx="2">
                  <c:v>8.73333</c:v>
                </c:pt>
                <c:pt idx="3">
                  <c:v>8.7</c:v>
                </c:pt>
                <c:pt idx="4">
                  <c:v>8.61667</c:v>
                </c:pt>
                <c:pt idx="5">
                  <c:v>8.76333</c:v>
                </c:pt>
                <c:pt idx="6">
                  <c:v>8.78333</c:v>
                </c:pt>
                <c:pt idx="7">
                  <c:v>8.68333</c:v>
                </c:pt>
                <c:pt idx="8">
                  <c:v>8.65</c:v>
                </c:pt>
                <c:pt idx="9">
                  <c:v>8.93333</c:v>
                </c:pt>
                <c:pt idx="10">
                  <c:v>9.58333</c:v>
                </c:pt>
                <c:pt idx="11">
                  <c:v>10.02667</c:v>
                </c:pt>
                <c:pt idx="12">
                  <c:v>9.83333</c:v>
                </c:pt>
                <c:pt idx="13">
                  <c:v>9.86667</c:v>
                </c:pt>
                <c:pt idx="14">
                  <c:v>9.81667</c:v>
                </c:pt>
                <c:pt idx="15">
                  <c:v>9.735</c:v>
                </c:pt>
                <c:pt idx="16">
                  <c:v>9.8</c:v>
                </c:pt>
                <c:pt idx="17">
                  <c:v>9.56667</c:v>
                </c:pt>
                <c:pt idx="18">
                  <c:v>9.28333</c:v>
                </c:pt>
                <c:pt idx="19">
                  <c:v>8.88333</c:v>
                </c:pt>
                <c:pt idx="20">
                  <c:v>8.68333</c:v>
                </c:pt>
                <c:pt idx="21">
                  <c:v>8.53333</c:v>
                </c:pt>
                <c:pt idx="22">
                  <c:v>8.26667</c:v>
                </c:pt>
                <c:pt idx="23">
                  <c:v>8.43833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9B-44B6-9ACE-AF085D01A5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38100" cap="flat">
              <a:solidFill>
                <a:srgbClr val="147D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7D85"/>
              </a:solidFill>
              <a:ln w="9525" cap="flat">
                <a:solidFill>
                  <a:srgbClr val="147D85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5.55</c:v>
                </c:pt>
                <c:pt idx="1">
                  <c:v>5.65</c:v>
                </c:pt>
                <c:pt idx="2">
                  <c:v>5.73333</c:v>
                </c:pt>
                <c:pt idx="3">
                  <c:v>5.75</c:v>
                </c:pt>
                <c:pt idx="4">
                  <c:v>5.71667</c:v>
                </c:pt>
                <c:pt idx="5">
                  <c:v>5.76667</c:v>
                </c:pt>
                <c:pt idx="6">
                  <c:v>5.68333</c:v>
                </c:pt>
                <c:pt idx="7">
                  <c:v>5.46667</c:v>
                </c:pt>
                <c:pt idx="8">
                  <c:v>5.38333</c:v>
                </c:pt>
                <c:pt idx="9">
                  <c:v>5.48333</c:v>
                </c:pt>
                <c:pt idx="10">
                  <c:v>5.81667</c:v>
                </c:pt>
                <c:pt idx="11">
                  <c:v>6</c:v>
                </c:pt>
                <c:pt idx="12">
                  <c:v>5.96667</c:v>
                </c:pt>
                <c:pt idx="13">
                  <c:v>5.93333</c:v>
                </c:pt>
                <c:pt idx="14">
                  <c:v>5.88333</c:v>
                </c:pt>
                <c:pt idx="15">
                  <c:v>5.9</c:v>
                </c:pt>
                <c:pt idx="16">
                  <c:v>5.88333</c:v>
                </c:pt>
                <c:pt idx="17">
                  <c:v>5.81667</c:v>
                </c:pt>
                <c:pt idx="18">
                  <c:v>5.66667</c:v>
                </c:pt>
                <c:pt idx="19">
                  <c:v>5.48333</c:v>
                </c:pt>
                <c:pt idx="20">
                  <c:v>5.38333</c:v>
                </c:pt>
                <c:pt idx="21">
                  <c:v>5.33333</c:v>
                </c:pt>
                <c:pt idx="22">
                  <c:v>5.3</c:v>
                </c:pt>
                <c:pt idx="23">
                  <c:v>5.43333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9B-44B6-9ACE-AF085D01A5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Dispatch hour in GMT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DC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636D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2636D"/>
                    </a:solidFill>
                    <a:latin typeface="Calibri"/>
                  </a:rPr>
                  <a:t>Minutes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3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7324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18CA9CE-3D20-4BF9-B467-8AD2A24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960120"/>
            <a:ext cx="4937760" cy="4937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3">
              <a:alpha val="0"/>
            </a:srgbClr>
          </a:solidFill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ABF79E9-9F05-4354-8690-9CAEE390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566160" cy="3566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3">
              <a:alpha val="0"/>
            </a:srgbClr>
          </a:solidFill>
          <a:ln xmlns:a="http://schemas.openxmlformats.org/drawingml/2006/main" w="31750">
            <a:solidFill>
              <a:srgbClr val="147D85"/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0B8AF12-F177-4078-91C0-00531109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02cf55b05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2560" y="2880360"/>
            <a:ext cx="1097280" cy="1097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C9A92E5-0950-4AEA-A3A5-9B77675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64008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London Fire Brigade</a:t>
            </a:r>
            <a:endParaRPr sz="5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6B9BB86-B0B6-4D33-98DD-32B0D9A0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6217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B8E0DF"/>
                </a:solidFill>
                <a:latin typeface="Calibri"/>
                <a:ea typeface="Calibri"/>
                <a:cs typeface="Calibri"/>
              </a:rPr>
              <a:t>Vehicle mobilisation and arrival times</a:t>
            </a:r>
            <a:endParaRPr sz="26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929D622-26E0-478E-8728-22CB99D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0"/>
            <a:ext cx="6583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Clemente Ibarra and Matías Muñoz Hoffmann</a:t>
            </a:r>
            <a:endParaRPr sz="2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AAAB97B-9C2A-435E-9479-406C1C0A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6583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B8E0DF"/>
                </a:solidFill>
                <a:latin typeface="Calibri"/>
                <a:ea typeface="Calibri"/>
                <a:cs typeface="Calibri"/>
              </a:rPr>
              <a:t>Business Intelligence C1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B8E0DF"/>
                </a:solidFill>
                <a:latin typeface="Calibri"/>
                <a:ea typeface="Calibri"/>
                <a:cs typeface="Calibri"/>
              </a:rPr>
              <a:t>29 September 2026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20117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AA9FBC6-A005-432A-9B50-C78F5A56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Our question and decision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7720FDD-3E2C-41DC-AF79-F22BC914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02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8519DE-9AA5-428C-9DB5-EA132245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08792" cy="19202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AEEA6AB-98AF-421E-BB14-44F8B09B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0312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109f59fcc46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440" y="23317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0F707FA-BA05-43FB-9F8A-0777BB8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886968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Which districts and dispatch hours have longer attendance times?</a:t>
            </a:r>
            <a:endParaRPr sz="3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AB93CD-2096-43FE-9F63-FCA002B9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534924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C318083-1663-481F-94B3-33200BAB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628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1abc5708c44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47091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62127C7-44C5-4EC3-AAB7-11133CA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94760"/>
            <a:ext cx="37947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Decision:</a:t>
            </a:r>
            <a:r>
              <a:rPr sz="21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prioritise areas and hours for further investigation.</a:t>
            </a:r>
            <a:endParaRPr sz="21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876CE597-A983-476C-8459-1BBA2450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94760"/>
            <a:ext cx="534924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6E9B69D-AFAC-4EF9-921B-0FF4F155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52628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24b0baef8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6832" y="47091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F70AB225-E025-4944-BD8E-12131E6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794760"/>
            <a:ext cx="37947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Public timestamps and operational categories support the question.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8764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D792232-5D76-4728-8D7F-B8E04A1B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Data source and observation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2BB1E3F-47F1-4644-AC09-3452C53B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03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E9E3B25-0050-4BA7-AE9B-F43D07F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851D0F1-DF59-4ED2-8556-43D5279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9716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b6bf8b5d1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248259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456662E-7870-4928-B500-F3C882A5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600200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Official source:</a:t>
            </a:r>
            <a:r>
              <a:rPr sz="21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London Fire Brigade Mobilisation Records.</a:t>
            </a:r>
            <a:endParaRPr sz="21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91127F0-D2FF-4457-AC9C-51A1FF55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00200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F187085-5C4F-47F5-B6F4-E8ADC1D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99716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b073fc6f8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6832" y="248259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B81E3B0-A91D-42A6-8E89-AEC4433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600200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One row represents one vehicle mobilisation.</a:t>
            </a:r>
            <a:endParaRPr sz="21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98066076-AD05-4DDA-A53A-B6D518C3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50208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D1C35E6A-78C8-43F5-9074-9E7E789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972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f5cea1374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48326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67AC9134-0C3C-43BD-88C3-1E04EC7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0208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Analysis window:</a:t>
            </a:r>
            <a:r>
              <a:rPr sz="21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dispatch dates in 2023–2024, using GMT.</a:t>
            </a:r>
            <a:endParaRPr sz="21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138536A0-7E0D-4FE2-9CD2-92D88D46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950208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D9BC8DE-C375-494D-9670-9410748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64972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f61ed493d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6832" y="48326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813531F1-824F-470B-864A-55F0BA60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950208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Several vehicles can attend the same incident.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827258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16B5C8-4F67-4756-9B95-5FFFA80C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Our KPI: the 90th percentile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4DD22FA-D47D-4012-9585-AB9F3A42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04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F98E0D0-BD72-422F-98A3-7F00333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2555748" cy="4297680"/>
          </a:xfrm>
          <a:prstGeom xmlns:a="http://schemas.openxmlformats.org/drawingml/2006/main" prst="roundRect">
            <a:avLst>
              <a:gd name="adj" fmla="val 429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3068FD7-3242-4BAE-BF06-FEC09ECB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b96324373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8720" y="22860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BC319A0-C699-4506-AF79-3C76C40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915668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Measure:</a:t>
            </a: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minutes from mobilisation to arrival.</a:t>
            </a:r>
            <a:endParaRPr sz="2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BE1B26BF-B86B-4415-B012-40C0AF6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428" y="1691640"/>
            <a:ext cx="2555748" cy="4297680"/>
          </a:xfrm>
          <a:prstGeom xmlns:a="http://schemas.openxmlformats.org/drawingml/2006/main" prst="roundRect">
            <a:avLst>
              <a:gd name="adj" fmla="val 429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9DAACAB-B312-42DF-BA89-506DC8D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ac99c7b4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3068" y="22860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7758F46-5E8F-49BF-AC64-C249B5D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3246120"/>
            <a:ext cx="1915668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P90:</a:t>
            </a: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about 90% of eligible times fall at or below this value.</a:t>
            </a:r>
            <a:endParaRPr sz="20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42B0F36-4E7E-4757-B36A-050B1E2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691640"/>
            <a:ext cx="2555748" cy="4297680"/>
          </a:xfrm>
          <a:prstGeom xmlns:a="http://schemas.openxmlformats.org/drawingml/2006/main" prst="roundRect">
            <a:avLst>
              <a:gd name="adj" fmla="val 429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E8A6CCD1-40C5-44A6-9937-8759026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c2d9661a340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7416" y="22860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5F2FD2FA-068D-4440-9D31-E268556D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3246120"/>
            <a:ext cx="1915668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Purpose:</a:t>
            </a: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examine longer times alongside the median and record count.</a:t>
            </a:r>
            <a:endParaRPr sz="20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AEFD45EA-2387-424E-808B-7C95148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124" y="1691640"/>
            <a:ext cx="2555748" cy="4297680"/>
          </a:xfrm>
          <a:prstGeom xmlns:a="http://schemas.openxmlformats.org/drawingml/2006/main" prst="roundRect">
            <a:avLst>
              <a:gd name="adj" fmla="val 429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D67620E-4CF1-4CCC-85C1-63BCB3A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164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d5f63f479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1764" y="22860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327EFA86-1B63-49E2-A3AE-9C6F1C7B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164" y="3246120"/>
            <a:ext cx="1915668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The measure excludes call handling before mobilisation.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77830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8E606F5-D5DA-48BB-8A5F-3B14E101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Data preparation and row counts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E7C83D8-F901-4E6A-A663-BB8C5AEE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05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325B37D-387B-4BD3-A9A9-DAA9F731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2418588" cy="2834640"/>
          </a:xfrm>
          <a:prstGeom xmlns:a="http://schemas.openxmlformats.org/drawingml/2006/main" prst="roundRect">
            <a:avLst>
              <a:gd name="adj" fmla="val 4537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59D5DEE-6444-465A-9265-9C34109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Stage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5FDAE58-2C60-4388-AD83-B958FF7E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8699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Original file, 2021–2024</a:t>
            </a:r>
            <a:endParaRPr sz="17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256185C-A7F8-492F-8BAF-C1B16538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896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Rows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96973EC-A084-4CBD-9A0C-ED254927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186994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727,857</a:t>
            </a:r>
            <a:endParaRPr sz="3200"/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6e4a8614f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7248" y="29718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DA49CFC-E922-480C-AC83-B869058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148" y="1691640"/>
            <a:ext cx="2418588" cy="2834640"/>
          </a:xfrm>
          <a:prstGeom xmlns:a="http://schemas.openxmlformats.org/drawingml/2006/main" prst="roundRect">
            <a:avLst>
              <a:gd name="adj" fmla="val 4537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7031285-CB37-455C-A8F5-2832CDA7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182880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Stage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1807733-BB8B-43DF-9438-3F66528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2148840"/>
            <a:ext cx="18699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After removing exact duplicates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75E2085-956E-4B63-BCB6-ED55D99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310896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Rows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A64A636-7856-4B94-BA56-12E7DB76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3383280"/>
            <a:ext cx="186994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723,935</a:t>
            </a:r>
            <a:endParaRPr sz="3200"/>
          </a:p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6e4a8614f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7316" y="29718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1A068AED-865F-40D5-8ACA-15ED674B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691640"/>
            <a:ext cx="2418588" cy="2834640"/>
          </a:xfrm>
          <a:prstGeom xmlns:a="http://schemas.openxmlformats.org/drawingml/2006/main" prst="roundRect">
            <a:avLst>
              <a:gd name="adj" fmla="val 4537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3FC8D2F-B0A0-45AE-8C9E-5AB760EA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82880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Stage</a:t>
            </a:r>
            <a:endParaRPr sz="12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010DD076-E789-453E-BE9B-68B371D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148840"/>
            <a:ext cx="18699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Selected dispatch period, 2023–2024</a:t>
            </a:r>
            <a:endParaRPr sz="17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E502D87-581C-4971-855B-1F38554C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10896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Rows</a:t>
            </a:r>
            <a:endParaRPr sz="12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F2F0DE7-1FD4-40EE-BDD3-44C4F5B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383280"/>
            <a:ext cx="186994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384,643</a:t>
            </a:r>
            <a:endParaRPr sz="3200"/>
          </a:p>
        </p:txBody>
      </p:sp>
      <p:pic>
        <p:nvPicPr>
          <p:cNvPr id="5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6e4a8614f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7384" y="29718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9EB704F4-02D0-4479-8F07-78AEBC8F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284" y="1691640"/>
            <a:ext cx="2418588" cy="2834640"/>
          </a:xfrm>
          <a:prstGeom xmlns:a="http://schemas.openxmlformats.org/drawingml/2006/main" prst="roundRect">
            <a:avLst>
              <a:gd name="adj" fmla="val 4537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D6A19CF7-35E9-4751-BDF2-27146FB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182880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8E0DF"/>
                </a:solidFill>
                <a:latin typeface="Calibri"/>
                <a:ea typeface="Calibri"/>
                <a:cs typeface="Calibri"/>
              </a:rPr>
              <a:t>Stage</a:t>
            </a:r>
            <a:endParaRPr sz="12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90ED90B-65CA-4C5D-B515-EF71CD2F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2148840"/>
            <a:ext cx="18699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Eligible after 16 conflicting-ID exclusions</a:t>
            </a:r>
            <a:endParaRPr sz="17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F45CAFC9-E3AB-4D6D-A543-751C1432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3108960"/>
            <a:ext cx="18699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8E0DF"/>
                </a:solidFill>
                <a:latin typeface="Calibri"/>
                <a:ea typeface="Calibri"/>
                <a:cs typeface="Calibri"/>
              </a:rPr>
              <a:t>Rows</a:t>
            </a:r>
            <a:endParaRPr sz="12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63218958-6F92-4FC4-90E5-063A9C5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3383280"/>
            <a:ext cx="186994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384,627</a:t>
            </a:r>
            <a:endParaRPr sz="32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45DEA2D8-0803-46DE-A45D-F17EA2B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10908792" cy="118872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86E5DE39-EDD0-4307-8A1C-ABA48037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2920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65fa0fb05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52120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11333D6F-7211-452E-953C-27C70E4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800600"/>
            <a:ext cx="93268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population:</a:t>
            </a:r>
            <a:r>
              <a:rPr sz="2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384,627 vehicle mobilisations across 248,225 distinct incident IDs.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2058718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3B18559-323B-401D-9938-88F1A26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Cleaning decisions and validation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5ACF14D-C5F9-4371-8581-C4D91A5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06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0BAC768-39BF-4BB3-923A-28A2762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85C2BC7-7BCC-4242-9327-255D3597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ada8a416b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32DFB55-5131-41EC-8CFD-2CB827ED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645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Check unique mobilisation IDs and nonnegative durations.</a:t>
            </a:r>
            <a:endParaRPr sz="22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44B27A43-5333-497F-9E48-3630149E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C862066-8477-4014-90C8-EA829C46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31bea03e2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3120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2E9D6903-15C2-4115-90D5-E69CEE2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788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Compare attendance time with arrival minus mobilisation, within 1 second.</a:t>
            </a:r>
            <a:endParaRPr sz="22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13E42AFE-A4F9-4296-9876-508098C1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C4EAAEE2-A7DA-4AE0-A385-1FA37E2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d63d215d8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4263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5EB2BE3C-B89D-4C31-A3D0-F1BD45F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931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Keep 1,288 records with unknown district in the global KPI.</a:t>
            </a:r>
            <a:endParaRPr sz="22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CD629A05-1E8A-4D5C-B712-EDEAC850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C49DC1BA-41A9-44C6-B887-820DA932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96cf3f02a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5406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BF2CB581-D7BA-4B69-881B-CCAC2C86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074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Keep valid long times. Do not impute the target.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050336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54CC0AC-363B-452D-9E3A-BEFD6605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Distribution of attendance times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E149F00-8418-4DCE-ABFD-144B7C70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07</a:t>
            </a:r>
            <a:endParaRPr sz="1200"/>
          </a:p>
        </p:txBody>
      </p:sp>
      <p:graphicFrame>
        <p:nvGraphicFramePr>
          <p:cNvPr id="19" name="Chart 0"/>
          <p:cNvGraphicFramePr/>
          <p:nvPr/>
        </p:nvGraphicFramePr>
        <p:xfrm>
          <a:off xmlns:a="http://schemas.openxmlformats.org/drawingml/2006/main" x="640080" y="1463040"/>
          <a:ext xmlns:a="http://schemas.openxmlformats.org/drawingml/2006/main" cx="7863840" cy="4160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8b4ab423e4e94"/>
          </a:graphicData>
        </a:graphic>
      </p:graphicFrame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AA135593-1EE0-4E7D-B679-025B9A3A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63040"/>
            <a:ext cx="2816352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29717BE-D116-4ACA-B78A-51FB79FC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4592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Median</a:t>
            </a:r>
            <a:endParaRPr sz="1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EDDE353-7307-41D3-8C9B-EFD456CD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47D85"/>
                </a:solidFill>
                <a:latin typeface="Cambria"/>
                <a:ea typeface="Cambria"/>
                <a:cs typeface="Cambria"/>
              </a:rPr>
              <a:t>5.65 min</a:t>
            </a:r>
            <a:endParaRPr sz="32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35C02CB-D987-4C50-B3C4-20DD819D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880360"/>
            <a:ext cx="2816352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9D3484B-4A73-493B-8CEA-EA191F29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632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Mean</a:t>
            </a:r>
            <a:endParaRPr sz="14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606C4DC-743F-44EC-95D6-1697624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29000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52636D"/>
                </a:solidFill>
                <a:latin typeface="Cambria"/>
                <a:ea typeface="Cambria"/>
                <a:cs typeface="Cambria"/>
              </a:rPr>
              <a:t>6.03 min</a:t>
            </a:r>
            <a:endParaRPr sz="32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EE0C9CC-C846-4D64-91D5-33CC647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97680"/>
            <a:ext cx="2816352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1BE565B-1003-449E-97F3-DFE22DE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8056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P90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2A216D8-2DD0-40BE-9D10-342351D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846320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B85332"/>
                </a:solidFill>
                <a:latin typeface="Cambria"/>
                <a:ea typeface="Cambria"/>
                <a:cs typeface="Cambria"/>
              </a:rPr>
              <a:t>9.20 min</a:t>
            </a:r>
            <a:endParaRPr sz="3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FFB8049-0C2D-42D4-8AAE-1B1E8EE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All 384,627 eligible records. Full observed range shown.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1871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FD570A9-8D7C-4B6E-AD3A-9048B638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Density of attendance times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9848FE0-8227-4C07-BA52-3A08B9E5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08</a:t>
            </a:r>
            <a:endParaRPr sz="1200"/>
          </a:p>
        </p:txBody>
      </p:sp>
      <p:graphicFrame>
        <p:nvGraphicFramePr>
          <p:cNvPr id="14" name="Chart 0"/>
          <p:cNvGraphicFramePr/>
          <p:nvPr/>
        </p:nvGraphicFramePr>
        <p:xfrm>
          <a:off xmlns:a="http://schemas.openxmlformats.org/drawingml/2006/main" x="640080" y="1371600"/>
          <a:ext xmlns:a="http://schemas.openxmlformats.org/drawingml/2006/main" cx="10908792" cy="4023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7ebfea277c40ff"/>
          </a:graphicData>
        </a:graphic>
      </p:graphicFrame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02363C80-E967-4F3D-BABF-A5BC03A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908792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DEB2B3A-7D73-44F2-B733-BECF59AB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64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011053fb744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57607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B0DFBCC6-DE12-4B67-B323-55EA047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486400"/>
            <a:ext cx="962863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KDE based on a reproducible sample of 20,000 records, with reflection at zero.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Curve height shows density. It is not a direct percentage.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91240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328DE46-F40C-42A9-B4DB-6245A83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Monthly median and P90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7EA674E-C887-45A1-90F1-CE44C9C9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09</a:t>
            </a:r>
            <a:endParaRPr sz="1200"/>
          </a:p>
        </p:txBody>
      </p:sp>
      <p:graphicFrame>
        <p:nvGraphicFramePr>
          <p:cNvPr id="19" name="Chart 0"/>
          <p:cNvGraphicFramePr/>
          <p:nvPr/>
        </p:nvGraphicFramePr>
        <p:xfrm>
          <a:off xmlns:a="http://schemas.openxmlformats.org/drawingml/2006/main" x="640080" y="1371600"/>
          <a:ext xmlns:a="http://schemas.openxmlformats.org/drawingml/2006/main" cx="10908792" cy="39776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5ccc15fb804b56"/>
          </a:graphicData>
        </a:graphic>
      </p:graphicFrame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FD511E5F-0C3B-43E7-BFC6-1FF6D20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534924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69130E5-1DD9-442A-960B-340A4FD3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64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a6a778fa34b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57607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9F2E0C-A84C-4955-ABBE-557E85B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486400"/>
            <a:ext cx="4069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December 2024 is incomplete:</a:t>
            </a:r>
            <a:r>
              <a:rPr sz="14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31 December is absent from the source.</a:t>
            </a:r>
            <a:endParaRPr sz="140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0862FC5D-3C5C-43F4-BB87-FE2167CE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5486400"/>
            <a:ext cx="534924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821511C5-CC9F-49C9-8F7E-DAD533CB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6464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364d33cb84b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8252" y="57607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4AD152A4-1C86-4077-86BC-27B9818A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486400"/>
            <a:ext cx="4069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Monthly changes describe the data and do not establish causes.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81519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D87ABC2-5640-4D1B-AA33-6949CF2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Districts with the highest P90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447502D-77C4-43F3-8536-4F5542A2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10</a:t>
            </a:r>
            <a:endParaRPr sz="1200"/>
          </a:p>
        </p:txBody>
      </p:sp>
      <p:graphicFrame>
        <p:nvGraphicFramePr>
          <p:cNvPr id="16" name="Chart 0"/>
          <p:cNvGraphicFramePr/>
          <p:nvPr/>
        </p:nvGraphicFramePr>
        <p:xfrm>
          <a:off xmlns:a="http://schemas.openxmlformats.org/drawingml/2006/main" x="640080" y="1463040"/>
          <a:ext xmlns:a="http://schemas.openxmlformats.org/drawingml/2006/main" cx="7223760" cy="4526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fd100a0d85400e"/>
          </a:graphicData>
        </a:graphic>
      </p:graphicFrame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9F0B7791-7FE1-4017-A1F5-B3D2FC21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63040"/>
            <a:ext cx="3456432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55E790C-C798-4CF9-9546-D3DB2CE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463040"/>
            <a:ext cx="28346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Hillingdon:</a:t>
            </a:r>
            <a:r>
              <a:rPr sz="2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P90 of 10.67 minutes, based on 12,195 eligible mobilisations.</a:t>
            </a:r>
            <a:endParaRPr sz="22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9A082A7E-2833-4F83-BCDD-728F74A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526280"/>
            <a:ext cx="3456432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A14EE6F1-B7C5-4FBC-9B0D-AF1F5E1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983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54b1e6ee741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3920" y="51206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929FD36F-57C7-4B3A-8222-FB67042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4526280"/>
            <a:ext cx="208483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Comparisons do not adjust for distance or incident mix.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72129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93FD605-AF71-4AEB-BA5E-ACBABCE1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Attendance times by dispatch hour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AFDCC53-56E0-4C9F-8103-0AD13D41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11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1AA258B-9E3A-4797-A6F1-BD507245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08792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6B775B4-2AC7-430C-8992-4F6B6360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14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Highest hourly P90:</a:t>
            </a:r>
            <a:r>
              <a:rPr sz="2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11:00–11:59 GMT, approximately 10.03 minutes.</a:t>
            </a:r>
            <a:endParaRPr sz="2200"/>
          </a:p>
        </p:txBody>
      </p:sp>
      <p:graphicFrame>
        <p:nvGraphicFramePr>
          <p:cNvPr id="14" name="Chart 0"/>
          <p:cNvGraphicFramePr/>
          <p:nvPr/>
        </p:nvGraphicFramePr>
        <p:xfrm>
          <a:off xmlns:a="http://schemas.openxmlformats.org/drawingml/2006/main" x="640080" y="2423160"/>
          <a:ext xmlns:a="http://schemas.openxmlformats.org/drawingml/2006/main" cx="10908792" cy="32918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a5816b8ef54764"/>
          </a:graphicData>
        </a:graphic>
      </p:graphicFrame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F83E392-AFDA-436D-AD23-C4EA9F9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Each group combines all available dates in the selected period.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49821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8A0ADC7-AB1C-479E-8A80-1F4E652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Correlation between time components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850D02-CC13-450B-8F69-2631007B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12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22DAB41-6CAB-4E43-B9D5-BD05348F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Spearman correlation</a:t>
            </a:r>
            <a:endParaRPr sz="16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17CF027-C09E-4A88-AB3C-9A625EA1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3471977" cy="251460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930095F-146C-414E-86A7-890AA865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48840"/>
            <a:ext cx="283189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Coefficient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D41E871-1A94-4277-A225-8F9020E9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0"/>
            <a:ext cx="2831897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147D85"/>
                </a:solidFill>
                <a:latin typeface="Cambria"/>
                <a:ea typeface="Cambria"/>
                <a:cs typeface="Cambria"/>
              </a:rPr>
              <a:t>0.952</a:t>
            </a:r>
            <a:endParaRPr sz="5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B8C72D-635C-418E-83F7-5224A9C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11880"/>
            <a:ext cx="2831897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Travel time and total attendance time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F73DEA9-138A-4D24-9D40-8EE0CDC4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945" y="1920240"/>
            <a:ext cx="3471977" cy="251460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9F6EBE2-AA1C-495D-9312-E6DE372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985" y="2148840"/>
            <a:ext cx="283189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Coefficient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49C6AF9-ECE9-48F1-A2ED-6B8AC09E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985" y="2560320"/>
            <a:ext cx="2831897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0.169</a:t>
            </a:r>
            <a:endParaRPr sz="5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B9776B2-156D-4E5E-8AE9-2E207EC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985" y="3611880"/>
            <a:ext cx="2831897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Turnout time and total attendance time</a:t>
            </a:r>
            <a:endParaRPr sz="1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0556CF3-E3FF-4E15-9BD5-5D307701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810" y="1920240"/>
            <a:ext cx="3471977" cy="251460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84546E1-31E6-4BC1-80A6-3425DAF6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50" y="2148840"/>
            <a:ext cx="283189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Coefficient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F1FCF83-EB15-46EF-91E3-E0A4376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50" y="2560320"/>
            <a:ext cx="2831897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B85332"/>
                </a:solidFill>
                <a:latin typeface="Cambria"/>
                <a:ea typeface="Cambria"/>
                <a:cs typeface="Cambria"/>
              </a:rPr>
              <a:t>−0.083</a:t>
            </a:r>
            <a:endParaRPr sz="5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293EBB1-55C4-444B-A4B9-3FC4DE1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50" y="3611880"/>
            <a:ext cx="2831897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Turnout time and travel time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F972E8C-34F8-4C74-B160-C987BC3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34924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CE6AAEA-A8A6-4EED-AF4A-712C8476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b13035d0d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52578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4201E14-BA28-4810-AFCA-CD1E826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709160"/>
            <a:ext cx="3977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Total time includes turnout and travel. Correlation does not measure a share of total time.</a:t>
            </a:r>
            <a:endParaRPr sz="16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31038C1-CCC3-4167-94A0-22D5E1B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709160"/>
            <a:ext cx="534924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CDD44F4-19D1-49A2-A315-EF195257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206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b13035d0d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1112" y="52578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60541BE-1ABE-447C-95C0-C7306B7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4709160"/>
            <a:ext cx="3977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Complete, consistent component records:</a:t>
            </a:r>
            <a:r>
              <a:rPr sz="16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382,811. No causal claim.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177240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BDD14F2-2519-44A8-B77A-3D663D86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A rule for further review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9BC1ACD-ACB0-4423-B6FD-C2FEBFB6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13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8187ACD-3D61-4E7B-9CAD-4F6E1E42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8521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90AB896-1E30-4D75-9FEE-A186F68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ebbac1130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1954530"/>
            <a:ext cx="251460" cy="25146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0067FE3-6D6F-46DC-BFC0-8B952D64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78308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Monthly district P90 above the same-month global P90</a:t>
            </a:r>
            <a:endParaRPr sz="18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AF6F901-4D89-4DBC-BBC2-CC14622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ebbac1130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2914650"/>
            <a:ext cx="251460" cy="251460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0CDE34F0-3860-4284-BB80-93A543D5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4320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 least 100 eligible records per month</a:t>
            </a:r>
            <a:endParaRPr sz="1800"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63D1CD60-7A36-43CB-9052-42A01AA1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490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ebbac1130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3874770"/>
            <a:ext cx="251460" cy="25146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BDDFD283-9780-42A7-9E78-2C33D47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0332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 least 3 consecutive months</a:t>
            </a:r>
            <a:endParaRPr sz="180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E7027D70-5D65-4AB4-AAE8-A0CE29B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554480"/>
            <a:ext cx="4828032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91360E0B-36BE-48AF-A5D3-13766477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45920"/>
            <a:ext cx="42062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147D85"/>
                </a:solidFill>
                <a:latin typeface="Cambria"/>
                <a:ea typeface="Cambria"/>
                <a:cs typeface="Cambria"/>
              </a:rPr>
              <a:t>19</a:t>
            </a:r>
            <a:r>
              <a:rPr sz="26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districts</a:t>
            </a:r>
            <a:endParaRPr sz="54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02A6DAC6-883C-41A4-8B3E-E463E197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with 3 consecutive months</a:t>
            </a:r>
            <a:endParaRPr sz="18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12001510-C990-4D0C-8B58-B8DEDE31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246120"/>
            <a:ext cx="4828032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623DDE3-B633-4B5F-AE46-3DFBAB55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7560"/>
            <a:ext cx="42062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B85332"/>
                </a:solidFill>
                <a:latin typeface="Cambria"/>
                <a:ea typeface="Cambria"/>
                <a:cs typeface="Cambria"/>
              </a:rPr>
              <a:t>15</a:t>
            </a:r>
            <a:r>
              <a:rPr sz="26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districts</a:t>
            </a:r>
            <a:endParaRPr sz="5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8577016C-B025-47B3-A037-17EDE10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0624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with 6 consecutive months</a:t>
            </a:r>
            <a:endParaRPr sz="18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4D19A82A-6218-49E5-B2E4-BFC49CFB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08792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82DA07C5-7980-4668-A45A-6CA337B2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964bcecef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5440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520F2591-D22B-40BC-82A2-AA1FD726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074920"/>
            <a:ext cx="953719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Sensitivity period: January 2023–November 2024. Counts unchanged for n ≥ 50, 100 or 200.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Exploratory rule proposed by the project. No official service threshold.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70230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A24486B-C77D-4BF0-973A-D789C86A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805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016E1CB-13DC-495D-833D-34A442A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1188720" cy="118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4d0fd6f6d43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" y="2034540"/>
            <a:ext cx="594360" cy="594360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944868DC-FC9E-4717-8174-CA800C33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33832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Limits of the evidence</a:t>
            </a:r>
            <a:endParaRPr sz="3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6A1D0C4-06CA-4074-AC93-F2D30F2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14</a:t>
            </a:r>
            <a:endParaRPr sz="12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EC01C970-4318-44BB-8217-A5F169CF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051560"/>
            <a:ext cx="6611112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B3D50F50-49EF-49DC-8D83-07DDE59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234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2c1b3428d4c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13944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8237F56D-7E93-4E0C-B0C5-62158346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051560"/>
            <a:ext cx="51480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No records for 31 December 2024.</a:t>
            </a:r>
            <a:endParaRPr sz="2000"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6D3488BA-C473-40BA-99DB-710587B1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58568"/>
            <a:ext cx="6611112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7C2CC77A-7EB2-47EA-B464-E9CD7D1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41448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dc656909a46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260146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E0C2FA-740B-4E1E-A2DE-3B89B718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58568"/>
            <a:ext cx="51480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All observed records are Initial. Durations stop at 20 minutes.</a:t>
            </a:r>
            <a:endParaRPr sz="2000"/>
          </a:p>
        </p:txBody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5B886D58-747C-4F22-9D05-2FE389B7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65576"/>
            <a:ext cx="6611112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0E030A96-9F05-4534-9B5C-44BBB807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48456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4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281b34dc9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80847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C3E271AD-1621-47F3-9E49-8AC2B78E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65576"/>
            <a:ext cx="51480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The data does not control for distance, incident type or resource availability.</a:t>
            </a:r>
            <a:endParaRPr sz="2000"/>
          </a:p>
        </p:txBody>
      </p:sp>
      <p:sp>
        <p:nvSpPr>
          <p:cNvPr id="20" name="Shape 13">
            <a:extLst xmlns:a="http://schemas.openxmlformats.org/drawingml/2006/main">
              <a:ext uri="{FF2B5EF4-FFF2-40B4-BE49-F238E27FC236}">
                <a16:creationId xmlns:a16="http://schemas.microsoft.com/office/drawing/2014/main" id="{07BF95A7-4D99-46A6-B822-B12AFA1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72584"/>
            <a:ext cx="6611112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21" name="Shape 14">
            <a:extLst xmlns:a="http://schemas.openxmlformats.org/drawingml/2006/main">
              <a:ext uri="{FF2B5EF4-FFF2-40B4-BE49-F238E27FC236}">
                <a16:creationId xmlns:a16="http://schemas.microsoft.com/office/drawing/2014/main" id="{D0D47C42-6273-4595-9CC6-FB04C21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855464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4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30dfd8067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501548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34ECAF7D-AE88-4063-9598-AC0E6400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672584"/>
            <a:ext cx="51480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Several vehicle records can belong to one incident.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6401321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9E04FFC-A544-4E32-9142-3E21DA03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05C1C5D-CC27-466C-9926-67586F8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E0DF"/>
                </a:solidFill>
                <a:latin typeface="Calibri"/>
                <a:ea typeface="Calibri"/>
                <a:cs typeface="Calibri"/>
              </a:rPr>
              <a:t>15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3EFFACB-7883-43D9-8C8F-0E2ED97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21495D"/>
          </a:solidFill>
          <a:ln xmlns:a="http://schemas.openxmlformats.org/drawingml/2006/main" w="12700">
            <a:solidFill>
              <a:srgbClr val="21495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7D774E4-16E6-4001-9848-364B3D1B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9716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77ce2bd1b4e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248259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70F4811-481D-423F-8FEB-929F8C3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600200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Prioritise districts and hours for investigation.</a:t>
            </a:r>
            <a:endParaRPr sz="21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E6E2FEF5-504A-43A6-AF99-10EFC31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00200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21495D"/>
          </a:solidFill>
          <a:ln xmlns:a="http://schemas.openxmlformats.org/drawingml/2006/main" w="12700">
            <a:solidFill>
              <a:srgbClr val="21495D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9D208A1-B123-4799-82BC-CC5A0CC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99716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4f9fda3dc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6832" y="248259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3743E2D-B5E0-470E-9CCD-63C22E63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600200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 local context before changing resources.</a:t>
            </a:r>
            <a:endParaRPr sz="21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958C559-4C23-40E9-85CA-C2040E7F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50208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21495D"/>
          </a:solidFill>
          <a:ln xmlns:a="http://schemas.openxmlformats.org/drawingml/2006/main" w="12700">
            <a:solidFill>
              <a:srgbClr val="21495D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8C7E409-DD8F-4A87-8A42-C8A1796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972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b205e2dce45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48326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2EC61D7-3A2A-43B9-B5B6-15A3F60C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0208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Global P90: 9.20 minutes among eligible mobilisations.</a:t>
            </a:r>
            <a:endParaRPr sz="21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550C037A-BDED-4DCD-8BA5-A8EEFA7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950208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21495D"/>
          </a:solidFill>
          <a:ln xmlns:a="http://schemas.openxmlformats.org/drawingml/2006/main" w="12700">
            <a:solidFill>
              <a:srgbClr val="21495D"/>
            </a:solidFill>
            <a:prstDash val="solid"/>
          </a:ln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AC1FB90A-3839-43FD-AC41-4E51C1C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64972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8b6a3b975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6832" y="483260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18C7A49F-317A-48E4-B4BC-3E65D7EE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950208"/>
            <a:ext cx="379476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 coverage limits conclusions about extreme times.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806806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2029004-3F35-48AA-98CB-591AB77A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Reproducibility and AI use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3C30EDB-4F8E-4432-AFDA-074C8611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16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93ADAE5-5F60-4752-9CBD-70F9AC7F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349240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8ED4F06-DC29-4F81-895F-70696C39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317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ff31aa05848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5860" y="25374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1BA1E32-AEBC-4FE2-90A1-85299B1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65960"/>
            <a:ext cx="3657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GitHub contains the code, notebook, results and documentation.</a:t>
            </a:r>
            <a:endParaRPr sz="19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1E4F323A-4DA1-43DB-B18F-238278BB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4340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ec384d8d9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5860" y="45491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53697853-9722-45F9-8276-A637C9D9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77640"/>
            <a:ext cx="3657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The source manifest records download details and file hashes.</a:t>
            </a:r>
            <a:endParaRPr sz="1900"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80649B30-9FDF-4189-9D03-5BEF275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00200"/>
            <a:ext cx="5349240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DA5DE41C-C220-4182-95FF-577F244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3317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3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0e6d97bc646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5412" y="25374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19BD8326-4755-437B-9E65-5B913F5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965960"/>
            <a:ext cx="3657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AI supported coding, analytical proposals and content revision.</a:t>
            </a:r>
            <a:endParaRPr sz="1900"/>
          </a:p>
        </p:txBody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9F6BC7AD-3EDB-45E3-BAD0-CF4A7CF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34340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32"/>
          </a:solidFill>
          <a:ln xmlns:a="http://schemas.openxmlformats.org/drawingml/2006/main" w="12700">
            <a:solidFill>
              <a:srgbClr val="B85332"/>
            </a:solidFill>
            <a:prstDash val="solid"/>
          </a:ln>
        </p:spPr>
      </p:sp>
      <p:pic>
        <p:nvPicPr>
          <p:cNvPr id="3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f4c37c7d747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5412" y="45491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49358EE2-8C96-4540-AE8A-68A7432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977640"/>
            <a:ext cx="3657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Each student remains responsible for the submitted decisions and claims.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4256838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6362A7C-226A-4A45-847A-FCD7E3D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Appendix: measurement and code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CB4E7CC-53DD-4A89-B680-0471700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17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D6A19F6-E773-4121-BEDA-3CE409B5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72B48D8-20F1-47BE-A7E8-3ED60924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00200"/>
            <a:ext cx="461772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8E0DF"/>
                </a:solidFill>
                <a:latin typeface="Courier New"/>
                <a:ea typeface="Courier New"/>
                <a:cs typeface="Courier New"/>
              </a:rPr>
              <a:t>pd.to_datetime():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convert text into dates and times.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E848CC-3D57-4A03-B408-45BD4E30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00200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D766333-1132-45D7-A0B9-27D976B7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600200"/>
            <a:ext cx="461772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8E0DF"/>
                </a:solidFill>
                <a:latin typeface="Courier New"/>
                <a:ea typeface="Courier New"/>
                <a:cs typeface="Courier New"/>
              </a:rPr>
              <a:t>drop_duplicates():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remove repeated complete rows.</a:t>
            </a:r>
            <a:endParaRPr sz="2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A76280A-1C7C-45BD-8F16-87041921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50208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AD095E-F7D7-4AB0-8389-D3287CB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50208"/>
            <a:ext cx="461772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8E0DF"/>
                </a:solidFill>
                <a:latin typeface="Courier New"/>
                <a:ea typeface="Courier New"/>
                <a:cs typeface="Courier New"/>
              </a:rPr>
              <a:t>groupby():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calculate results separately for each group.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AD8CC00-03D6-4709-B4B8-62C6FFA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950208"/>
            <a:ext cx="5349240" cy="2130552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73243"/>
          </a:solidFill>
          <a:ln xmlns:a="http://schemas.openxmlformats.org/drawingml/2006/main" w="12700">
            <a:solidFill>
              <a:srgbClr val="173243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471BA8-BE2F-4E08-BC48-DFD4A604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950208"/>
            <a:ext cx="461772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8E0DF"/>
                </a:solidFill>
                <a:latin typeface="Courier New"/>
                <a:ea typeface="Courier New"/>
                <a:cs typeface="Courier New"/>
              </a:rPr>
              <a:t>quantile(.9):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calculate P90.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8E0DF"/>
                </a:solidFill>
                <a:latin typeface="Courier New"/>
                <a:ea typeface="Courier New"/>
                <a:cs typeface="Courier New"/>
              </a:rPr>
              <a:t>assert: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stop if a required check fails.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0442458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11AAA4D-AF21-4955-B65B-0B096DA2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Appendix: yearly summaries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B5E691E-4A50-4FFF-BF72-7761333B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18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33955B6-58F1-4273-B1D4-EB79763C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349240" cy="338328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F1FCF8F-50F6-4C0E-8AF3-5D43D4BD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Year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4C47CF5-F0EC-4444-B391-3C37AA5B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9456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2023</a:t>
            </a:r>
            <a:endParaRPr sz="4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7E8EE3-E77F-4FDB-8F6A-7D794D73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Eligible records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31AA1ED-9B57-4946-989A-1FB2578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40480"/>
            <a:ext cx="1463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186,339</a:t>
            </a:r>
            <a:endParaRPr sz="26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052E0D8-2513-4ECB-A260-1D5C2083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342900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Median (min)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C7CBE88-ED67-4140-B9F2-704DDA43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3840480"/>
            <a:ext cx="1463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47D85"/>
                </a:solidFill>
                <a:latin typeface="Cambria"/>
                <a:ea typeface="Cambria"/>
                <a:cs typeface="Cambria"/>
              </a:rPr>
              <a:t>5.62</a:t>
            </a:r>
            <a:endParaRPr sz="2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00E6138-23AC-4DE8-BEEB-4E92467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42900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P90 (min)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D5F52C-AFF8-4B18-9D9C-0747863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840480"/>
            <a:ext cx="1463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85332"/>
                </a:solidFill>
                <a:latin typeface="Cambria"/>
                <a:ea typeface="Cambria"/>
                <a:cs typeface="Cambria"/>
              </a:rPr>
              <a:t>9.17</a:t>
            </a:r>
            <a:endParaRPr sz="2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3851A60-5300-4447-BA27-82819C7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00200"/>
            <a:ext cx="5349240" cy="338328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1E3634F-A3A7-4A8F-8F2C-A6A61D6F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288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Year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7B84E5-04AB-4595-8910-ED6A4234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19456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2024</a:t>
            </a:r>
            <a:endParaRPr sz="4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5085E85-4600-49D1-B9F7-A4DD94A2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42900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Eligible records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60BE60B-325B-402C-9B72-F852CA20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840480"/>
            <a:ext cx="1463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198,288</a:t>
            </a:r>
            <a:endParaRPr sz="2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E166DA2-E7EB-40C0-AA55-54DA460D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42900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Median (min)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DC6E08E-49B2-44DC-80B2-05BB7AB3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840480"/>
            <a:ext cx="1463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47D85"/>
                </a:solidFill>
                <a:latin typeface="Cambria"/>
                <a:ea typeface="Cambria"/>
                <a:cs typeface="Cambria"/>
              </a:rPr>
              <a:t>5.68</a:t>
            </a:r>
            <a:endParaRPr sz="2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8BC9217-ECB8-4F72-A585-BA6B160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342900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P90 (min)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19963BC-746F-4A58-A5A4-7A80280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3840480"/>
            <a:ext cx="1463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85332"/>
                </a:solidFill>
                <a:latin typeface="Cambria"/>
                <a:ea typeface="Cambria"/>
                <a:cs typeface="Cambria"/>
              </a:rPr>
              <a:t>9.25</a:t>
            </a:r>
            <a:endParaRPr sz="2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C2714A1-1F60-4EB3-85D7-64A5ADC6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908792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C4790BF-9AD9-4C45-880E-AFBED07B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78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1e2e7b935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130" y="5543550"/>
            <a:ext cx="251460" cy="251460"/>
          </a:xfrm>
          <a:prstGeom xmlns:a="http://schemas.openxmlformats.org/drawingml/2006/main" prst="rect">
            <a:avLst/>
          </a:prstGeom>
        </p:spPr>
      </p:pic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B0ADC0D-97E0-4C16-A85C-B5D6161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257800"/>
            <a:ext cx="958291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2024 lacks 31 December. Small descriptive differences do not establish causes.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457411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00D348C-B224-43DD-A8F3-1926640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087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73243"/>
                </a:solidFill>
                <a:latin typeface="Cambria"/>
                <a:ea typeface="Cambria"/>
                <a:cs typeface="Cambria"/>
              </a:rPr>
              <a:t>Appendix: sources and project files</a:t>
            </a:r>
            <a:endParaRPr sz="3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6AA12B-D9B8-43F7-B504-F2E3CE36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55080"/>
            <a:ext cx="667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36D"/>
                </a:solidFill>
                <a:latin typeface="Calibri"/>
                <a:ea typeface="Calibri"/>
                <a:cs typeface="Calibri"/>
              </a:rPr>
              <a:t>19</a:t>
            </a:r>
            <a:endParaRPr sz="1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9C3939E-36F1-4E23-92C7-C48FD6F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8FB909E-86CB-494D-8773-AA60215E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22ab8ee874a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88BC957-CADA-48DD-95A7-C4FC3AB7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645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London Fire Brigade Mobilisation Records, London Datastore.</a:t>
            </a:r>
            <a:endParaRPr sz="2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D702072-75D2-41AB-9A0F-7854591C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84A8D88-4D0D-4C7C-A4FE-EB4309D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f28d1946b40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3120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36CBF273-15E7-4E6E-88CD-B79D9E8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788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Source metadata and SHA256:</a:t>
            </a: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data/source_manifest.json.</a:t>
            </a:r>
            <a:endParaRPr sz="20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4D553999-3A6E-499A-A1BD-2B622C19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EC88C67-B31E-4EF9-9040-260E3124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d7f793c3e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4263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BF2B1A87-E056-4010-B67C-DC3F7781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931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Methods:</a:t>
            </a: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scripts/analysis.py and docs/KPI.md.</a:t>
            </a:r>
            <a:endParaRPr sz="20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0A509DD7-0308-4973-ADEB-B14B180D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08792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4"/>
          </a:solidFill>
          <a:ln xmlns:a="http://schemas.openxmlformats.org/drawingml/2006/main" w="12700">
            <a:solidFill>
              <a:srgbClr val="EDF3F4"/>
            </a:solidFill>
            <a:prstDash val="solid"/>
          </a:ln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B18C6F07-C14F-4D81-B946-ACFC231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5"/>
          </a:solidFill>
          <a:ln xmlns:a="http://schemas.openxmlformats.org/drawingml/2006/main" w="12700">
            <a:solidFill>
              <a:srgbClr val="147D85"/>
            </a:solidFill>
            <a:prstDash val="solid"/>
          </a:ln>
        </p:spPr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be6eb326b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" y="5406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FD57708B-3443-4935-BF4A-F229A469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074920"/>
            <a:ext cx="94914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Evidence:</a:t>
            </a:r>
            <a:r>
              <a:rPr sz="2000">
                <a:solidFill>
                  <a:srgbClr val="173243"/>
                </a:solidFill>
                <a:latin typeface="Calibri"/>
                <a:ea typeface="Calibri"/>
                <a:cs typeface="Calibri"/>
              </a:rPr>
              <a:t> outputs/*_metrics.csv, audit.json and summary.json.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1008292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2026-09-27T21:20:21.7110000Z</dcterms:created>
  <dcterms:modified xsi:type="dcterms:W3CDTF">2026-09-27T21:20:21.7110000Z</dcterms:modified>
</coreProperties>
</file>